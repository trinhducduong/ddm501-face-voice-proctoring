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83" r:id="rId20"/>
    <p:sldId id="284" r:id="rId21"/>
    <p:sldId id="285" r:id="rId22"/>
    <p:sldId id="288" r:id="rId23"/>
    <p:sldId id="274" r:id="rId24"/>
    <p:sldId id="275" r:id="rId25"/>
    <p:sldId id="276" r:id="rId26"/>
    <p:sldId id="277" r:id="rId27"/>
    <p:sldId id="278" r:id="rId28"/>
    <p:sldId id="279" r:id="rId29"/>
    <p:sldId id="280" r:id="rId30"/>
    <p:sldId id="281" r:id="rId31"/>
    <p:sldId id="282" r:id="rId32"/>
    <p:sldId id="286" r:id="rId33"/>
    <p:sldId id="287"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349" autoAdjust="0"/>
    <p:restoredTop sz="94660"/>
  </p:normalViewPr>
  <p:slideViewPr>
    <p:cSldViewPr snapToGrid="0" showGuides="1">
      <p:cViewPr varScale="1">
        <p:scale>
          <a:sx n="113" d="100"/>
          <a:sy n="113" d="100"/>
        </p:scale>
        <p:origin x="834" y="10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2026-10-04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vi-VN"/>
              <a:t>Nguoi trinh bay: Trịnh Đức Dương</a:t>
            </a:r>
          </a:p>
          <a:p>
            <a:r>
              <a:rPr lang="vi-VN"/>
              <a:t>Thoi luong: 25 giay</a:t>
            </a:r>
          </a:p>
          <a:p>
            <a:endParaRPr lang="vi-VN"/>
          </a:p>
          <a:p>
            <a:r>
              <a:rPr lang="vi-VN"/>
              <a:t>Kính chào thầy cô và các bạn. Nhóm em trình bày dự án Face + Voice Integrity. Điểm xuất phát của dự án là một câu hỏi rất gần với các kỳ đánh giá trực tuyến: người đang làm bài có đúng là nhân viên đã đăng ký hay không? Trong phần trình bày, nhóm sẽ đi từ tình huống kinh doanh tới cách xác minh, sau đó demo vòng đời MLOps khi dữ liệu thay đổi và khi một bản cập nhật cần bị thu hồi.</a:t>
            </a:r>
          </a:p>
          <a:p>
            <a:endParaRPr lang="vi-VN"/>
          </a:p>
          <a:p>
            <a:r>
              <a:rPr lang="vi-VN"/>
              <a:t>THAO TAC: Mở slide ở chế độ trình chiếu. Chưa mở dashboard hoặc nói tên các công cụ.</a:t>
            </a:r>
          </a:p>
          <a:p>
            <a:endParaRPr lang="vi-VN"/>
          </a:p>
          <a:p>
            <a:r>
              <a:rPr lang="vi-VN"/>
              <a:t>NGUON:</a:t>
            </a:r>
          </a:p>
          <a:p>
            <a:r>
              <a:rPr lang="vi-VN"/>
              <a:t>README.md</a:t>
            </a:r>
          </a:p>
          <a:p>
            <a:r>
              <a:rPr lang="vi-VN"/>
              <a:t>PROJECT_REQUIREMENTS.md</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vi-VN"/>
              <a:t>Nguoi trinh bay: Trịnh Đức Dương</a:t>
            </a:r>
          </a:p>
          <a:p>
            <a:r>
              <a:rPr lang="vi-VN"/>
              <a:t>Thoi luong: 75 giay</a:t>
            </a:r>
          </a:p>
          <a:p>
            <a:endParaRPr lang="vi-VN"/>
          </a:p>
          <a:p>
            <a:r>
              <a:rPr lang="vi-VN"/>
              <a:t>Xin mời thầy cô hình dung một doanh nghiệp tổ chức đánh giá ngoại ngữ thường niên. Lúc 8 giờ 55, một nhân viên đăng nhập bằng đúng tài khoản của mình. Hệ thống xác nhận tài khoản hợp lệ. Đến phần nói, một người khác có năng lực tốt hơn có thể hỗ trợ hoặc thực hiện thay. Khi kết thúc, hệ thống vẫn nhận được một bài làm gắn với đúng tài khoản. Nếu kết quả ấy được dùng để lập kế hoạch đào tạo hoặc phân công công việc, sai lệch danh tính sẽ làm sai lệch quyết định phía sau. Đến lúc có nghi vấn, HR lại thiếu bằng chứng tại thời điểm cần kiểm tra. Đây là tình huống giả định mà nhóm dùng để đặt yêu cầu thiết kế, không phải một vụ gian lận đã được nhóm xác minh. Từ đó, nhóm đặt vấn đề: làm sao bổ sung bằng chứng danh tính vào phần mềm thi đang có?</a:t>
            </a:r>
          </a:p>
          <a:p>
            <a:endParaRPr lang="vi-VN"/>
          </a:p>
          <a:p>
            <a:r>
              <a:rPr lang="vi-VN"/>
              <a:t>THAO TAC: Chỉ theo ba mốc thời gian. Dừng ngắn sau câu 'hệ thống vẫn nhận được một bài làm gắn với đúng tài khoản'.</a:t>
            </a:r>
          </a:p>
          <a:p>
            <a:endParaRPr lang="vi-VN"/>
          </a:p>
          <a:p>
            <a:r>
              <a:rPr lang="vi-VN"/>
              <a:t>NGUON:</a:t>
            </a:r>
          </a:p>
          <a:p>
            <a:r>
              <a:rPr lang="vi-VN"/>
              <a:t>PROJECT_REPORT.md: Câu chuyện business</a:t>
            </a:r>
          </a:p>
          <a:p>
            <a:r>
              <a:rPr lang="vi-VN"/>
              <a:t>SAAS_INTEGRATION.md</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vi-VN"/>
              <a:t>Nguoi trinh bay: Trịnh Đức Dương</a:t>
            </a:r>
          </a:p>
          <a:p>
            <a:r>
              <a:rPr lang="vi-VN"/>
              <a:t>Thoi luong: 45 giay</a:t>
            </a:r>
          </a:p>
          <a:p>
            <a:endParaRPr lang="vi-VN"/>
          </a:p>
          <a:p>
            <a:r>
              <a:rPr lang="vi-VN"/>
              <a:t>Nhóm nhìn thấy ba khó khăn liên quan với nhau. Thứ nhất là độ tin cậy của kết quả khi danh tính người làm bài có thể thay đổi. Thứ hai là khối lượng rà soát: có video hay audio chưa chắc đã giúp HR nhanh chóng tìm đúng thời điểm cần xem. Thứ ba là nguy cơ kết luận nhầm. Một nhân viên làm bài trung thực vẫn có thể bị điểm tương đồng thấp vì camera tối, microphone khác hoặc mẫu ghi danh đã cũ. Vì vậy, mục tiêu không chỉ là phát hiện thêm nghi vấn. Hệ thống còn phải trả được lý do, giữ được bằng chứng phù hợp và có cơ chế xử lý khi chính mô hình không còn hoạt động như trước. Nhóm chưa đo được mức giảm gian lận hay số giờ tiết kiệm tại doanh nghiệp thật.</a:t>
            </a:r>
          </a:p>
          <a:p>
            <a:endParaRPr lang="vi-VN"/>
          </a:p>
          <a:p>
            <a:r>
              <a:rPr lang="vi-VN"/>
              <a:t>THAO TAC: Nhấn vào khó khăn thứ ba để chuẩn bị cho câu chuyện drift ở phần sau.</a:t>
            </a:r>
          </a:p>
          <a:p>
            <a:endParaRPr lang="vi-VN"/>
          </a:p>
          <a:p>
            <a:r>
              <a:rPr lang="vi-VN"/>
              <a:t>NGUON:</a:t>
            </a:r>
          </a:p>
          <a:p>
            <a:r>
              <a:rPr lang="vi-VN"/>
              <a:t>PROJECT_REQUIREMENTS.md</a:t>
            </a:r>
          </a:p>
          <a:p>
            <a:r>
              <a:rPr lang="vi-VN"/>
              <a:t>ARCHITECTURE.md</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vi-VN"/>
              <a:t>Nguoi trinh bay: Trịnh Đức Dương</a:t>
            </a:r>
          </a:p>
          <a:p>
            <a:r>
              <a:rPr lang="vi-VN"/>
              <a:t>Thoi luong: 45 giay</a:t>
            </a:r>
          </a:p>
          <a:p>
            <a:endParaRPr lang="vi-VN"/>
          </a:p>
          <a:p>
            <a:r>
              <a:rPr lang="vi-VN"/>
              <a:t>Nhóm giới hạn bài toán vào danh tính và tính toàn vẹn của capture. Đối với thi hộ hoặc thay người, hệ thống so khớp khuôn mặt và giọng nói với mẫu của nhân viên đã ghi danh. Các detector bổ sung tìm dấu hiệu ảnh giả, âm thanh tổng hợp, nhiều khuôn mặt hoặc thay đổi người nói. Một tín hiệu khác là tái sử dụng chính xác media trong cùng phiên. Tuy nhiên, nhóm không xem những detector này là lời bảo đảm phát hiện mọi hành vi gian lận. Chúng chưa giải quyết đầy đủ đọc tài liệu ngoài màn hình, nhờ người gợi ý hoặc mọi loại deepfake. Vì thế, kết quả suspicious phải đi kèm lý do và được đặt vào quy trình xem xét của khách hàng, không biến thành quyết định kỷ luật tự động.</a:t>
            </a:r>
          </a:p>
          <a:p>
            <a:endParaRPr lang="vi-VN"/>
          </a:p>
          <a:p>
            <a:r>
              <a:rPr lang="vi-VN"/>
              <a:t>THAO TAC: Không gọi hệ thống là phần mềm chống gian lận toàn diện.</a:t>
            </a:r>
          </a:p>
          <a:p>
            <a:endParaRPr lang="vi-VN"/>
          </a:p>
          <a:p>
            <a:r>
              <a:rPr lang="vi-VN"/>
              <a:t>NGUON:</a:t>
            </a:r>
          </a:p>
          <a:p>
            <a:r>
              <a:rPr lang="vi-VN"/>
              <a:t>README.md</a:t>
            </a:r>
          </a:p>
          <a:p>
            <a:r>
              <a:rPr lang="vi-VN"/>
              <a:t>ARCHITECTURE.md</a:t>
            </a:r>
          </a:p>
          <a:p>
            <a:r>
              <a:rPr lang="vi-VN"/>
              <a:t>RESPONSIBLE_AI.md</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vi-VN"/>
              <a:t>Nguoi trinh bay: Trịnh Đức Dương</a:t>
            </a:r>
          </a:p>
          <a:p>
            <a:r>
              <a:rPr lang="vi-VN"/>
              <a:t>Thoi luong: 40 giay</a:t>
            </a:r>
          </a:p>
          <a:p>
            <a:endParaRPr lang="vi-VN"/>
          </a:p>
          <a:p>
            <a:r>
              <a:rPr lang="vi-VN"/>
              <a:t>Doanh nghiệp thường đã có phần mềm thi và không muốn thay toàn bộ hệ thống. Vì vậy, nhóm chọn cách cung cấp một dịch vụ tích hợp. Khách hàng giữ bài thi, tài khoản, lịch capture, điểm và quyền quyết định. Dịch vụ của nhóm nhận ảnh và WAV, thực hiện kiểm tra rồi trả kết quả ngay qua API và gửi webhook. Portal giúp quản trị công ty xem lịch sử và bằng chứng. Nhịp gửi dữ liệu do khách hàng chọn, không phải hệ thống của nhóm liên tục stream toàn bộ phiên thi. Quy mô khoảng năm mươi nghìn nhân viên là mục tiêu để định hướng thiết kế dữ liệu và vận hành, chưa phải kết quả đo tải. Tiếp theo, Hải sẽ giải thích luồng tích hợp và cách hệ thống triển khai.</a:t>
            </a:r>
          </a:p>
          <a:p>
            <a:endParaRPr lang="vi-VN"/>
          </a:p>
          <a:p>
            <a:r>
              <a:rPr lang="vi-VN"/>
              <a:t>THAO TAC: Chuyển lời: 'Mời Hải trình bày hành trình một lượt kiểm tra'.</a:t>
            </a:r>
          </a:p>
          <a:p>
            <a:endParaRPr lang="vi-VN"/>
          </a:p>
          <a:p>
            <a:r>
              <a:rPr lang="vi-VN"/>
              <a:t>NGUON:</a:t>
            </a:r>
          </a:p>
          <a:p>
            <a:r>
              <a:rPr lang="vi-VN"/>
              <a:t>SAAS_INTEGRATION.md</a:t>
            </a:r>
          </a:p>
          <a:p>
            <a:r>
              <a:rPr lang="vi-VN"/>
              <a:t>README.md</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vi-VN"/>
              <a:t>Nguoi trinh bay: To Thanh Hai</a:t>
            </a:r>
          </a:p>
          <a:p>
            <a:r>
              <a:rPr lang="vi-VN"/>
              <a:t>Thoi luong: 45 giay</a:t>
            </a:r>
          </a:p>
          <a:p>
            <a:endParaRPr lang="vi-VN"/>
          </a:p>
          <a:p>
            <a:r>
              <a:rPr lang="vi-VN"/>
              <a:t>Một lượt kiểm tra bắt đầu từ mẫu ghi danh đã được nhân viên cung cấp với sự đồng ý. Backend của công ty gửi capture cùng định danh nhân viên, phiên và request. Dịch vụ thực hiện kiểm tra identity và các tín hiệu integrity, lưu kết quả rồi trả lại qua API. Webhook có chữ ký HMAC giúp khách hàng xác minh nguồn gửi, nhưng receiver vẫn phải chống xử lý trùng vì cơ chế retry có thể giao một thông báo nhiều lần. Khi cần xem xét, quản trị công ty có lịch sử, lý do và evidence theo đúng tenant. Idempotency là chi tiết quan trọng: gửi lại cùng request và cùng payload không được tạo thêm một quyết định khác.</a:t>
            </a:r>
          </a:p>
          <a:p>
            <a:endParaRPr lang="vi-VN"/>
          </a:p>
          <a:p>
            <a:r>
              <a:rPr lang="vi-VN"/>
              <a:t>THAO TAC: Đi từ trái sang phải. Có thể nhắc verified, suspicious và inconclusive bằng lời.</a:t>
            </a:r>
          </a:p>
          <a:p>
            <a:endParaRPr lang="vi-VN"/>
          </a:p>
          <a:p>
            <a:r>
              <a:rPr lang="vi-VN"/>
              <a:t>NGUON:</a:t>
            </a:r>
          </a:p>
          <a:p>
            <a:r>
              <a:rPr lang="vi-VN"/>
              <a:t>api/app/checks.py</a:t>
            </a:r>
          </a:p>
          <a:p>
            <a:r>
              <a:rPr lang="vi-VN"/>
              <a:t>api/app/webhooks.py</a:t>
            </a:r>
          </a:p>
          <a:p>
            <a:r>
              <a:rPr lang="vi-VN"/>
              <a:t>SAAS_INTEGRATION.md</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vi-VN"/>
              <a:t>Nguoi trinh bay: To Thanh Hai</a:t>
            </a:r>
          </a:p>
          <a:p>
            <a:r>
              <a:rPr lang="vi-VN"/>
              <a:t>Thoi luong: 55 giay</a:t>
            </a:r>
          </a:p>
          <a:p>
            <a:endParaRPr lang="vi-VN"/>
          </a:p>
          <a:p>
            <a:r>
              <a:rPr lang="vi-VN"/>
              <a:t>Đầu vào của nhánh Face là ảnh. YuNet định vị khuôn mặt và SFace tạo embedding. Đầu vào của nhánh Voice là WAV, ECAPA tạo embedding giọng nói. Các vector được chuẩn hóa rồi so với tập template của đúng người được khai báo bằng cosine similarity. Hệ thống lấy mức tương đồng tốt nhất với tập template và áp dụng ngưỡng riêng cho từng modality. Vì đây là so khớp một người với mẫu của chính họ, nó là xác minh một-một, không phải tìm người giống nhất trong toàn bộ nhân viên. Trong dự án, model được huấn luyện lại là policy ngưỡng. Nhóm không tuyên bố fine-tune lại SFace hoặc ECAPA. Điều này cũng giải thích vì sao champion và challenger có thể dùng chung score nhưng trả quyết định khác nhau.</a:t>
            </a:r>
          </a:p>
          <a:p>
            <a:endParaRPr lang="vi-VN"/>
          </a:p>
          <a:p>
            <a:r>
              <a:rPr lang="vi-VN"/>
              <a:t>THAO TAC: Nhấn rõ chữ 'threshold policy' để tránh hiểu nhầm retrain encoder.</a:t>
            </a:r>
          </a:p>
          <a:p>
            <a:endParaRPr lang="vi-VN"/>
          </a:p>
          <a:p>
            <a:r>
              <a:rPr lang="vi-VN"/>
              <a:t>NGUON:</a:t>
            </a:r>
          </a:p>
          <a:p>
            <a:r>
              <a:rPr lang="vi-VN"/>
              <a:t>api/app/biometrics.py</a:t>
            </a:r>
          </a:p>
          <a:p>
            <a:r>
              <a:rPr lang="vi-VN"/>
              <a:t>pipeline/modality_training.py</a:t>
            </a:r>
          </a:p>
          <a:p>
            <a:r>
              <a:rPr lang="vi-VN"/>
              <a:t>docs/MODALITY_LIFECYCLE.md</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vi-VN"/>
              <a:t>Nguoi trinh bay: To Thanh Hai</a:t>
            </a:r>
          </a:p>
          <a:p>
            <a:r>
              <a:rPr lang="vi-VN"/>
              <a:t>Thoi luong: 60 giay</a:t>
            </a:r>
          </a:p>
          <a:p>
            <a:endParaRPr lang="vi-VN"/>
          </a:p>
          <a:p>
            <a:r>
              <a:rPr lang="vi-VN"/>
              <a:t>Kiến trúc có ba luồng chính. Serving xử lý request của khách hàng và ghi kết quả vào PostgreSQL, lưu media nghi vấn vào MinIO khi cần. Luồng MLOps do Airflow điều phối, lấy snapshot có phiên bản, tạo policy và lưu thông tin đánh giá trong MLflow. Luồng monitoring thu các chỉ số dịch vụ và model để hiển thị trong Grafana, đồng thời định tuyến cảnh báo. Registry quản lý phiên bản model, còn database lưu trạng thái triển khai và routing. Chúng có vai trò khác nhau. Hệ thống hiện chạy trên một máy bằng Docker Compose. Riêng simulation có vùng dữ liệu và MLflow riêng để có thể minh họa lỗi mà không đổi policy production. Host và scheduler vẫn dùng chung nên nhóm không gọi đây là cách ly tài nguyên tuyệt đối.</a:t>
            </a:r>
          </a:p>
          <a:p>
            <a:endParaRPr lang="vi-VN"/>
          </a:p>
          <a:p>
            <a:r>
              <a:rPr lang="vi-VN"/>
              <a:t>THAO TAC: Chỉ ra vòng feedback giữa PostgreSQL và Airflow, không đọc danh sách công cụ liên tục.</a:t>
            </a:r>
          </a:p>
          <a:p>
            <a:endParaRPr lang="vi-VN"/>
          </a:p>
          <a:p>
            <a:r>
              <a:rPr lang="vi-VN"/>
              <a:t>NGUON:</a:t>
            </a:r>
          </a:p>
          <a:p>
            <a:r>
              <a:rPr lang="vi-VN"/>
              <a:t>ARCHITECTURE.md</a:t>
            </a:r>
          </a:p>
          <a:p>
            <a:r>
              <a:rPr lang="vi-VN"/>
              <a:t>docker-compose.yml</a:t>
            </a:r>
          </a:p>
          <a:p>
            <a:r>
              <a:rPr lang="vi-VN"/>
              <a:t>docs/SIMULATION.md</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vi-VN"/>
              <a:t>Nguoi trinh bay: To Thanh Hai</a:t>
            </a:r>
          </a:p>
          <a:p>
            <a:r>
              <a:rPr lang="vi-VN"/>
              <a:t>Thoi luong: 40 giay</a:t>
            </a:r>
          </a:p>
          <a:p>
            <a:endParaRPr lang="vi-VN"/>
          </a:p>
          <a:p>
            <a:r>
              <a:rPr lang="vi-VN"/>
              <a:t>Dữ liệu được lưu theo mục đích. PostgreSQL chứa embedding JSON, phiên bản template, các lượt kiểm tra và audit. MinIO chứa artifact cùng evidence media nghi vấn. Project hiện không dùng embedding database chuyên dụng như một vector search engine, vì đường serving là truy xuất template theo định danh đã biết. Các lượt đọc lịch sử và tải evidence được ràng buộc tenant, nên một công ty không thể đọc dữ liệu của công ty khác. Raw enrollment không được giữ mặc định. Query embeddings phục vụ monitoring cũng có cơ chế opt-in và thời hạn lưu. Đổi lại, nếu không giữ vector hoặc không có đủ nhãn tin cậy, hệ thống phải chấp nhận chưa đủ dữ liệu để kết luận drift. Sau đây Hiệp trình bày cách kiểm chứng điều đó.</a:t>
            </a:r>
          </a:p>
          <a:p>
            <a:endParaRPr lang="vi-VN"/>
          </a:p>
          <a:p>
            <a:r>
              <a:rPr lang="vi-VN"/>
              <a:t>THAO TAC: Chuyển lời: 'Mời Hiệp giải thích vì sao score giảm chưa đủ để retrain'.</a:t>
            </a:r>
          </a:p>
          <a:p>
            <a:endParaRPr lang="vi-VN"/>
          </a:p>
          <a:p>
            <a:r>
              <a:rPr lang="vi-VN"/>
              <a:t>NGUON:</a:t>
            </a:r>
          </a:p>
          <a:p>
            <a:r>
              <a:rPr lang="vi-VN"/>
              <a:t>ARCHITECTURE.md</a:t>
            </a:r>
          </a:p>
          <a:p>
            <a:r>
              <a:rPr lang="vi-VN"/>
              <a:t>docs/MODALITY_LIFECYCLE.md</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vi-VN"/>
              <a:t>Nguoi trinh bay: Do Quang Hiep</a:t>
            </a:r>
          </a:p>
          <a:p>
            <a:r>
              <a:rPr lang="vi-VN"/>
              <a:t>Thoi luong: 50 giay</a:t>
            </a:r>
          </a:p>
          <a:p>
            <a:endParaRPr lang="vi-VN"/>
          </a:p>
          <a:p>
            <a:r>
              <a:rPr lang="vi-VN"/>
              <a:t>Quay lại tình huống một nhân viên trung thực bị từ chối nhiều hơn. Nếu chỉ nhìn score giảm và lập tức retrain, chúng ta có thể sửa sai chỗ. Camera mới thiếu sáng hoặc mic kém cần xử lý capture. Nếu chỉ những người có mẫu ghi danh rất cũ gặp vấn đề, cập nhật template có thể phù hợp hơn. Chỉ khi bằng chứng cho thấy policy thực sự suy giảm trên dữ liệu được review và nhiều cohort thì retrain mới đáng cân nhắc. Vì vậy, project không để một kiểm định thống kê duy nhất điều khiển pipeline. Drift engine tổng hợp nhiều lớp tín hiệu để chọn hành động phù hợp, đồng thời giữ trạng thái chưa đủ bằng chứng khi dữ liệu còn thiếu.</a:t>
            </a:r>
          </a:p>
          <a:p>
            <a:endParaRPr lang="vi-VN"/>
          </a:p>
          <a:p>
            <a:r>
              <a:rPr lang="vi-VN"/>
              <a:t>THAO TAC: Dùng ví dụ 'đổi microphone' để giải thích input drift thay vì đọc định nghĩa thống kê.</a:t>
            </a:r>
          </a:p>
          <a:p>
            <a:endParaRPr lang="vi-VN"/>
          </a:p>
          <a:p>
            <a:r>
              <a:rPr lang="vi-VN"/>
              <a:t>NGUON:</a:t>
            </a:r>
          </a:p>
          <a:p>
            <a:r>
              <a:rPr lang="vi-VN"/>
              <a:t>pipeline/drift_decision.py</a:t>
            </a:r>
          </a:p>
          <a:p>
            <a:r>
              <a:rPr lang="vi-VN"/>
              <a:t>docs/MODALITY_LIFECYCLE.md</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vi-VN"/>
              <a:t>Nguoi trinh bay: Do Quang Hiep</a:t>
            </a:r>
          </a:p>
          <a:p>
            <a:r>
              <a:rPr lang="vi-VN"/>
              <a:t>Thoi luong: 65 giay</a:t>
            </a:r>
          </a:p>
          <a:p>
            <a:endParaRPr lang="vi-VN"/>
          </a:p>
          <a:p>
            <a:r>
              <a:rPr lang="vi-VN"/>
              <a:t>Lớp đầu là chất lượng input, ví dụ độ sáng và blur của ảnh hoặc RMS và tỷ lệ im lặng của audio. Project dùng PSI để so sánh phân phối. Lớp thứ hai là embedding drift, dùng RBF MMD bình phương trên vector đa chiều, không kiểm từng chiều một cách độc lập. Lớp thứ ba là score drift, tách genuine và impostor khi có nhãn tin cậy để theo dõi hướng dịch chuyển và khoảng cách tới ngưỡng. Lớp thứ tư đo performance thật trên reviewed samples, bao gồm chấp nhận sai và từ chối sai. Cuối cùng là phân tích theo tuổi template. Mỗi modality có báo cáo riêng. Các feature như SNR hoặc góc quay đầu chưa được đo trong implementation thì nhóm không đưa vào như thể đã có. Công thức và ngưỡng chi tiết nằm ở phụ lục để phục vụ câu hỏi sâu.</a:t>
            </a:r>
          </a:p>
          <a:p>
            <a:endParaRPr lang="vi-VN"/>
          </a:p>
          <a:p>
            <a:r>
              <a:rPr lang="vi-VN"/>
              <a:t>THAO TAC: Giải thích FMR là chấp nhận sai người và FNMR là từ chối nhầm người thật.</a:t>
            </a:r>
          </a:p>
          <a:p>
            <a:endParaRPr lang="vi-VN"/>
          </a:p>
          <a:p>
            <a:r>
              <a:rPr lang="vi-VN"/>
              <a:t>NGUON:</a:t>
            </a:r>
          </a:p>
          <a:p>
            <a:r>
              <a:rPr lang="vi-VN"/>
              <a:t>pipeline/drift_decision.py</a:t>
            </a:r>
          </a:p>
          <a:p>
            <a:r>
              <a:rPr lang="vi-VN"/>
              <a:t>api/app/biometrics.py</a:t>
            </a:r>
          </a:p>
          <a:p>
            <a:r>
              <a:rPr lang="vi-VN"/>
              <a:t>pipeline/lifecycle_config.json</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vi-VN"/>
              <a:t>Nguoi trinh bay: Do Quang Hiep</a:t>
            </a:r>
          </a:p>
          <a:p>
            <a:r>
              <a:rPr lang="vi-VN"/>
              <a:t>Thoi luong: 65 giay</a:t>
            </a:r>
          </a:p>
          <a:p>
            <a:endParaRPr lang="vi-VN"/>
          </a:p>
          <a:p>
            <a:r>
              <a:rPr lang="vi-VN"/>
              <a:t>Bảng này thể hiện quyết định vận hành. Chất lượng capture thay đổi thì điều tra input. Embedding hoặc score drift nhưng performance vẫn ổn thì theo dõi. Template cũ suy giảm riêng thì đi sang workflow template. Retrain yêu cầu embedding và score drift kéo dài, performance có nhãn review suy giảm trên nhiều nhóm tuổi, cùng điều kiện dữ liệu mới và cooldown. Mặc định cần ba cửa sổ mới đủ điều kiện, không phải refresh cùng một cửa sổ ba lần. Một điểm quan trọng là trạng thái insufficient data. Nó không có nghĩa hệ thống khỏe và cũng không có nghĩa đang drift. Nó nói rằng bằng chứng hiện tại chưa cho phép tự động hành động. Nguyên tắc này giúp hạn chế việc pipeline chạy đẹp nhưng dựa trên nhãn do chính model tự suy ra.</a:t>
            </a:r>
          </a:p>
          <a:p>
            <a:endParaRPr lang="vi-VN"/>
          </a:p>
          <a:p>
            <a:r>
              <a:rPr lang="vi-VN"/>
              <a:t>THAO TAC: Không mô tả các quy tắc là chứng minh quan hệ nhân quả tuyệt đối.</a:t>
            </a:r>
          </a:p>
          <a:p>
            <a:endParaRPr lang="vi-VN"/>
          </a:p>
          <a:p>
            <a:r>
              <a:rPr lang="vi-VN"/>
              <a:t>NGUON:</a:t>
            </a:r>
          </a:p>
          <a:p>
            <a:r>
              <a:rPr lang="vi-VN"/>
              <a:t>pipeline/drift_decision.py</a:t>
            </a:r>
          </a:p>
          <a:p>
            <a:r>
              <a:rPr lang="vi-VN"/>
              <a:t>api/app/lifecycle_service.py</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vi-VN"/>
              <a:t>Nguoi trinh bay: Do Quang Hiep</a:t>
            </a:r>
          </a:p>
          <a:p>
            <a:r>
              <a:rPr lang="vi-VN"/>
              <a:t>Thoi luong: 45 giay</a:t>
            </a:r>
          </a:p>
          <a:p>
            <a:endParaRPr lang="vi-VN"/>
          </a:p>
          <a:p>
            <a:r>
              <a:rPr lang="vi-VN"/>
              <a:t>Với template update, nguy cơ lớn là template poisoning. Nếu cứ chấp nhận một lần xác minh thành công rồi thay mẫu bằng capture vừa gửi, một sai sót có thể bị khuếch đại. Vì vậy, workflow yêu cầu nhiều quan sát trusted, capture đủ chất lượng, margin lớn, nhất quán và không xung đột danh tính. Candidate template được đánh giá trên holdout riêng trước khi đổi con trỏ active, đồng thời giữ phiên bản trước để rollback. Với retrain, monitoring không tự train ngay trong request. Nó tạo intent để Airflow điều phối theo từng modality. Snapshot có phiên bản, CV tách theo identity và holdout không dùng để chọn ngưỡng. Hai đường này cùng nhằm tránh biến một thay đổi thiếu bằng chứng thành thay đổi production. Dương sẽ tiếp tục với quy trình challenger và canary.</a:t>
            </a:r>
          </a:p>
          <a:p>
            <a:endParaRPr lang="vi-VN"/>
          </a:p>
          <a:p>
            <a:r>
              <a:rPr lang="vi-VN"/>
              <a:t>THAO TAC: Chuyển lời sang Dương, nhấn rằng dữ liệu mới không đồng nghĩa được quyền đưa vào training.</a:t>
            </a:r>
          </a:p>
          <a:p>
            <a:endParaRPr lang="vi-VN"/>
          </a:p>
          <a:p>
            <a:r>
              <a:rPr lang="vi-VN"/>
              <a:t>NGUON:</a:t>
            </a:r>
          </a:p>
          <a:p>
            <a:r>
              <a:rPr lang="vi-VN"/>
              <a:t>api/app/template_lifecycle.py</a:t>
            </a:r>
          </a:p>
          <a:p>
            <a:r>
              <a:rPr lang="vi-VN"/>
              <a:t>pipeline/modality_training.py</a:t>
            </a:r>
          </a:p>
          <a:p>
            <a:r>
              <a:rPr lang="vi-VN"/>
              <a:t>airflow/dags/biometric_ml_pipeline.py</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vi-VN"/>
              <a:t>Nguoi trinh bay: Trịnh Đức Dương</a:t>
            </a:r>
          </a:p>
          <a:p>
            <a:r>
              <a:rPr lang="vi-VN"/>
              <a:t>Thoi luong: 65 giay</a:t>
            </a:r>
          </a:p>
          <a:p>
            <a:endParaRPr lang="vi-VN"/>
          </a:p>
          <a:p>
            <a:r>
              <a:rPr lang="vi-VN"/>
              <a:t>Sau training, policy mới chỉ là candidate. Offline gate so sánh candidate với champion trên đúng cùng một holdout. Nếu đạt, candidate trở thành challenger và được thử ở shadow. Trong shadow, request vẫn nhận quyết định của champion, nhưng hệ thống ghi lại quyết định của cả hai policy. Sau đó mới tới canary, nơi một phần traffic thực sự dùng threshold của challenger. Chỉ khi tất cả stage đạt điều kiện thì challenger mới trở thành champion. Nếu không đạt, phiên bản đó được giữ lại cùng lý do rejection để audit. Alias champion do đó có ý nghĩa phiên bản được chọn để phục vụ, không chỉ là tên môi trường. Với hai modality, Face có thể giữ champion cũ trong khi Voice đang rollout phiên bản khác.</a:t>
            </a:r>
          </a:p>
          <a:p>
            <a:endParaRPr lang="vi-VN"/>
          </a:p>
          <a:p>
            <a:r>
              <a:rPr lang="vi-VN"/>
              <a:t>THAO TAC: Chỉ nhánh thất bại trong sơ đồ. Làm rõ score dùng chung còn threshold và decision có thể khác.</a:t>
            </a:r>
          </a:p>
          <a:p>
            <a:endParaRPr lang="vi-VN"/>
          </a:p>
          <a:p>
            <a:r>
              <a:rPr lang="vi-VN"/>
              <a:t>NGUON:</a:t>
            </a:r>
          </a:p>
          <a:p>
            <a:r>
              <a:rPr lang="vi-VN"/>
              <a:t>api/app/model_lifecycle.py</a:t>
            </a:r>
          </a:p>
          <a:p>
            <a:r>
              <a:rPr lang="vi-VN"/>
              <a:t>api/app/lifecycle_api.py</a:t>
            </a:r>
          </a:p>
          <a:p>
            <a:r>
              <a:rPr lang="vi-VN"/>
              <a:t>docs/MODALITY_LIFECYCLE.md</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vi-VN"/>
              <a:t>Nguoi trinh bay: Trịnh Đức Dương</a:t>
            </a:r>
          </a:p>
          <a:p>
            <a:r>
              <a:rPr lang="vi-VN"/>
              <a:t>Thoi luong: 45 giay</a:t>
            </a:r>
          </a:p>
          <a:p>
            <a:endParaRPr lang="vi-VN"/>
          </a:p>
          <a:p>
            <a:r>
              <a:rPr lang="vi-VN"/>
              <a:t>Canary không chỉ là một thanh phần trăm đẹp trên dashboard. Request được phân tuyến ổn định theo cohort. Mỗi stage phải có đủ quan sát, thời gian và nhãn tin cậy, rồi kiểm tra cả security lẫn chất lượng. FMR là điều kiện nhạy cảm: không cho phép tăng so với champion và còn phải nằm trong budget tuyệt đối. FNMR có mức hồi quy nhỏ được cấu hình. Ngoài ra còn có latency policy, disagreement và cohort chất lượng. Nếu nhãn chưa về đủ thì stage chờ, không tự thông qua vì chưa thấy lỗi. Nếu gate thất bại, challenger traffic về không. Nhãn đến muộn được đánh giá theo tick hàng giờ nên nhóm không gọi đó là phản ứng tức thời trong mọi tình huống.</a:t>
            </a:r>
          </a:p>
          <a:p>
            <a:endParaRPr lang="vi-VN"/>
          </a:p>
          <a:p>
            <a:r>
              <a:rPr lang="vi-VN"/>
              <a:t>THAO TAC: Phân biệt ngưỡng pilot này với demo 200 request/stage và 5 giây tối thiểu.</a:t>
            </a:r>
          </a:p>
          <a:p>
            <a:endParaRPr lang="vi-VN"/>
          </a:p>
          <a:p>
            <a:r>
              <a:rPr lang="vi-VN"/>
              <a:t>NGUON:</a:t>
            </a:r>
          </a:p>
          <a:p>
            <a:r>
              <a:rPr lang="vi-VN"/>
              <a:t>pipeline/lifecycle_config.json</a:t>
            </a:r>
          </a:p>
          <a:p>
            <a:r>
              <a:rPr lang="vi-VN"/>
              <a:t>api/app/model_lifecycle.py</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vi-VN"/>
              <a:t>Nguoi trinh bay: To Thanh Hai</a:t>
            </a:r>
          </a:p>
          <a:p>
            <a:r>
              <a:rPr lang="vi-VN"/>
              <a:t>Thoi luong: 55 giay</a:t>
            </a:r>
          </a:p>
          <a:p>
            <a:endParaRPr lang="vi-VN"/>
          </a:p>
          <a:p>
            <a:r>
              <a:rPr lang="vi-VN"/>
              <a:t>Ở đây có hai kiểu triển khai cần phân biệt. Code ứng dụng đi qua GitHub Actions: quality trên Ubuntu, preflight trên Windows, build images rồi runner Linux trong WSL gọi PowerShell để triển khai bằng Docker Desktop. Phần này là thay container bằng Compose trên một host. Nó chưa phải canary của nhiều replica ứng dụng. Còn policy Face và Voice được thay đổi qua trạng thái lifecycle trong PostgreSQL và alias MLflow, có shadow, canary và rollback như vừa trình bày. Prometheus và Grafana quan sát cả hai lớp. Hai test preflight Windows phải thực thi và không skip, vì quality job xanh trên Ubuntu một mình không đủ chứng minh chúng đã chạy.</a:t>
            </a:r>
          </a:p>
          <a:p>
            <a:endParaRPr lang="vi-VN"/>
          </a:p>
          <a:p>
            <a:r>
              <a:rPr lang="vi-VN"/>
              <a:t>THAO TAC: Chuyển sang Đức để trình bày bằng chứng và điều phối demo.</a:t>
            </a:r>
          </a:p>
          <a:p>
            <a:endParaRPr lang="vi-VN"/>
          </a:p>
          <a:p>
            <a:r>
              <a:rPr lang="vi-VN"/>
              <a:t>NGUON:</a:t>
            </a:r>
          </a:p>
          <a:p>
            <a:r>
              <a:rPr lang="vi-VN"/>
              <a:t>.github/workflows/ci.yml</a:t>
            </a:r>
          </a:p>
          <a:p>
            <a:r>
              <a:rPr lang="vi-VN"/>
              <a:t>DEPLOYMENT.md</a:t>
            </a:r>
          </a:p>
          <a:p>
            <a:r>
              <a:rPr lang="vi-VN"/>
              <a:t>OPERATIONS.md</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vi-VN"/>
              <a:t>Nguoi trinh bay: Ngo Anh Duc</a:t>
            </a:r>
          </a:p>
          <a:p>
            <a:r>
              <a:rPr lang="vi-VN"/>
              <a:t>Thoi luong: 55 giay</a:t>
            </a:r>
          </a:p>
          <a:p>
            <a:endParaRPr lang="vi-VN"/>
          </a:p>
          <a:p>
            <a:r>
              <a:rPr lang="vi-VN"/>
              <a:t>Để đưa tới doanh nghiệp, còn ba nhóm việc phải làm. Nhóm đầu là dữ liệu thật có sự đồng ý và nhãn review đủ tin cậy để đo FMR, FNMR và fairness trên cohort phù hợp. Nhóm thứ hai là tải và vận hành: năm mươi nghìn nhân viên không đồng nghĩa năm mươi nghìn request đồng thời, nên phải đo theo lịch sử dụng thực tế và bổ sung các điều kiện triển khai. Nhóm thứ ba là những điểm chưa khép kín trong code hiện tại: lifecycle mới tạo báo cáo RAI nhưng chưa áp dụng cờ fairness legacy làm gate, và registry mới chưa có quy trình tự tạo champion production đã đánh giá. Nhóm ghi rõ những giới hạn đó để phân biệt một demo MLOps có kiểm chứng với một sản phẩm đã sẵn sàng triển khai đại trà.</a:t>
            </a:r>
          </a:p>
          <a:p>
            <a:endParaRPr lang="vi-VN"/>
          </a:p>
          <a:p>
            <a:r>
              <a:rPr lang="vi-VN"/>
              <a:t>THAO TAC: Nêu giới hạn dứt khoát, sau đó chuyển sang trách nhiệm hoàn thiện của nhóm.</a:t>
            </a:r>
          </a:p>
          <a:p>
            <a:endParaRPr lang="vi-VN"/>
          </a:p>
          <a:p>
            <a:r>
              <a:rPr lang="vi-VN"/>
              <a:t>NGUON:</a:t>
            </a:r>
          </a:p>
          <a:p>
            <a:r>
              <a:rPr lang="vi-VN"/>
              <a:t>ARCHITECTURE.md</a:t>
            </a:r>
          </a:p>
          <a:p>
            <a:r>
              <a:rPr lang="vi-VN"/>
              <a:t>README.md</a:t>
            </a:r>
          </a:p>
          <a:p>
            <a:r>
              <a:rPr lang="vi-VN"/>
              <a:t>SCALABILITY_COST.md</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vi-VN"/>
              <a:t>Nguoi trinh bay: Ngo Anh Duc</a:t>
            </a:r>
          </a:p>
          <a:p>
            <a:r>
              <a:rPr lang="vi-VN"/>
              <a:t>Thoi luong: 25 giay</a:t>
            </a:r>
          </a:p>
          <a:p>
            <a:endParaRPr lang="vi-VN"/>
          </a:p>
          <a:p>
            <a:r>
              <a:rPr lang="vi-VN"/>
              <a:t>Phần trình bày vừa rồi nối bài toán thi hộ với cách xác minh danh tính và kiểm soát thay đổi của model. Dịch vụ trả tín hiệu và bằng chứng để doanh nghiệp xem xét, còn model mới phải qua các gate trước khi phục vụ. Sau đây nhóm dành khoảng mười ba phút để đi trọn luồng sản phẩm, monitoring và hai kịch bản simulation. Hải điều khiển máy, Đức dẫn demo, Dương và Hiệp giải thích các điểm kỹ thuật khi cần.</a:t>
            </a:r>
          </a:p>
          <a:p>
            <a:endParaRPr lang="vi-VN"/>
          </a:p>
          <a:p>
            <a:r>
              <a:rPr lang="vi-VN"/>
              <a:t>THAO TAC: Chuyển sang phần demo. Khởi động đồng hồ demo riêng.</a:t>
            </a:r>
          </a:p>
          <a:p>
            <a:endParaRPr lang="vi-VN"/>
          </a:p>
          <a:p>
            <a:r>
              <a:rPr lang="vi-VN"/>
              <a:t>NGUON:</a:t>
            </a:r>
          </a:p>
          <a:p>
            <a:r>
              <a:rPr lang="vi-VN"/>
              <a:t>README.md</a:t>
            </a:r>
          </a:p>
          <a:p>
            <a:r>
              <a:rPr lang="vi-VN"/>
              <a:t>docs/MODALITY_LIFECYCLE.md</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vi-VN"/>
              <a:t>Nguoi trinh bay: Do Quang Hiep</a:t>
            </a:r>
          </a:p>
          <a:p>
            <a:r>
              <a:rPr lang="vi-VN"/>
              <a:t>Thoi luong: 0 giay</a:t>
            </a:r>
          </a:p>
          <a:p>
            <a:endParaRPr lang="vi-VN"/>
          </a:p>
          <a:p>
            <a:r>
              <a:rPr lang="vi-VN"/>
              <a:t>PSI so sánh tỷ lệ quan sát trong các bin đã xác định từ reference. Nó được dùng cho feature chất lượng và score scalar. MMD sử dụng khoảng cách giữa các vector chuẩn hóa thông qua kernel RBF để đánh giá phân phối đa chiều. FMR và FNMR chỉ lấy nhãn reviewed đáng tin cậy, không lấy quyết định model làm nhãn. EER là ước lượng từ điểm giao ROC thực nghiệm, còn TAR tại FAR là TAR tốt nhất thỏa budget trên tập quan sát. Mẫu hữu hạn không đủ để suy ra bảo đảm FAR cho toàn bộ dân số.</a:t>
            </a:r>
          </a:p>
          <a:p>
            <a:endParaRPr lang="vi-VN"/>
          </a:p>
          <a:p>
            <a:r>
              <a:rPr lang="vi-VN"/>
              <a:t>THAO TAC: Chỉ mở khi cần giải thích phương pháp check drift hoặc input/output.</a:t>
            </a:r>
          </a:p>
          <a:p>
            <a:endParaRPr lang="vi-VN"/>
          </a:p>
          <a:p>
            <a:r>
              <a:rPr lang="vi-VN"/>
              <a:t>NGUON:</a:t>
            </a:r>
          </a:p>
          <a:p>
            <a:r>
              <a:rPr lang="vi-VN"/>
              <a:t>pipeline/drift_decision.py</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vi-VN"/>
              <a:t>Nguoi trinh bay: Do Quang Hiep</a:t>
            </a:r>
          </a:p>
          <a:p>
            <a:r>
              <a:rPr lang="vi-VN"/>
              <a:t>Thoi luong: 0 giay</a:t>
            </a:r>
          </a:p>
          <a:p>
            <a:endParaRPr lang="vi-VN"/>
          </a:p>
          <a:p>
            <a:r>
              <a:rPr lang="vi-VN"/>
              <a:t>Simulation rút ngắn thời gian và số mẫu để phù hợp demo trên lớp, đồng thời cho phép mức disagreement cao hơn vì kịch bản hiệu chỉnh ngưỡng được dựng khá lớn. Nó không sửa file cấu hình production. Các stage traffic vẫn là 5, 10, 25, 50 và 100 phần trăm. Những giá trị mặc định production trong bảng cũng là pilot settings cần hiệu chỉnh bằng dữ liệu khách hàng, không phải tiêu chuẩn an toàn đã được chứng minh cho mọi tổ chức.</a:t>
            </a:r>
          </a:p>
          <a:p>
            <a:endParaRPr lang="vi-VN"/>
          </a:p>
          <a:p>
            <a:r>
              <a:rPr lang="vi-VN"/>
              <a:t>THAO TAC: Dùng để trả lời vì sao demo chỉ chạy vài phút trong khi stage thật cần một giờ.</a:t>
            </a:r>
          </a:p>
          <a:p>
            <a:endParaRPr lang="vi-VN"/>
          </a:p>
          <a:p>
            <a:r>
              <a:rPr lang="vi-VN"/>
              <a:t>NGUON:</a:t>
            </a:r>
          </a:p>
          <a:p>
            <a:r>
              <a:rPr lang="vi-VN"/>
              <a:t>pipeline/lifecycle_config.json</a:t>
            </a:r>
          </a:p>
          <a:p>
            <a:r>
              <a:rPr lang="vi-VN"/>
              <a:t>docs/SIMULATION.md</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vi-VN"/>
              <a:t>Nguoi trinh bay: Trịnh Đức Dương</a:t>
            </a:r>
          </a:p>
          <a:p>
            <a:r>
              <a:rPr lang="vi-VN"/>
              <a:t>Thoi luong: 0 giay</a:t>
            </a:r>
          </a:p>
          <a:p>
            <a:endParaRPr lang="vi-VN"/>
          </a:p>
          <a:p>
            <a:r>
              <a:rPr lang="vi-VN"/>
              <a:t>Khi trả lời, luôn nêu đúng đối tượng. Từ model trong lifecycle này chỉ threshold policy, không phải mọi thành phần pretrained. Từ canary chỉ policy routing trong API, không phải nhiều phiên bản container. Từ simulation nói tới dữ liệu tổng hợp nhưng có các thao tác HTTP, alert và Registry thực trong môi trường riêng. Một lần demo thành công chỉ chứng minh luồng đó chạy với dữ liệu đó. Nếu được hỏi model tốt nhất, giải thích champion là policy được chấp nhận theo gate và bằng chứng hiện có, không phải tối ưu tuyệt đối cho mọi phân phối tương lai.</a:t>
            </a:r>
          </a:p>
          <a:p>
            <a:endParaRPr lang="vi-VN"/>
          </a:p>
          <a:p>
            <a:r>
              <a:rPr lang="vi-VN"/>
              <a:t>THAO TAC: Có thể dùng trang này như tờ nhắc trước khi bảo vệ.</a:t>
            </a:r>
          </a:p>
          <a:p>
            <a:endParaRPr lang="vi-VN"/>
          </a:p>
          <a:p>
            <a:r>
              <a:rPr lang="vi-VN"/>
              <a:t>NGUON:</a:t>
            </a:r>
          </a:p>
          <a:p>
            <a:r>
              <a:rPr lang="vi-VN"/>
              <a:t>ARCHITECTURE.md</a:t>
            </a:r>
          </a:p>
          <a:p>
            <a:r>
              <a:rPr lang="vi-VN"/>
              <a:t>docs/SIMULATION.md</a:t>
            </a:r>
          </a:p>
          <a:p>
            <a:r>
              <a:rPr lang="vi-VN"/>
              <a:t>docs/MODALITY_LIFECYCLE.md</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vi-VN"/>
              <a:t>Nguoi trinh bay: Ngo Anh Duc</a:t>
            </a:r>
          </a:p>
          <a:p>
            <a:r>
              <a:rPr lang="vi-VN"/>
              <a:t>Thoi luong: 0 giay</a:t>
            </a:r>
          </a:p>
          <a:p>
            <a:endParaRPr lang="vi-VN"/>
          </a:p>
          <a:p>
            <a:r>
              <a:rPr lang="vi-VN"/>
              <a:t>Nguồn của bộ slide là implementation và tài liệu hiện có trong repository. Evidence simulation được đối chiếu với báo cáo đã lưu, nhưng bản thuyết trình chỉ đưa số liệu tổng hợp, không chứa credentials hoặc biometric media. Các số liệu có ngày kiểm chứng để tránh nhầm với trạng thái runtime hiện tại. Nếu cần công bố accuracy hoặc tác động giảm gian lận, nhóm phải thực hiện nghiên cứu riêng trên dữ liệu được phép sử dụng. Không có tuyên bố đó trong bộ slide này.</a:t>
            </a:r>
          </a:p>
          <a:p>
            <a:endParaRPr lang="vi-VN"/>
          </a:p>
          <a:p>
            <a:r>
              <a:rPr lang="vi-VN"/>
              <a:t>THAO TAC: Repo công khai: https://github.com/FSB-MSA36HN/DDM501-face-voice-proctoring</a:t>
            </a:r>
          </a:p>
          <a:p>
            <a:endParaRPr lang="vi-VN"/>
          </a:p>
          <a:p>
            <a:r>
              <a:rPr lang="vi-VN"/>
              <a:t>NGUON:</a:t>
            </a:r>
          </a:p>
          <a:p>
            <a:r>
              <a:rPr lang="vi-VN"/>
              <a:t>https://github.com/FSB-MSA36HN/DDM501-face-voice-proctoring</a:t>
            </a:r>
          </a:p>
          <a:p>
            <a:r>
              <a:rPr lang="vi-VN"/>
              <a:t>VERIFICATION.md</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vi-VN"/>
              <a:t>Nguoi trinh bay: Ngo Anh Duc dẫn, To Thanh Hai thao tác</a:t>
            </a:r>
          </a:p>
          <a:p>
            <a:r>
              <a:rPr lang="vi-VN"/>
              <a:t>Thoi luong: 120 giay</a:t>
            </a:r>
          </a:p>
          <a:p>
            <a:endParaRPr lang="vi-VN"/>
          </a:p>
          <a:p>
            <a:r>
              <a:rPr lang="vi-VN"/>
              <a:t>Đầu tiên nhóm vào không gian công ty A bằng operator session đã đăng nhập trước. Hải tạo một nhân viên có mã riêng cho buổi demo rồi mở trang ghi danh. Nhóm dùng hai ảnh và hai WAV được phép sử dụng. Sau khi ghi danh, trạng thái nhân viên phải là đủ mẫu. Nếu muốn minh họa self-enrollment, có thể dùng lời mời một lần trong 24 giờ, nhưng chỉ chọn một đường ghi danh trong buổi bảo vệ. Việc ghi danh là bắt đầu của luồng, chưa chứng minh danh tính pháp lý của người đăng ký. Mẫu đã chuẩn bị giúp tập trung vào cơ chế, còn capture camera và microphone cần được kiểm thử trước trên chính trình duyệt này.</a:t>
            </a:r>
          </a:p>
          <a:p>
            <a:endParaRPr lang="vi-VN"/>
          </a:p>
          <a:p>
            <a:r>
              <a:rPr lang="vi-VN"/>
              <a:t>THAO TAC: Demo 00:00–02:00. Không đăng ký công ty hoặc cấp key mới trên màn chiếu. Nếu inference chậm, dùng nhân viên dự phòng đã ghi danh và nói rõ.</a:t>
            </a:r>
          </a:p>
          <a:p>
            <a:endParaRPr lang="vi-VN"/>
          </a:p>
          <a:p>
            <a:r>
              <a:rPr lang="vi-VN"/>
              <a:t>NGUON:</a:t>
            </a:r>
          </a:p>
          <a:p>
            <a:r>
              <a:rPr lang="vi-VN"/>
              <a:t>ui/app.py</a:t>
            </a:r>
          </a:p>
          <a:p>
            <a:r>
              <a:rPr lang="vi-VN"/>
              <a:t>docs/EMPLOYEE_DEMO.md</a:t>
            </a:r>
          </a:p>
          <a:p>
            <a:r>
              <a:rPr lang="vi-VN"/>
              <a:t>docs/SIMULATION.md</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vi-VN"/>
              <a:t>Nguoi trinh bay: Ngo Anh Duc dẫn, To Thanh Hai thao tác</a:t>
            </a:r>
          </a:p>
          <a:p>
            <a:r>
              <a:rPr lang="vi-VN"/>
              <a:t>Thoi luong: 180 giay</a:t>
            </a:r>
          </a:p>
          <a:p>
            <a:endParaRPr lang="vi-VN"/>
          </a:p>
          <a:p>
            <a:r>
              <a:rPr lang="vi-VN"/>
              <a:t>Ở trang Kiểm tra tích hợp, nhóm chọn người A và gửi ảnh cùng giọng nói mới của A. Chúng ta đọc kết quả thực tế, gồm scores, match, capability và reason. Nếu detector trả suspicious hoặc inconclusive vì capture không phù hợp, nhóm giải thích đúng trạng thái đó. Tiếp theo vẫn khai báo người A nhưng gửi media của B đã được phép sử dụng. Kịch bản này kiểm tra identity mismatch. Nhóm mở Lịch sử và báo cáo, chọn đúng phiên demo và check vừa tạo để xem lý do và evidence. Ở API và Webhook, nhóm kiểm tra delivery của check đó. Công ty B chỉ thấy roster của B. Nếu cần chứng minh chặn truy cập trực tiếp, dùng request cross-tenant đã chuẩn bị và xem HTTP 404. Các check của phần này được lưu vào tenant demo của ứng dụng chính, khác với vùng dữ liệu cách ly của simulation.</a:t>
            </a:r>
          </a:p>
          <a:p>
            <a:endParaRPr lang="vi-VN"/>
          </a:p>
          <a:p>
            <a:r>
              <a:rPr lang="vi-VN"/>
              <a:t>THAO TAC: Demo 02:00–05:00. Tránh gửi lại cùng media nhiều lần trong một phiên rồi gọi capture_reused là model lỗi. Không lưu human labels cho dữ liệu tổng hợp.</a:t>
            </a:r>
          </a:p>
          <a:p>
            <a:endParaRPr lang="vi-VN"/>
          </a:p>
          <a:p>
            <a:r>
              <a:rPr lang="vi-VN"/>
              <a:t>NGUON:</a:t>
            </a:r>
          </a:p>
          <a:p>
            <a:r>
              <a:rPr lang="vi-VN"/>
              <a:t>ui/app.py</a:t>
            </a:r>
          </a:p>
          <a:p>
            <a:r>
              <a:rPr lang="vi-VN"/>
              <a:t>docs/EMPLOYEE_DEMO.md</a:t>
            </a:r>
          </a:p>
          <a:p>
            <a:r>
              <a:rPr lang="vi-VN"/>
              <a:t>docs/SIMULATION.md</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vi-VN"/>
              <a:t>Nguoi trinh bay: Ngo Anh Duc dẫn, To Thanh Hai thao tác</a:t>
            </a:r>
          </a:p>
          <a:p>
            <a:r>
              <a:rPr lang="vi-VN"/>
              <a:t>Thoi luong: 60 giay</a:t>
            </a:r>
          </a:p>
          <a:p>
            <a:endParaRPr lang="vi-VN"/>
          </a:p>
          <a:p>
            <a:r>
              <a:rPr lang="vi-VN"/>
              <a:t>Nhóm chuyển từ không gian công ty sang monitoring của nền tảng. Grafana thể hiện hoạt động dịch vụ và độ mới của các collector. Thiếu human labels có thể tạo trạng thái chờ. No data không có nghĩa là không có drift. Sau đó mở tab platform riêng, chọn Voice trong Simulation MLOps và bắt đầu kịch bản promotion. Đây là điểm chuyển ranh giới dữ liệu: từ đây, các vector và nhãn là synthetic, được lưu trong database và MLflow riêng. Airflow cần thời gian nhận job, nên nhóm dùng khoảng chờ để chỉ run ID và đường đi của alert.</a:t>
            </a:r>
          </a:p>
          <a:p>
            <a:endParaRPr lang="vi-VN"/>
          </a:p>
          <a:p>
            <a:r>
              <a:rPr lang="vi-VN"/>
              <a:t>THAO TAC: Demo 05:00–06:00. Dùng tab/browser profile riêng đã đăng nhập platform để giữ phiên operator.</a:t>
            </a:r>
          </a:p>
          <a:p>
            <a:endParaRPr lang="vi-VN"/>
          </a:p>
          <a:p>
            <a:r>
              <a:rPr lang="vi-VN"/>
              <a:t>NGUON:</a:t>
            </a:r>
          </a:p>
          <a:p>
            <a:r>
              <a:rPr lang="vi-VN"/>
              <a:t>ui/app.py</a:t>
            </a:r>
          </a:p>
          <a:p>
            <a:r>
              <a:rPr lang="vi-VN"/>
              <a:t>docs/EMPLOYEE_DEMO.md</a:t>
            </a:r>
          </a:p>
          <a:p>
            <a:r>
              <a:rPr lang="vi-VN"/>
              <a:t>docs/SIMULATION.md</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vi-VN"/>
              <a:t>Nguoi trinh bay: Ngo Anh Duc, thao tác: To Thanh Hai</a:t>
            </a:r>
          </a:p>
          <a:p>
            <a:r>
              <a:rPr lang="vi-VN"/>
              <a:t>Thoi luong: 180 giay</a:t>
            </a:r>
          </a:p>
          <a:p>
            <a:endParaRPr lang="vi-VN"/>
          </a:p>
          <a:p>
            <a:r>
              <a:rPr lang="vi-VN"/>
              <a:t>Run promotion đã bắt đầu ở bước trước. Bây giờ nhóm theo dõi receipt của alert qua Prometheus và Alertmanager trước training. Tiếp theo mở phần offline để thấy candidate và champion được so trên cùng holdout. Shadow phải giữ champion làm câu trả lời, còn canary có số request dùng challenger tăng qua các stage. Trên MLflow simulation, kiểm tra model name có tiền tố simulation và version đang được alias champion trỏ tới. Kết thúc cần đọc kết quả của đúng run đang chiếu. Nếu chưa hoàn tất sau khung chờ, nhóm nói rõ và dùng slide evidence lịch sử tiếp theo để giữ thời gian. Những request trong simulation đi qua HTTP endpoint embedding, không phải ảnh hoặc WAV từ nhân viên thật.</a:t>
            </a:r>
          </a:p>
          <a:p>
            <a:endParaRPr lang="vi-VN"/>
          </a:p>
          <a:p>
            <a:r>
              <a:rPr lang="vi-VN"/>
              <a:t>THAO TAC: Demo 06:00–09:00. Run đã được tạo ở slide trước, không bấm nút 1 lần nữa. Xem alert receipt, offline, shadow, canary và version. Nếu chậm, dùng evidence lịch sử có ghi ngày.</a:t>
            </a:r>
          </a:p>
          <a:p>
            <a:endParaRPr lang="vi-VN"/>
          </a:p>
          <a:p>
            <a:r>
              <a:rPr lang="vi-VN"/>
              <a:t>NGUON:</a:t>
            </a:r>
          </a:p>
          <a:p>
            <a:r>
              <a:rPr lang="vi-VN"/>
              <a:t>ui/simulation.py</a:t>
            </a:r>
          </a:p>
          <a:p>
            <a:r>
              <a:rPr lang="vi-VN"/>
              <a:t>docs/SIMULATION.md</a:t>
            </a:r>
          </a:p>
          <a:p>
            <a:r>
              <a:rPr lang="vi-VN"/>
              <a:t>VERIFICATION.md</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vi-VN"/>
              <a:t>Nguoi trinh bay: Ngo Anh Duc</a:t>
            </a:r>
          </a:p>
          <a:p>
            <a:r>
              <a:rPr lang="vi-VN"/>
              <a:t>Thoi luong: 30 giay</a:t>
            </a:r>
          </a:p>
          <a:p>
            <a:endParaRPr lang="vi-VN"/>
          </a:p>
          <a:p>
            <a:r>
              <a:rPr lang="vi-VN"/>
              <a:t>Đây là lượt promotion đã được lưu ngày 3 tháng 10, không phải số đếm được bịa để minh họa. Với 200 request mỗi stage, số request dùng challenger tăng theo rollout. Tỷ lệ thực tế ở stage nhỏ không nhất thiết đúng tuyệt đối 5 hay 10 phần trăm vì đây là mẫu hữu hạn được phân tuyến bằng hash. Shadow có không request nào dùng challenger để trả kết quả. Sau promotion, 200 probe đều dùng version 2. Đây là HTTP traffic tới endpoint embedding của simulation, không phải 200 nhân viên đã thực hiện capture thật.</a:t>
            </a:r>
          </a:p>
          <a:p>
            <a:endParaRPr lang="vi-VN"/>
          </a:p>
          <a:p>
            <a:r>
              <a:rPr lang="vi-VN"/>
              <a:t>THAO TAC: Demo 09:00–09:30. Nếu run live đã xong, ưu tiên số của run live. Bảng trên slide là evidence lịch sử ngày 03/10, không thay thế kết quả của run mới.</a:t>
            </a:r>
          </a:p>
          <a:p>
            <a:endParaRPr lang="vi-VN"/>
          </a:p>
          <a:p>
            <a:r>
              <a:rPr lang="vi-VN"/>
              <a:t>NGUON:</a:t>
            </a:r>
          </a:p>
          <a:p>
            <a:r>
              <a:rPr lang="vi-VN"/>
              <a:t>VERIFICATION.md: Simulation cách ly 03/10/2026</a:t>
            </a:r>
          </a:p>
          <a:p>
            <a:r>
              <a:rPr lang="vi-VN"/>
              <a:t>reports/simulation-promotion.json</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vi-VN"/>
              <a:t>Nguoi trinh bay: Ngo Anh Duc, thao tác: To Thanh Hai</a:t>
            </a:r>
          </a:p>
          <a:p>
            <a:r>
              <a:rPr lang="vi-VN"/>
              <a:t>Thoi luong: 150 giay</a:t>
            </a:r>
          </a:p>
          <a:p>
            <a:endParaRPr lang="vi-VN"/>
          </a:p>
          <a:p>
            <a:r>
              <a:rPr lang="vi-VN"/>
              <a:t>Trước kịch bản thứ hai, nhóm khôi phục baseline demo. Việc reset chỉ áp dụng trong vùng simulation, không xóa dữ liệu production hoặc lịch sử audit. Lần này chọn Face và bấm Canary lỗi, rollback. Candidate vẫn đi qua calibration, offline và shadow. Điểm khác là tại canary 25 phần trăm, kịch bản đưa vào impostor có score cao để làm FMR vượt điều kiện an toàn. Điều nhóm cần chứng minh không phải job lúc nào cũng xanh theo nghĩa model được promote. Điều cần chứng minh là gate dừng rollout, traffic quay lại champion và nguyên nhân thất bại được lưu. Trạng thái FAILED_CANARY ở đây là kết quả đúng của kịch bản. Nếu đang chờ scheduler, nhóm chuyển sang evidence đã lưu ở slide tiếp theo, nói rõ đây là bằng chứng lịch sử. Sau khi kiểm tra, khôi phục baseline một lần nữa để kết thúc demo.</a:t>
            </a:r>
          </a:p>
          <a:p>
            <a:endParaRPr lang="vi-VN"/>
          </a:p>
          <a:p>
            <a:r>
              <a:rPr lang="vi-VN"/>
              <a:t>THAO TAC: Demo 09:30–12:00. Reset baseline, chọn Face, bấm nút 2 một lần. Kiểm tra failure tại 25% và traffic quay về champion. Nếu hạ tầng chậm, chuyển sang evidence lịch sử.</a:t>
            </a:r>
          </a:p>
          <a:p>
            <a:endParaRPr lang="vi-VN"/>
          </a:p>
          <a:p>
            <a:r>
              <a:rPr lang="vi-VN"/>
              <a:t>NGUON:</a:t>
            </a:r>
          </a:p>
          <a:p>
            <a:r>
              <a:rPr lang="vi-VN"/>
              <a:t>docs/SIMULATION.md</a:t>
            </a:r>
          </a:p>
          <a:p>
            <a:r>
              <a:rPr lang="vi-VN"/>
              <a:t>ui/simulation.py</a:t>
            </a:r>
          </a:p>
          <a:p>
            <a:r>
              <a:rPr lang="vi-VN"/>
              <a:t>reports/simulation-rollback.json</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vi-VN"/>
              <a:t>Nguoi trinh bay: Ngo Anh Duc</a:t>
            </a:r>
          </a:p>
          <a:p>
            <a:r>
              <a:rPr lang="vi-VN"/>
              <a:t>Thoi luong: 30 giay</a:t>
            </a:r>
          </a:p>
          <a:p>
            <a:endParaRPr lang="vi-VN"/>
          </a:p>
          <a:p>
            <a:r>
              <a:rPr lang="vi-VN"/>
              <a:t>Trong lượt rollback đã ghi nhận, failure xảy ra tại canary 25 phần trăm. Các mẫu impostor được tiêm làm FMR challenger vượt mức không hồi quy của champion. Sau khi dừng rollout, cả 200 probe đều dùng version 1. Model thất bại không bị xóa, vì nhóm vẫn cần lý do, stage, metric và phiên bản để điều tra. Báo cáo đối chiếu cũng xác nhận policy production không thay đổi qua hai kịch bản simulation. Đây là điều kiện để demo lỗi trên lớp mà vẫn giữ môi trường vận hành ổn định.</a:t>
            </a:r>
          </a:p>
          <a:p>
            <a:endParaRPr lang="vi-VN"/>
          </a:p>
          <a:p>
            <a:r>
              <a:rPr lang="vi-VN"/>
              <a:t>THAO TAC: Demo 12:00–12:30. Đối chiếu probe và failed metric trong run live. Bảng tóm tắt trên slide là lượt lịch sử.</a:t>
            </a:r>
          </a:p>
          <a:p>
            <a:endParaRPr lang="vi-VN"/>
          </a:p>
          <a:p>
            <a:r>
              <a:rPr lang="vi-VN"/>
              <a:t>NGUON:</a:t>
            </a:r>
          </a:p>
          <a:p>
            <a:r>
              <a:rPr lang="vi-VN"/>
              <a:t>reports/simulation-verification.json</a:t>
            </a:r>
          </a:p>
          <a:p>
            <a:r>
              <a:rPr lang="vi-VN"/>
              <a:t>VERIFICATION.md: Simulation cách ly 03/10/2026</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vi-VN"/>
              <a:t>Nguoi trinh bay: Ngo Anh Duc dẫn, To Thanh Hai thao tác</a:t>
            </a:r>
          </a:p>
          <a:p>
            <a:r>
              <a:rPr lang="vi-VN"/>
              <a:t>Thoi luong: 30 giay</a:t>
            </a:r>
          </a:p>
          <a:p>
            <a:endParaRPr lang="vi-VN"/>
          </a:p>
          <a:p>
            <a:r>
              <a:rPr lang="vi-VN"/>
              <a:t>Nhóm kết thúc bằng nút khôi phục baseline demo và xác nhận trạng thái reset. Lịch sử cùng evidence vẫn được giữ để người khác kiểm tra. Nếu có snapshot production policy trước và sau, nhóm đối chiếu champion, traffic và lifecycle state để chứng minh hai simulation không thay đổi chúng. Các check của phần demo sản phẩm vẫn là dữ liệu đã thêm vào tenant demo, không bị xóa bởi nút reset simulation. Nhóm đã trình diễn cả đường thành công, đường lỗi và cách đưa môi trường demo về trạng thái ban đầu. Phần còn lại là mười phút trao đổi với thầy cô và các bạn.</a:t>
            </a:r>
          </a:p>
          <a:p>
            <a:endParaRPr lang="vi-VN"/>
          </a:p>
          <a:p>
            <a:r>
              <a:rPr lang="vi-VN"/>
              <a:t>THAO TAC: Demo 12:30–13:00. Dừng thao tác tạo dữ liệu, chuyển slide Q&amp;A. Nếu cancel còn chờ thì nói rõ, không báo đã reset thành công.</a:t>
            </a:r>
          </a:p>
          <a:p>
            <a:endParaRPr lang="vi-VN"/>
          </a:p>
          <a:p>
            <a:r>
              <a:rPr lang="vi-VN"/>
              <a:t>NGUON:</a:t>
            </a:r>
          </a:p>
          <a:p>
            <a:r>
              <a:rPr lang="vi-VN"/>
              <a:t>ui/app.py</a:t>
            </a:r>
          </a:p>
          <a:p>
            <a:r>
              <a:rPr lang="vi-VN"/>
              <a:t>docs/EMPLOYEE_DEMO.md</a:t>
            </a:r>
          </a:p>
          <a:p>
            <a:r>
              <a:rPr lang="vi-VN"/>
              <a:t>docs/SIMULATION.md</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vi-VN"/>
              <a:t>Nguoi trinh bay: Cả nhóm, Trịnh Đức Dương điều phối</a:t>
            </a:r>
          </a:p>
          <a:p>
            <a:r>
              <a:rPr lang="vi-VN"/>
              <a:t>Thoi luong: 600 giay</a:t>
            </a:r>
          </a:p>
          <a:p>
            <a:endParaRPr lang="vi-VN"/>
          </a:p>
          <a:p>
            <a:r>
              <a:rPr lang="vi-VN"/>
              <a:t>Mời thầy cô và các bạn đặt câu hỏi. Dương nhắc lại câu hỏi ngắn gọn, chuyển cho người phụ trách rồi bổ sung nếu cần. Hiệp trả lời drift, evaluation và nhãn. Hải trả lời tích hợp, CI/CD và vận hành. Đức mở đúng slide phụ lục hoặc evidence. Mỗi câu hỏi thường trả lời trong khoảng một phút đến một phút rưỡi để dành thời gian cho câu hỏi tiếp theo. Nếu chưa có câu hỏi, dùng câu hỏi dự phòng trong QA_GUIDE.md, không tự hỏi và đọc hết cả danh sách.</a:t>
            </a:r>
          </a:p>
          <a:p>
            <a:endParaRPr lang="vi-VN"/>
          </a:p>
          <a:p>
            <a:r>
              <a:rPr lang="vi-VN"/>
              <a:t>THAO TAC: Bắt đầu đồng hồ Q&amp;A riêng. Khi còn một phút, nhận câu cuối và kết luận.</a:t>
            </a:r>
          </a:p>
          <a:p>
            <a:endParaRPr lang="vi-VN"/>
          </a:p>
          <a:p>
            <a:r>
              <a:rPr lang="vi-VN"/>
              <a:t>NGUON:</a:t>
            </a:r>
          </a:p>
          <a:p>
            <a:r>
              <a:rPr lang="vi-VN"/>
              <a:t>CONTRIBUTING.md</a:t>
            </a:r>
          </a:p>
          <a:p>
            <a:r>
              <a:rPr lang="vi-VN"/>
              <a:t>ARCHITECTURE.md</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vi-VN"/>
              <a:t>Nguoi trinh bay: Ngo Anh Duc</a:t>
            </a:r>
          </a:p>
          <a:p>
            <a:r>
              <a:rPr lang="vi-VN"/>
              <a:t>Thoi luong: 0 giay</a:t>
            </a:r>
          </a:p>
          <a:p>
            <a:endParaRPr lang="vi-VN"/>
          </a:p>
          <a:p>
            <a:r>
              <a:rPr lang="vi-VN"/>
              <a:t>Nhóm phân loại bằng chứng thay vì gộp tất cả thành một con số accuracy. Lần kiểm chứng local được ghi nhận ngày 3 tháng 10 có 153 test pass, không skip, với coverage 82 phẩy 03 phần trăm trong phạm vi khai báo. Ngoài unit test, hai kịch bản simulation đã chạy qua Airflow, nhận alert thật, dùng HTTP traffic và cập nhật MLflow riêng. Những bằng chứng này cho thấy cơ chế vận hành và các gate có thể được kiểm tra. Chúng không chứng minh tỷ lệ phát hiện gian lận trên nhân viên thật. Tiếp theo nhóm sẽ minh họa đúng hai kịch bản đó, với dữ liệu được gắn nhãn tổng hợp rõ ràng.</a:t>
            </a:r>
          </a:p>
          <a:p>
            <a:endParaRPr lang="vi-VN"/>
          </a:p>
          <a:p>
            <a:r>
              <a:rPr lang="vi-VN"/>
              <a:t>THAO TAC: Nếu được hỏi CI mới nhất, mở đúng run thực tế; không suy từ số test local thành trạng thái CI hiện tại.</a:t>
            </a:r>
          </a:p>
          <a:p>
            <a:endParaRPr lang="vi-VN"/>
          </a:p>
          <a:p>
            <a:r>
              <a:rPr lang="vi-VN"/>
              <a:t>NGUON:</a:t>
            </a:r>
          </a:p>
          <a:p>
            <a:r>
              <a:rPr lang="vi-VN"/>
              <a:t>VERIFICATION.md: Simulation cách ly 03/10/2026</a:t>
            </a:r>
          </a:p>
          <a:p>
            <a:r>
              <a:rPr lang="vi-VN"/>
              <a:t>reports/simulation-verification.json</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vi-VN"/>
              <a:t>Nguoi trinh bay: Ngo Anh Duc</a:t>
            </a:r>
          </a:p>
          <a:p>
            <a:r>
              <a:rPr lang="vi-VN"/>
              <a:t>Thoi luong: 0 giay</a:t>
            </a:r>
          </a:p>
          <a:p>
            <a:endParaRPr lang="vi-VN"/>
          </a:p>
          <a:p>
            <a:r>
              <a:rPr lang="vi-VN"/>
              <a:t>Đây là phân công trách nhiệm để nhóm duy trì và bàn giao dự án. Dương phụ trách core service và vòng đời model. Hiệp phụ trách kiểm chứng chất lượng, evaluation và evidence. Hải phụ trách container, runner và triển khai. Đức phụ trách báo cáo, sơ đồ, slide và tổ chức demo. Việc phân công này cần được chứng minh bằng phần việc và review thực tế; nhóm không dùng riêng metadata Git để thay thế bằng chứng đóng góp. Khi bảo vệ, mỗi thành viên cần giải thích được phần mình và mối nối với toàn bộ hệ thống.</a:t>
            </a:r>
          </a:p>
          <a:p>
            <a:endParaRPr lang="vi-VN"/>
          </a:p>
          <a:p>
            <a:r>
              <a:rPr lang="vi-VN"/>
              <a:t>THAO TAC: Không đọc email hoặc đưa lịch sử rewrite Git lên slide trình bày chính.</a:t>
            </a:r>
          </a:p>
          <a:p>
            <a:endParaRPr lang="vi-VN"/>
          </a:p>
          <a:p>
            <a:r>
              <a:rPr lang="vi-VN"/>
              <a:t>NGUON:</a:t>
            </a:r>
          </a:p>
          <a:p>
            <a:r>
              <a:rPr lang="vi-VN"/>
              <a:t>CONTRIBUTING.md</a:t>
            </a: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slideMaster" Target="../slideMasters/slideMaster1.xml"/><Relationship Id="rId5" Type="http://schemas.openxmlformats.org/officeDocument/2006/relationships/tags" Target="../tags/tag11.xml"/><Relationship Id="rId4" Type="http://schemas.openxmlformats.org/officeDocument/2006/relationships/tags" Target="../tags/tag10.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Master" Target="../slideMasters/slideMaster1.xml"/><Relationship Id="rId5" Type="http://schemas.openxmlformats.org/officeDocument/2006/relationships/tags" Target="../tags/tag16.xml"/><Relationship Id="rId4" Type="http://schemas.openxmlformats.org/officeDocument/2006/relationships/tags" Target="../tags/tag15.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slideMaster" Target="../slideMasters/slideMaster1.xml"/><Relationship Id="rId5" Type="http://schemas.openxmlformats.org/officeDocument/2006/relationships/tags" Target="../tags/tag21.xml"/><Relationship Id="rId4" Type="http://schemas.openxmlformats.org/officeDocument/2006/relationships/tags" Target="../tags/tag20.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24.xml"/><Relationship Id="rId7" Type="http://schemas.openxmlformats.org/officeDocument/2006/relationships/slideMaster" Target="../slideMasters/slideMaster1.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35.xml"/><Relationship Id="rId3" Type="http://schemas.openxmlformats.org/officeDocument/2006/relationships/tags" Target="../tags/tag30.xml"/><Relationship Id="rId7" Type="http://schemas.openxmlformats.org/officeDocument/2006/relationships/tags" Target="../tags/tag34.xml"/><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tags" Target="../tags/tag36.xml"/><Relationship Id="rId5" Type="http://schemas.openxmlformats.org/officeDocument/2006/relationships/slideMaster" Target="../slideMasters/slideMaster1.xml"/><Relationship Id="rId4" Type="http://schemas.openxmlformats.org/officeDocument/2006/relationships/tags" Target="../tags/tag39.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tags" Target="../tags/tag40.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45.xml"/><Relationship Id="rId7" Type="http://schemas.openxmlformats.org/officeDocument/2006/relationships/slideMaster" Target="../slideMasters/slideMaster1.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tags" Target="../tags/tag48.xml"/><Relationship Id="rId5" Type="http://schemas.openxmlformats.org/officeDocument/2006/relationships/tags" Target="../tags/tag47.xml"/><Relationship Id="rId4" Type="http://schemas.openxmlformats.org/officeDocument/2006/relationships/tags" Target="../tags/tag46.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slideMaster" Target="../slideMasters/slideMaster1.xml"/><Relationship Id="rId5" Type="http://schemas.openxmlformats.org/officeDocument/2006/relationships/tags" Target="../tags/tag53.xml"/><Relationship Id="rId4" Type="http://schemas.openxmlformats.org/officeDocument/2006/relationships/tags" Target="../tags/tag52.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tags" Target="../tags/tag54.xml"/><Relationship Id="rId5" Type="http://schemas.openxmlformats.org/officeDocument/2006/relationships/slideMaster" Target="../slideMasters/slideMaster1.xml"/><Relationship Id="rId4" Type="http://schemas.openxmlformats.org/officeDocument/2006/relationships/tags" Target="../tags/tag57.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60.xml"/><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slideMaster" Target="../slideMasters/slideMaster1.xml"/><Relationship Id="rId5" Type="http://schemas.openxmlformats.org/officeDocument/2006/relationships/tags" Target="../tags/tag62.xml"/><Relationship Id="rId4" Type="http://schemas.openxmlformats.org/officeDocument/2006/relationships/tags" Target="../tags/tag6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custDataLst>
              <p:tags r:id="rId1"/>
            </p:custDataLst>
          </p:nvPr>
        </p:nvSpPr>
        <p:spPr>
          <a:xfrm>
            <a:off x="1198800" y="914400"/>
            <a:ext cx="9799200" cy="2570400"/>
          </a:xfrm>
        </p:spPr>
        <p:txBody>
          <a:bodyPr lIns="90000" tIns="46800" rIns="90000" bIns="46800" anchor="b" anchorCtr="0">
            <a:normAutofit/>
          </a:bodyPr>
          <a:lstStyle>
            <a:lvl1pPr algn="ctr">
              <a:defRPr sz="6000"/>
            </a:lvl1pPr>
          </a:lstStyle>
          <a:p>
            <a:r>
              <a:rPr lang="en-US" dirty="0"/>
              <a:t>Click to edit Master title style</a:t>
            </a:r>
          </a:p>
        </p:txBody>
      </p:sp>
      <p:sp>
        <p:nvSpPr>
          <p:cNvPr id="3" name="Subtitle 2"/>
          <p:cNvSpPr>
            <a:spLocks noGrp="1"/>
          </p:cNvSpPr>
          <p:nvPr>
            <p:ph type="subTitle" idx="1"/>
            <p:custDataLst>
              <p:tags r:id="rId2"/>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6" name="Date Placeholder 15"/>
          <p:cNvSpPr>
            <a:spLocks noGrp="1"/>
          </p:cNvSpPr>
          <p:nvPr>
            <p:ph type="dt" sz="half" idx="10"/>
            <p:custDataLst>
              <p:tags r:id="rId3"/>
            </p:custDataLst>
          </p:nvPr>
        </p:nvSpPr>
        <p:spPr/>
        <p:txBody>
          <a:bodyPr/>
          <a:lstStyle/>
          <a:p>
            <a:fld id="{760FBDFE-C587-4B4C-A407-44438C67B59E}" type="datetimeFigureOut">
              <a:rPr lang="en-US" smtClean="0"/>
              <a:t>2026-10-04</a:t>
            </a:fld>
            <a:endParaRPr lang="en-US"/>
          </a:p>
        </p:txBody>
      </p:sp>
      <p:sp>
        <p:nvSpPr>
          <p:cNvPr id="17" name="Footer Placeholder 16"/>
          <p:cNvSpPr>
            <a:spLocks noGrp="1"/>
          </p:cNvSpPr>
          <p:nvPr>
            <p:ph type="ftr" sz="quarter" idx="11"/>
            <p:custDataLst>
              <p:tags r:id="rId4"/>
            </p:custDataLst>
          </p:nvPr>
        </p:nvSpPr>
        <p:spPr/>
        <p:txBody>
          <a:bodyPr/>
          <a:lstStyle/>
          <a:p>
            <a:endParaRPr lang="en-US" dirty="0"/>
          </a:p>
        </p:txBody>
      </p:sp>
      <p:sp>
        <p:nvSpPr>
          <p:cNvPr id="18" name="Slide Number Placeholder 17"/>
          <p:cNvSpPr>
            <a:spLocks noGrp="1"/>
          </p:cNvSpPr>
          <p:nvPr>
            <p:ph type="sldNum" sz="quarter" idx="12"/>
            <p:custDataLst>
              <p:tags r:id="rId5"/>
            </p:custDataLst>
          </p:nvPr>
        </p:nvSpPr>
        <p:spPr/>
        <p:txBody>
          <a:bodyPr/>
          <a:lstStyle/>
          <a:p>
            <a:fld id="{49AE70B2-8BF9-45C0-BB95-33D1B9D3A854}" type="slidenum">
              <a:rPr lang="en-US" smtClean="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en-US"/>
              <a:t>Click to edit Master title style</a:t>
            </a:r>
          </a:p>
        </p:txBody>
      </p:sp>
      <p:sp>
        <p:nvSpPr>
          <p:cNvPr id="3" name="Content Placeholder 2"/>
          <p:cNvSpPr>
            <a:spLocks noGrp="1"/>
          </p:cNvSpPr>
          <p:nvPr>
            <p:ph idx="1"/>
            <p:custDataLst>
              <p:tags r:id="rId2"/>
            </p:custDataLst>
          </p:nvPr>
        </p:nvSpPr>
        <p:spPr>
          <a:xfrm>
            <a:off x="608400" y="1490400"/>
            <a:ext cx="10969200" cy="4759200"/>
          </a:xfrm>
        </p:spPr>
        <p:txBody>
          <a:bodyPr vert="horz" lIns="90000" tIns="46800" rIns="90000" bIns="4680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custDataLst>
              <p:tags r:id="rId3"/>
            </p:custDataLst>
          </p:nvPr>
        </p:nvSpPr>
        <p:spPr/>
        <p:txBody>
          <a:bodyPr/>
          <a:lstStyle/>
          <a:p>
            <a:fld id="{760FBDFE-C587-4B4C-A407-44438C67B59E}" type="datetimeFigureOut">
              <a:rPr lang="en-US" smtClean="0"/>
              <a:t>2026-10-04</a:t>
            </a:fld>
            <a:endParaRPr lang="en-US"/>
          </a:p>
        </p:txBody>
      </p:sp>
      <p:sp>
        <p:nvSpPr>
          <p:cNvPr id="5" name="Footer Placeholder 4"/>
          <p:cNvSpPr>
            <a:spLocks noGrp="1"/>
          </p:cNvSpPr>
          <p:nvPr>
            <p:ph type="ftr" sz="quarter" idx="11"/>
            <p:custDataLst>
              <p:tags r:id="rId4"/>
            </p:custDataLst>
          </p:nvPr>
        </p:nvSpPr>
        <p:spPr/>
        <p:txBody>
          <a:bodyPr/>
          <a:lstStyle/>
          <a:p>
            <a:endParaRPr lang="en-US"/>
          </a:p>
        </p:txBody>
      </p:sp>
      <p:sp>
        <p:nvSpPr>
          <p:cNvPr id="6" name="Slide Number Placeholder 5"/>
          <p:cNvSpPr>
            <a:spLocks noGrp="1"/>
          </p:cNvSpPr>
          <p:nvPr>
            <p:ph type="sldNum" sz="quarter" idx="12"/>
            <p:custDataLst>
              <p:tags r:id="rId5"/>
            </p:custDataLst>
          </p:nvPr>
        </p:nvSpPr>
        <p:spPr/>
        <p:txBody>
          <a:bodyPr/>
          <a:lstStyle/>
          <a:p>
            <a:fld id="{49AE70B2-8BF9-45C0-BB95-33D1B9D3A854}"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custDataLst>
              <p:tags r:id="rId1"/>
            </p:custDataLst>
          </p:nvPr>
        </p:nvSpPr>
        <p:spPr>
          <a:xfrm>
            <a:off x="1990800" y="3848400"/>
            <a:ext cx="7768800" cy="766800"/>
          </a:xfrm>
        </p:spPr>
        <p:txBody>
          <a:bodyPr lIns="90000" tIns="46800" rIns="90000" bIns="46800" anchor="b" anchorCtr="0">
            <a:normAutofit/>
          </a:bodyPr>
          <a:lstStyle>
            <a:lvl1pPr>
              <a:defRPr sz="4400"/>
            </a:lvl1pPr>
          </a:lstStyle>
          <a:p>
            <a:r>
              <a:rPr lang="en-US" dirty="0"/>
              <a:t>Click to edit title</a:t>
            </a:r>
          </a:p>
        </p:txBody>
      </p:sp>
      <p:sp>
        <p:nvSpPr>
          <p:cNvPr id="3" name="Text Placeholder 2"/>
          <p:cNvSpPr>
            <a:spLocks noGrp="1"/>
          </p:cNvSpPr>
          <p:nvPr>
            <p:ph type="body" idx="1" hasCustomPrompt="1"/>
            <p:custDataLst>
              <p:tags r:id="rId2"/>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text</a:t>
            </a:r>
          </a:p>
        </p:txBody>
      </p:sp>
      <p:sp>
        <p:nvSpPr>
          <p:cNvPr id="4" name="Date Placeholder 3"/>
          <p:cNvSpPr>
            <a:spLocks noGrp="1"/>
          </p:cNvSpPr>
          <p:nvPr>
            <p:ph type="dt" sz="half" idx="10"/>
            <p:custDataLst>
              <p:tags r:id="rId3"/>
            </p:custDataLst>
          </p:nvPr>
        </p:nvSpPr>
        <p:spPr/>
        <p:txBody>
          <a:bodyPr/>
          <a:lstStyle/>
          <a:p>
            <a:fld id="{760FBDFE-C587-4B4C-A407-44438C67B59E}" type="datetimeFigureOut">
              <a:rPr lang="en-US" smtClean="0"/>
              <a:t>2026-10-04</a:t>
            </a:fld>
            <a:endParaRPr lang="en-US"/>
          </a:p>
        </p:txBody>
      </p:sp>
      <p:sp>
        <p:nvSpPr>
          <p:cNvPr id="5" name="Footer Placeholder 4"/>
          <p:cNvSpPr>
            <a:spLocks noGrp="1"/>
          </p:cNvSpPr>
          <p:nvPr>
            <p:ph type="ftr" sz="quarter" idx="11"/>
            <p:custDataLst>
              <p:tags r:id="rId4"/>
            </p:custDataLst>
          </p:nvPr>
        </p:nvSpPr>
        <p:spPr/>
        <p:txBody>
          <a:bodyPr/>
          <a:lstStyle/>
          <a:p>
            <a:endParaRPr lang="en-US"/>
          </a:p>
        </p:txBody>
      </p:sp>
      <p:sp>
        <p:nvSpPr>
          <p:cNvPr id="6" name="Slide Number Placeholder 5"/>
          <p:cNvSpPr>
            <a:spLocks noGrp="1"/>
          </p:cNvSpPr>
          <p:nvPr>
            <p:ph type="sldNum" sz="quarter" idx="12"/>
            <p:custDataLst>
              <p:tags r:id="rId5"/>
            </p:custDataLst>
          </p:nvPr>
        </p:nvSpPr>
        <p:spPr/>
        <p:txBody>
          <a:bodyPr/>
          <a:lstStyle/>
          <a:p>
            <a:fld id="{49AE70B2-8BF9-45C0-BB95-33D1B9D3A854}"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en-US"/>
              <a:t>Click to edit Master title style</a:t>
            </a:r>
          </a:p>
        </p:txBody>
      </p:sp>
      <p:sp>
        <p:nvSpPr>
          <p:cNvPr id="3" name="Content Placeholder 2"/>
          <p:cNvSpPr>
            <a:spLocks noGrp="1"/>
          </p:cNvSpPr>
          <p:nvPr>
            <p:ph sz="half" idx="1"/>
            <p:custDataLst>
              <p:tags r:id="rId2"/>
            </p:custDataLst>
          </p:nvPr>
        </p:nvSpPr>
        <p:spPr>
          <a:xfrm>
            <a:off x="608400" y="1501200"/>
            <a:ext cx="5176800" cy="4748400"/>
          </a:xfrm>
        </p:spPr>
        <p:txBody>
          <a:bodyPr vert="horz" lIns="90000" tIns="46800" rIns="90000" bIns="4680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custDataLst>
              <p:tags r:id="rId3"/>
            </p:custDataLst>
          </p:nvPr>
        </p:nvSpPr>
        <p:spPr>
          <a:xfrm>
            <a:off x="6411600" y="1501200"/>
            <a:ext cx="5176800" cy="4748400"/>
          </a:xfrm>
        </p:spPr>
        <p:txBody>
          <a:bodyPr lIns="90000" tIns="46800" rIns="90000" bIns="4680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custDataLst>
              <p:tags r:id="rId4"/>
            </p:custDataLst>
          </p:nvPr>
        </p:nvSpPr>
        <p:spPr/>
        <p:txBody>
          <a:bodyPr/>
          <a:lstStyle/>
          <a:p>
            <a:fld id="{760FBDFE-C587-4B4C-A407-44438C67B59E}" type="datetimeFigureOut">
              <a:rPr lang="en-US" smtClean="0"/>
              <a:t>2026-10-04</a:t>
            </a:fld>
            <a:endParaRPr lang="en-US"/>
          </a:p>
        </p:txBody>
      </p:sp>
      <p:sp>
        <p:nvSpPr>
          <p:cNvPr id="6" name="Footer Placeholder 5"/>
          <p:cNvSpPr>
            <a:spLocks noGrp="1"/>
          </p:cNvSpPr>
          <p:nvPr>
            <p:ph type="ftr" sz="quarter" idx="11"/>
            <p:custDataLst>
              <p:tags r:id="rId5"/>
            </p:custDataLst>
          </p:nvPr>
        </p:nvSpPr>
        <p:spPr/>
        <p:txBody>
          <a:bodyPr/>
          <a:lstStyle/>
          <a:p>
            <a:endParaRPr lang="en-US"/>
          </a:p>
        </p:txBody>
      </p:sp>
      <p:sp>
        <p:nvSpPr>
          <p:cNvPr id="7" name="Slide Number Placeholder 6"/>
          <p:cNvSpPr>
            <a:spLocks noGrp="1"/>
          </p:cNvSpPr>
          <p:nvPr>
            <p:ph type="sldNum" sz="quarter" idx="12"/>
            <p:custDataLst>
              <p:tags r:id="rId6"/>
            </p:custDataLst>
          </p:nvPr>
        </p:nvSpPr>
        <p:spPr/>
        <p:txBody>
          <a:bodyPr/>
          <a:lstStyle/>
          <a:p>
            <a:fld id="{49AE70B2-8BF9-45C0-BB95-33D1B9D3A854}"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en-US"/>
              <a:t>Click to edit Master title style</a:t>
            </a:r>
          </a:p>
        </p:txBody>
      </p:sp>
      <p:sp>
        <p:nvSpPr>
          <p:cNvPr id="3" name="Text Placeholder 2"/>
          <p:cNvSpPr>
            <a:spLocks noGrp="1"/>
          </p:cNvSpPr>
          <p:nvPr>
            <p:ph type="body" idx="1" hasCustomPrompt="1"/>
            <p:custDataLst>
              <p:tags r:id="rId2"/>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text</a:t>
            </a:r>
          </a:p>
        </p:txBody>
      </p:sp>
      <p:sp>
        <p:nvSpPr>
          <p:cNvPr id="4" name="Content Placeholder 3"/>
          <p:cNvSpPr>
            <a:spLocks noGrp="1"/>
          </p:cNvSpPr>
          <p:nvPr>
            <p:ph sz="half" idx="2"/>
            <p:custDataLst>
              <p:tags r:id="rId3"/>
            </p:custDataLst>
          </p:nvPr>
        </p:nvSpPr>
        <p:spPr>
          <a:xfrm>
            <a:off x="608400" y="1854000"/>
            <a:ext cx="5342400" cy="4395600"/>
          </a:xfrm>
        </p:spPr>
        <p:txBody>
          <a:bodyPr vert="horz" lIns="101600" tIns="0" rIns="8255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hasCustomPrompt="1"/>
            <p:custDataLst>
              <p:tags r:id="rId4"/>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text</a:t>
            </a:r>
          </a:p>
        </p:txBody>
      </p:sp>
      <p:sp>
        <p:nvSpPr>
          <p:cNvPr id="6" name="Content Placeholder 5"/>
          <p:cNvSpPr>
            <a:spLocks noGrp="1"/>
          </p:cNvSpPr>
          <p:nvPr>
            <p:ph sz="quarter" idx="4"/>
            <p:custDataLst>
              <p:tags r:id="rId5"/>
            </p:custDataLst>
          </p:nvPr>
        </p:nvSpPr>
        <p:spPr>
          <a:xfrm>
            <a:off x="6235750" y="1854000"/>
            <a:ext cx="5342400" cy="4395600"/>
          </a:xfrm>
        </p:spPr>
        <p:txBody>
          <a:bodyPr vert="horz" lIns="101600" tIns="0" rIns="8255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custDataLst>
              <p:tags r:id="rId6"/>
            </p:custDataLst>
          </p:nvPr>
        </p:nvSpPr>
        <p:spPr/>
        <p:txBody>
          <a:bodyPr/>
          <a:lstStyle/>
          <a:p>
            <a:fld id="{760FBDFE-C587-4B4C-A407-44438C67B59E}" type="datetimeFigureOut">
              <a:rPr lang="en-US" smtClean="0"/>
              <a:t>2026-10-04</a:t>
            </a:fld>
            <a:endParaRPr lang="en-US"/>
          </a:p>
        </p:txBody>
      </p:sp>
      <p:sp>
        <p:nvSpPr>
          <p:cNvPr id="8" name="Footer Placeholder 7"/>
          <p:cNvSpPr>
            <a:spLocks noGrp="1"/>
          </p:cNvSpPr>
          <p:nvPr>
            <p:ph type="ftr" sz="quarter" idx="11"/>
            <p:custDataLst>
              <p:tags r:id="rId7"/>
            </p:custDataLst>
          </p:nvPr>
        </p:nvSpPr>
        <p:spPr/>
        <p:txBody>
          <a:bodyPr/>
          <a:lstStyle/>
          <a:p>
            <a:endParaRPr lang="en-US"/>
          </a:p>
        </p:txBody>
      </p:sp>
      <p:sp>
        <p:nvSpPr>
          <p:cNvPr id="9" name="Slide Number Placeholder 8"/>
          <p:cNvSpPr>
            <a:spLocks noGrp="1"/>
          </p:cNvSpPr>
          <p:nvPr>
            <p:ph type="sldNum" sz="quarter" idx="12"/>
            <p:custDataLst>
              <p:tags r:id="rId8"/>
            </p:custDataLst>
          </p:nvPr>
        </p:nvSpPr>
        <p:spPr/>
        <p:txBody>
          <a:bodyPr/>
          <a:lstStyle/>
          <a:p>
            <a:fld id="{49AE70B2-8BF9-45C0-BB95-33D1B9D3A854}"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en-US"/>
              <a:t>Click to edit Master title style</a:t>
            </a:r>
          </a:p>
        </p:txBody>
      </p:sp>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t>2026-10-04</a:t>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custDataLst>
              <p:tags r:id="rId1"/>
            </p:custDataLst>
          </p:nvPr>
        </p:nvSpPr>
        <p:spPr/>
        <p:txBody>
          <a:bodyPr/>
          <a:lstStyle/>
          <a:p>
            <a:fld id="{760FBDFE-C587-4B4C-A407-44438C67B59E}" type="datetimeFigureOut">
              <a:rPr lang="en-US" smtClean="0"/>
              <a:t>2026-10-04</a:t>
            </a:fld>
            <a:endParaRPr lang="en-US"/>
          </a:p>
        </p:txBody>
      </p:sp>
      <p:sp>
        <p:nvSpPr>
          <p:cNvPr id="3" name="Footer Placeholder 2"/>
          <p:cNvSpPr>
            <a:spLocks noGrp="1"/>
          </p:cNvSpPr>
          <p:nvPr>
            <p:ph type="ftr" sz="quarter" idx="11"/>
            <p:custDataLst>
              <p:tags r:id="rId2"/>
            </p:custDataLst>
          </p:nvPr>
        </p:nvSpPr>
        <p:spPr/>
        <p:txBody>
          <a:bodyPr/>
          <a:lstStyle/>
          <a:p>
            <a:endParaRPr lang="en-US"/>
          </a:p>
        </p:txBody>
      </p:sp>
      <p:sp>
        <p:nvSpPr>
          <p:cNvPr id="4" name="Slide Number Placeholder 3"/>
          <p:cNvSpPr>
            <a:spLocks noGrp="1"/>
          </p:cNvSpPr>
          <p:nvPr>
            <p:ph type="sldNum" sz="quarter" idx="12"/>
            <p:custDataLst>
              <p:tags r:id="rId3"/>
            </p:custDataLst>
          </p:nvPr>
        </p:nvSpPr>
        <p:spPr/>
        <p:txBody>
          <a:bodyPr/>
          <a:lstStyle/>
          <a:p>
            <a:fld id="{49AE70B2-8BF9-45C0-BB95-33D1B9D3A854}"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custDataLst>
              <p:tags r:id="rId1"/>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en-US"/>
          </a:p>
        </p:txBody>
      </p:sp>
      <p:sp>
        <p:nvSpPr>
          <p:cNvPr id="4" name="Text Placeholder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en-US"/>
              <a:t>Click to edit Master text styles</a:t>
            </a:r>
          </a:p>
        </p:txBody>
      </p:sp>
      <p:sp>
        <p:nvSpPr>
          <p:cNvPr id="5" name="Date Placeholder 4"/>
          <p:cNvSpPr>
            <a:spLocks noGrp="1"/>
          </p:cNvSpPr>
          <p:nvPr>
            <p:ph type="dt" sz="half" idx="10"/>
            <p:custDataLst>
              <p:tags r:id="rId3"/>
            </p:custDataLst>
          </p:nvPr>
        </p:nvSpPr>
        <p:spPr/>
        <p:txBody>
          <a:bodyPr/>
          <a:lstStyle/>
          <a:p>
            <a:fld id="{9EFD9D74-47D9-4702-A33C-335B63B48DBF}" type="datetimeFigureOut">
              <a:rPr lang="en-US" smtClean="0"/>
              <a:t>2026-10-04</a:t>
            </a:fld>
            <a:endParaRPr lang="en-US" dirty="0"/>
          </a:p>
        </p:txBody>
      </p:sp>
      <p:sp>
        <p:nvSpPr>
          <p:cNvPr id="6" name="Footer Placeholder 5"/>
          <p:cNvSpPr>
            <a:spLocks noGrp="1"/>
          </p:cNvSpPr>
          <p:nvPr>
            <p:ph type="ftr" sz="quarter" idx="11"/>
            <p:custDataLst>
              <p:tags r:id="rId4"/>
            </p:custDataLst>
          </p:nvPr>
        </p:nvSpPr>
        <p:spPr/>
        <p:txBody>
          <a:bodyPr/>
          <a:lstStyle/>
          <a:p>
            <a:endParaRPr lang="en-US" dirty="0"/>
          </a:p>
        </p:txBody>
      </p:sp>
      <p:sp>
        <p:nvSpPr>
          <p:cNvPr id="7" name="Slide Number Placeholder 6"/>
          <p:cNvSpPr>
            <a:spLocks noGrp="1"/>
          </p:cNvSpPr>
          <p:nvPr>
            <p:ph type="sldNum" sz="quarter" idx="12"/>
            <p:custDataLst>
              <p:tags r:id="rId5"/>
            </p:custDataLst>
          </p:nvPr>
        </p:nvSpPr>
        <p:spPr/>
        <p:txBody>
          <a:bodyPr/>
          <a:lstStyle/>
          <a:p>
            <a:fld id="{FABC47A4-756D-490B-A52F-7D9E2C9FC05F}" type="slidenum">
              <a:rPr lang="en-US" smtClean="0"/>
              <a:t>‹#›</a:t>
            </a:fld>
            <a:endParaRPr lang="en-US"/>
          </a:p>
        </p:txBody>
      </p:sp>
      <p:sp>
        <p:nvSpPr>
          <p:cNvPr id="9" name="Title 8"/>
          <p:cNvSpPr>
            <a:spLocks noGrp="1"/>
          </p:cNvSpPr>
          <p:nvPr>
            <p:ph type="title"/>
            <p:custDataLst>
              <p:tags r:id="rId6"/>
            </p:custDataLst>
          </p:nvPr>
        </p:nvSpPr>
        <p:spPr/>
        <p:txBody>
          <a:bodyPr/>
          <a:lstStyle/>
          <a:p>
            <a:r>
              <a:rPr lang="en-US"/>
              <a:t>Click to edit Master title style</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custDataLst>
              <p:tags r:id="rId1"/>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en-US"/>
              <a:t>Click to edit title</a:t>
            </a:r>
          </a:p>
        </p:txBody>
      </p:sp>
      <p:sp>
        <p:nvSpPr>
          <p:cNvPr id="3" name="Vertical Text Placeholder 2"/>
          <p:cNvSpPr>
            <a:spLocks noGrp="1"/>
          </p:cNvSpPr>
          <p:nvPr>
            <p:ph type="body" orient="vert" idx="1"/>
            <p:custDataLst>
              <p:tags r:id="rId2"/>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custDataLst>
              <p:tags r:id="rId3"/>
            </p:custDataLst>
          </p:nvPr>
        </p:nvSpPr>
        <p:spPr/>
        <p:txBody>
          <a:bodyPr/>
          <a:lstStyle/>
          <a:p>
            <a:fld id="{760FBDFE-C587-4B4C-A407-44438C67B59E}" type="datetimeFigureOut">
              <a:rPr lang="en-US" smtClean="0"/>
              <a:t>2026-10-04</a:t>
            </a:fld>
            <a:endParaRPr lang="en-US"/>
          </a:p>
        </p:txBody>
      </p:sp>
      <p:sp>
        <p:nvSpPr>
          <p:cNvPr id="5" name="Footer Placeholder 4"/>
          <p:cNvSpPr>
            <a:spLocks noGrp="1"/>
          </p:cNvSpPr>
          <p:nvPr>
            <p:ph type="ftr" sz="quarter" idx="11"/>
            <p:custDataLst>
              <p:tags r:id="rId4"/>
            </p:custDataLst>
          </p:nvPr>
        </p:nvSpPr>
        <p:spPr/>
        <p:txBody>
          <a:bodyPr/>
          <a:lstStyle/>
          <a:p>
            <a:endParaRPr lang="en-US"/>
          </a:p>
        </p:txBody>
      </p:sp>
      <p:sp>
        <p:nvSpPr>
          <p:cNvPr id="6" name="Slide Number Placeholder 5"/>
          <p:cNvSpPr>
            <a:spLocks noGrp="1"/>
          </p:cNvSpPr>
          <p:nvPr>
            <p:ph type="sldNum" sz="quarter" idx="12"/>
            <p:custDataLst>
              <p:tags r:id="rId5"/>
            </p:custDataLst>
          </p:nvPr>
        </p:nvSpPr>
        <p:spPr/>
        <p:txBody>
          <a:bodyPr/>
          <a:lstStyle/>
          <a:p>
            <a:fld id="{49AE70B2-8BF9-45C0-BB95-33D1B9D3A854}"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1"/>
            </p:custDataLst>
          </p:nvPr>
        </p:nvSpPr>
        <p:spPr/>
        <p:txBody>
          <a:bodyPr/>
          <a:lstStyle/>
          <a:p>
            <a:fld id="{760FBDFE-C587-4B4C-A407-44438C67B59E}" type="datetimeFigureOut">
              <a:rPr lang="en-US" smtClean="0"/>
              <a:t>2026-10-04</a:t>
            </a:fld>
            <a:endParaRPr lang="en-US"/>
          </a:p>
        </p:txBody>
      </p:sp>
      <p:sp>
        <p:nvSpPr>
          <p:cNvPr id="4" name="Footer Placeholder 3"/>
          <p:cNvSpPr>
            <a:spLocks noGrp="1"/>
          </p:cNvSpPr>
          <p:nvPr>
            <p:ph type="ftr" sz="quarter" idx="11"/>
            <p:custDataLst>
              <p:tags r:id="rId2"/>
            </p:custDataLst>
          </p:nvPr>
        </p:nvSpPr>
        <p:spPr/>
        <p:txBody>
          <a:bodyPr/>
          <a:lstStyle/>
          <a:p>
            <a:endParaRPr lang="en-US"/>
          </a:p>
        </p:txBody>
      </p:sp>
      <p:sp>
        <p:nvSpPr>
          <p:cNvPr id="5" name="Slide Number Placeholder 4"/>
          <p:cNvSpPr>
            <a:spLocks noGrp="1"/>
          </p:cNvSpPr>
          <p:nvPr>
            <p:ph type="sldNum" sz="quarter" idx="12"/>
            <p:custDataLst>
              <p:tags r:id="rId3"/>
            </p:custDataLst>
          </p:nvPr>
        </p:nvSpPr>
        <p:spPr/>
        <p:txBody>
          <a:bodyPr/>
          <a:lstStyle/>
          <a:p>
            <a:fld id="{49AE70B2-8BF9-45C0-BB95-33D1B9D3A854}" type="slidenum">
              <a:rPr lang="en-US" smtClean="0"/>
              <a:t>‹#›</a:t>
            </a:fld>
            <a:endParaRPr lang="en-US"/>
          </a:p>
        </p:txBody>
      </p:sp>
      <p:sp>
        <p:nvSpPr>
          <p:cNvPr id="7" name="Content Placeholder 6"/>
          <p:cNvSpPr>
            <a:spLocks noGrp="1"/>
          </p:cNvSpPr>
          <p:nvPr>
            <p:ph sz="quarter" idx="13"/>
            <p:custDataLst>
              <p:tags r:id="rId4"/>
            </p:custDataLst>
          </p:nvPr>
        </p:nvSpPr>
        <p:spPr>
          <a:xfrm>
            <a:off x="608400" y="774000"/>
            <a:ext cx="10972800" cy="5482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st Slide">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1"/>
            </p:custDataLst>
          </p:nvPr>
        </p:nvSpPr>
        <p:spPr/>
        <p:txBody>
          <a:bodyPr/>
          <a:lstStyle/>
          <a:p>
            <a:fld id="{760FBDFE-C587-4B4C-A407-44438C67B59E}" type="datetimeFigureOut">
              <a:rPr lang="en-US" smtClean="0"/>
              <a:t>2026-10-04</a:t>
            </a:fld>
            <a:endParaRPr lang="en-US"/>
          </a:p>
        </p:txBody>
      </p:sp>
      <p:sp>
        <p:nvSpPr>
          <p:cNvPr id="4" name="Footer Placeholder 3"/>
          <p:cNvSpPr>
            <a:spLocks noGrp="1"/>
          </p:cNvSpPr>
          <p:nvPr>
            <p:ph type="ftr" sz="quarter" idx="11"/>
            <p:custDataLst>
              <p:tags r:id="rId2"/>
            </p:custDataLst>
          </p:nvPr>
        </p:nvSpPr>
        <p:spPr/>
        <p:txBody>
          <a:bodyPr/>
          <a:lstStyle/>
          <a:p>
            <a:endParaRPr lang="en-US"/>
          </a:p>
        </p:txBody>
      </p:sp>
      <p:sp>
        <p:nvSpPr>
          <p:cNvPr id="5" name="Slide Number Placeholder 4"/>
          <p:cNvSpPr>
            <a:spLocks noGrp="1"/>
          </p:cNvSpPr>
          <p:nvPr>
            <p:ph type="sldNum" sz="quarter" idx="12"/>
            <p:custDataLst>
              <p:tags r:id="rId3"/>
            </p:custDataLst>
          </p:nvPr>
        </p:nvSpPr>
        <p:spPr/>
        <p:txBody>
          <a:bodyPr/>
          <a:lstStyle/>
          <a:p>
            <a:fld id="{49AE70B2-8BF9-45C0-BB95-33D1B9D3A854}" type="slidenum">
              <a:rPr lang="en-US" smtClean="0"/>
              <a:t>‹#›</a:t>
            </a:fld>
            <a:endParaRPr lang="en-US"/>
          </a:p>
        </p:txBody>
      </p:sp>
      <p:sp>
        <p:nvSpPr>
          <p:cNvPr id="2" name="Title 1"/>
          <p:cNvSpPr>
            <a:spLocks noGrp="1"/>
          </p:cNvSpPr>
          <p:nvPr>
            <p:ph type="title" hasCustomPrompt="1"/>
            <p:custDataLst>
              <p:tags r:id="rId4"/>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en-US"/>
              <a:t>Click to edit title</a:t>
            </a:r>
          </a:p>
        </p:txBody>
      </p:sp>
      <p:sp>
        <p:nvSpPr>
          <p:cNvPr id="7" name="Text Placeholder 6"/>
          <p:cNvSpPr>
            <a:spLocks noGrp="1"/>
          </p:cNvSpPr>
          <p:nvPr>
            <p:ph type="body" sz="quarter" idx="13"/>
            <p:custDataLst>
              <p:tags r:id="rId5"/>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en-US" dirty="0"/>
              <a:t>Click to edit Master text styles</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1.xml"/><Relationship Id="rId18" Type="http://schemas.openxmlformats.org/officeDocument/2006/relationships/tags" Target="../tags/tag6.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tags" Target="../tags/tag5.xml"/><Relationship Id="rId2" Type="http://schemas.openxmlformats.org/officeDocument/2006/relationships/slideLayout" Target="../slideLayouts/slideLayout2.xml"/><Relationship Id="rId16" Type="http://schemas.openxmlformats.org/officeDocument/2006/relationships/tags" Target="../tags/tag4.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3.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custDataLst>
              <p:tags r:id="rId14"/>
            </p:custDataLst>
          </p:nvPr>
        </p:nvSpPr>
        <p:spPr>
          <a:xfrm>
            <a:off x="608400" y="608400"/>
            <a:ext cx="10969200" cy="705600"/>
          </a:xfrm>
          <a:prstGeom prst="rect">
            <a:avLst/>
          </a:prstGeom>
        </p:spPr>
        <p:txBody>
          <a:bodyPr vert="horz" lIns="90170" tIns="46990" rIns="90170" bIns="46990" rtlCol="0" anchor="ctr" anchorCtr="0">
            <a:normAutofit/>
          </a:bodyPr>
          <a:lstStyle/>
          <a:p>
            <a:r>
              <a:rPr lang="en-US" dirty="0"/>
              <a:t>Click to edit Master title style</a:t>
            </a:r>
          </a:p>
        </p:txBody>
      </p:sp>
      <p:sp>
        <p:nvSpPr>
          <p:cNvPr id="3" name="Text Placeholder 2"/>
          <p:cNvSpPr>
            <a:spLocks noGrp="1"/>
          </p:cNvSpPr>
          <p:nvPr>
            <p:ph type="body" idx="1"/>
            <p:custDataLst>
              <p:tags r:id="rId15"/>
            </p:custDataLst>
          </p:nvPr>
        </p:nvSpPr>
        <p:spPr>
          <a:xfrm>
            <a:off x="608400" y="1490400"/>
            <a:ext cx="10969200" cy="4759200"/>
          </a:xfrm>
          <a:prstGeom prst="rect">
            <a:avLst/>
          </a:prstGeom>
        </p:spPr>
        <p:txBody>
          <a:bodyPr vert="horz" lIns="90000" tIns="46800" rIns="90000" bIns="4680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custDataLst>
              <p:tags r:id="rId1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en-US" smtClean="0"/>
              <a:t>2026-10-04</a:t>
            </a:fld>
            <a:endParaRPr lang="en-US"/>
          </a:p>
        </p:txBody>
      </p:sp>
      <p:sp>
        <p:nvSpPr>
          <p:cNvPr id="5" name="Footer Placeholder 4"/>
          <p:cNvSpPr>
            <a:spLocks noGrp="1"/>
          </p:cNvSpPr>
          <p:nvPr>
            <p:ph type="ftr" sz="quarter" idx="3"/>
            <p:custDataLst>
              <p:tags r:id="rId1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en-US" dirty="0"/>
          </a:p>
        </p:txBody>
      </p:sp>
      <p:sp>
        <p:nvSpPr>
          <p:cNvPr id="6" name="Slide Number Placeholder 5"/>
          <p:cNvSpPr>
            <a:spLocks noGrp="1"/>
          </p:cNvSpPr>
          <p:nvPr>
            <p:ph type="sldNum" sz="quarter" idx="4"/>
            <p:custDataLst>
              <p:tags r:id="rId1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en-US" smtClean="0"/>
              <a:t>‹#›</a:t>
            </a:fld>
            <a:endParaRPr lang="en-US" dirty="0"/>
          </a:p>
        </p:txBody>
      </p:sp>
    </p:spTree>
    <p:custDataLst>
      <p:tags r:id="rId13"/>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4ED"/>
        </a:solidFill>
        <a:effectLst/>
      </p:bgPr>
    </p:bg>
    <p:spTree>
      <p:nvGrpSpPr>
        <p:cNvPr id="1" name=""/>
        <p:cNvGrpSpPr/>
        <p:nvPr/>
      </p:nvGrpSpPr>
      <p:grpSpPr>
        <a:xfrm>
          <a:off x="0" y="0"/>
          <a:ext cx="0" cy="0"/>
          <a:chOff x="0" y="0"/>
          <a:chExt cx="0" cy="0"/>
        </a:xfrm>
      </p:grpSpPr>
      <p:sp>
        <p:nvSpPr>
          <p:cNvPr id="2" name="Rectangle 1"/>
          <p:cNvSpPr/>
          <p:nvPr/>
        </p:nvSpPr>
        <p:spPr>
          <a:xfrm>
            <a:off x="584200" y="1316567"/>
            <a:ext cx="660400" cy="63500"/>
          </a:xfrm>
          <a:prstGeom prst="rect">
            <a:avLst/>
          </a:prstGeom>
          <a:solidFill>
            <a:srgbClr val="BB542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3" name="Text Box 2"/>
          <p:cNvSpPr txBox="1"/>
          <p:nvPr/>
        </p:nvSpPr>
        <p:spPr>
          <a:xfrm>
            <a:off x="11404600" y="6477000"/>
            <a:ext cx="330200" cy="276860"/>
          </a:xfrm>
          <a:prstGeom prst="rect">
            <a:avLst/>
          </a:prstGeom>
          <a:noFill/>
        </p:spPr>
        <p:txBody>
          <a:bodyPr wrap="square" lIns="0" tIns="0" rIns="0" bIns="0" rtlCol="0" anchor="t">
            <a:noAutofit/>
          </a:bodyPr>
          <a:lstStyle/>
          <a:p>
            <a:pPr indent="0">
              <a:spcAft>
                <a:spcPts val="700"/>
              </a:spcAft>
              <a:buNone/>
            </a:pPr>
            <a:r>
              <a:rPr lang="vi-VN" sz="1000">
                <a:solidFill>
                  <a:srgbClr val="526673"/>
                </a:solidFill>
                <a:latin typeface="Segoe UI" panose="020B0502040204020203" charset="0"/>
                <a:cs typeface="Segoe UI" panose="020B0502040204020203" charset="0"/>
              </a:rPr>
              <a:t>1</a:t>
            </a:r>
          </a:p>
        </p:txBody>
      </p:sp>
      <p:sp>
        <p:nvSpPr>
          <p:cNvPr id="5" name="Text Box 4"/>
          <p:cNvSpPr txBox="1"/>
          <p:nvPr/>
        </p:nvSpPr>
        <p:spPr>
          <a:xfrm>
            <a:off x="609600" y="1430863"/>
            <a:ext cx="7620000" cy="276860"/>
          </a:xfrm>
          <a:prstGeom prst="rect">
            <a:avLst/>
          </a:prstGeom>
          <a:noFill/>
        </p:spPr>
        <p:txBody>
          <a:bodyPr wrap="square" lIns="0" tIns="0" rIns="0" bIns="0" rtlCol="0" anchor="t">
            <a:noAutofit/>
          </a:bodyPr>
          <a:lstStyle/>
          <a:p>
            <a:pPr indent="0">
              <a:spcAft>
                <a:spcPts val="700"/>
              </a:spcAft>
              <a:buNone/>
            </a:pPr>
            <a:r>
              <a:rPr lang="vi-VN" sz="4800" b="1">
                <a:solidFill>
                  <a:srgbClr val="176E68"/>
                </a:solidFill>
                <a:latin typeface="Segoe UI" panose="020B0502040204020203" charset="0"/>
                <a:cs typeface="Segoe UI" panose="020B0502040204020203" charset="0"/>
              </a:rPr>
              <a:t>Face + Voice Integrity</a:t>
            </a:r>
          </a:p>
        </p:txBody>
      </p:sp>
      <p:sp>
        <p:nvSpPr>
          <p:cNvPr id="6" name="Text Box 5"/>
          <p:cNvSpPr txBox="1"/>
          <p:nvPr/>
        </p:nvSpPr>
        <p:spPr>
          <a:xfrm>
            <a:off x="609600" y="2370666"/>
            <a:ext cx="7239000" cy="276860"/>
          </a:xfrm>
          <a:prstGeom prst="rect">
            <a:avLst/>
          </a:prstGeom>
          <a:noFill/>
        </p:spPr>
        <p:txBody>
          <a:bodyPr wrap="square" lIns="0" tIns="0" rIns="0" bIns="0" rtlCol="0" anchor="t">
            <a:noAutofit/>
          </a:bodyPr>
          <a:lstStyle/>
          <a:p>
            <a:pPr indent="0">
              <a:spcAft>
                <a:spcPts val="700"/>
              </a:spcAft>
              <a:buNone/>
            </a:pPr>
            <a:r>
              <a:rPr lang="vi-VN" sz="3200">
                <a:solidFill>
                  <a:srgbClr val="172F3C"/>
                </a:solidFill>
                <a:latin typeface="Segoe UI" panose="020B0502040204020203" charset="0"/>
                <a:cs typeface="Segoe UI" panose="020B0502040204020203" charset="0"/>
              </a:rPr>
              <a:t>Xác minh danh tính cho kỳ đánh giá ngoại ngữ doanh nghiệp</a:t>
            </a:r>
          </a:p>
        </p:txBody>
      </p:sp>
      <p:sp>
        <p:nvSpPr>
          <p:cNvPr id="7" name="Text Box 6"/>
          <p:cNvSpPr txBox="1"/>
          <p:nvPr/>
        </p:nvSpPr>
        <p:spPr>
          <a:xfrm>
            <a:off x="609600" y="5727700"/>
            <a:ext cx="10414000" cy="276860"/>
          </a:xfrm>
          <a:prstGeom prst="rect">
            <a:avLst/>
          </a:prstGeom>
          <a:noFill/>
        </p:spPr>
        <p:txBody>
          <a:bodyPr wrap="square" lIns="0" tIns="0" rIns="0" bIns="0" rtlCol="0" anchor="t">
            <a:noAutofit/>
          </a:bodyPr>
          <a:lstStyle/>
          <a:p>
            <a:pPr indent="0">
              <a:spcAft>
                <a:spcPts val="700"/>
              </a:spcAft>
              <a:buNone/>
            </a:pPr>
            <a:r>
              <a:rPr lang="vi-VN" sz="1600">
                <a:solidFill>
                  <a:srgbClr val="172F3C"/>
                </a:solidFill>
                <a:latin typeface="Segoe UI" panose="020B0502040204020203" charset="0"/>
                <a:cs typeface="Segoe UI" panose="020B0502040204020203" charset="0"/>
              </a:rPr>
              <a:t>Trịnh Đức Dương    Đỗ Quang Hiệp    Tô Thanh Hải    Ngô Anh Đức</a:t>
            </a:r>
          </a:p>
        </p:txBody>
      </p:sp>
      <p:sp>
        <p:nvSpPr>
          <p:cNvPr id="8" name="Text Box 7"/>
          <p:cNvSpPr txBox="1"/>
          <p:nvPr/>
        </p:nvSpPr>
        <p:spPr>
          <a:xfrm>
            <a:off x="609600" y="6184900"/>
            <a:ext cx="6985000" cy="276860"/>
          </a:xfrm>
          <a:prstGeom prst="rect">
            <a:avLst/>
          </a:prstGeom>
          <a:noFill/>
        </p:spPr>
        <p:txBody>
          <a:bodyPr wrap="square" lIns="0" tIns="0" rIns="0" bIns="0" rtlCol="0" anchor="t">
            <a:noAutofit/>
          </a:bodyPr>
          <a:lstStyle/>
          <a:p>
            <a:pPr indent="0">
              <a:spcAft>
                <a:spcPts val="700"/>
              </a:spcAft>
              <a:buNone/>
            </a:pPr>
            <a:r>
              <a:rPr lang="vi-VN" sz="1300">
                <a:solidFill>
                  <a:srgbClr val="526673"/>
                </a:solidFill>
                <a:latin typeface="Segoe UI" panose="020B0502040204020203" charset="0"/>
                <a:cs typeface="Segoe UI" panose="020B0502040204020203" charset="0"/>
              </a:rPr>
              <a:t>DDM501 · FSB-MSA36HN</a:t>
            </a:r>
          </a:p>
        </p:txBody>
      </p:sp>
      <p:sp>
        <p:nvSpPr>
          <p:cNvPr id="9" name="Oval 8"/>
          <p:cNvSpPr/>
          <p:nvPr/>
        </p:nvSpPr>
        <p:spPr>
          <a:xfrm>
            <a:off x="9042400" y="1333500"/>
            <a:ext cx="1651000" cy="1651000"/>
          </a:xfrm>
          <a:prstGeom prst="ellipse">
            <a:avLst/>
          </a:prstGeom>
          <a:solidFill>
            <a:srgbClr val="F2DFD1"/>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0" name="Oval 9"/>
          <p:cNvSpPr/>
          <p:nvPr/>
        </p:nvSpPr>
        <p:spPr>
          <a:xfrm>
            <a:off x="9588500" y="1739900"/>
            <a:ext cx="558800" cy="558800"/>
          </a:xfrm>
          <a:prstGeom prst="ellipse">
            <a:avLst/>
          </a:prstGeom>
          <a:solidFill>
            <a:srgbClr val="BB542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1" name="Oval 10"/>
          <p:cNvSpPr/>
          <p:nvPr/>
        </p:nvSpPr>
        <p:spPr>
          <a:xfrm>
            <a:off x="9309100" y="2413000"/>
            <a:ext cx="1117600" cy="330200"/>
          </a:xfrm>
          <a:prstGeom prst="ellipse">
            <a:avLst/>
          </a:prstGeom>
          <a:solidFill>
            <a:srgbClr val="BB542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2" name="Rectangle 11"/>
          <p:cNvSpPr/>
          <p:nvPr/>
        </p:nvSpPr>
        <p:spPr>
          <a:xfrm>
            <a:off x="8750300" y="3911600"/>
            <a:ext cx="88900" cy="254000"/>
          </a:xfrm>
          <a:prstGeom prst="rect">
            <a:avLst/>
          </a:prstGeom>
          <a:solidFill>
            <a:srgbClr val="176E68"/>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3" name="Rectangle 12"/>
          <p:cNvSpPr/>
          <p:nvPr/>
        </p:nvSpPr>
        <p:spPr>
          <a:xfrm>
            <a:off x="8966200" y="3598545"/>
            <a:ext cx="88900" cy="879475"/>
          </a:xfrm>
          <a:prstGeom prst="rect">
            <a:avLst/>
          </a:prstGeom>
          <a:solidFill>
            <a:srgbClr val="176E68"/>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4" name="Rectangle 13"/>
          <p:cNvSpPr/>
          <p:nvPr/>
        </p:nvSpPr>
        <p:spPr>
          <a:xfrm>
            <a:off x="9182100" y="3655695"/>
            <a:ext cx="88900" cy="765175"/>
          </a:xfrm>
          <a:prstGeom prst="rect">
            <a:avLst/>
          </a:prstGeom>
          <a:solidFill>
            <a:srgbClr val="176E68"/>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5" name="Rectangle 14"/>
          <p:cNvSpPr/>
          <p:nvPr/>
        </p:nvSpPr>
        <p:spPr>
          <a:xfrm>
            <a:off x="9398000" y="3807460"/>
            <a:ext cx="88900" cy="461645"/>
          </a:xfrm>
          <a:prstGeom prst="rect">
            <a:avLst/>
          </a:prstGeom>
          <a:solidFill>
            <a:srgbClr val="176E68"/>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6" name="Rectangle 15"/>
          <p:cNvSpPr/>
          <p:nvPr/>
        </p:nvSpPr>
        <p:spPr>
          <a:xfrm>
            <a:off x="9613900" y="3570605"/>
            <a:ext cx="88900" cy="935355"/>
          </a:xfrm>
          <a:prstGeom prst="rect">
            <a:avLst/>
          </a:prstGeom>
          <a:solidFill>
            <a:srgbClr val="176E68"/>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7" name="Rectangle 16"/>
          <p:cNvSpPr/>
          <p:nvPr/>
        </p:nvSpPr>
        <p:spPr>
          <a:xfrm>
            <a:off x="9829800" y="3736975"/>
            <a:ext cx="88900" cy="602615"/>
          </a:xfrm>
          <a:prstGeom prst="rect">
            <a:avLst/>
          </a:prstGeom>
          <a:solidFill>
            <a:srgbClr val="176E68"/>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8" name="Rectangle 17"/>
          <p:cNvSpPr/>
          <p:nvPr/>
        </p:nvSpPr>
        <p:spPr>
          <a:xfrm>
            <a:off x="10045700" y="3712845"/>
            <a:ext cx="88900" cy="650875"/>
          </a:xfrm>
          <a:prstGeom prst="rect">
            <a:avLst/>
          </a:prstGeom>
          <a:solidFill>
            <a:srgbClr val="176E68"/>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9" name="Rectangle 18"/>
          <p:cNvSpPr/>
          <p:nvPr/>
        </p:nvSpPr>
        <p:spPr>
          <a:xfrm>
            <a:off x="10261600" y="3575050"/>
            <a:ext cx="88900" cy="926465"/>
          </a:xfrm>
          <a:prstGeom prst="rect">
            <a:avLst/>
          </a:prstGeom>
          <a:solidFill>
            <a:srgbClr val="176E68"/>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20" name="Rectangle 19"/>
          <p:cNvSpPr/>
          <p:nvPr/>
        </p:nvSpPr>
        <p:spPr>
          <a:xfrm>
            <a:off x="10477500" y="3834765"/>
            <a:ext cx="88900" cy="407035"/>
          </a:xfrm>
          <a:prstGeom prst="rect">
            <a:avLst/>
          </a:prstGeom>
          <a:solidFill>
            <a:srgbClr val="176E68"/>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21" name="Rectangle 20"/>
          <p:cNvSpPr/>
          <p:nvPr/>
        </p:nvSpPr>
        <p:spPr>
          <a:xfrm>
            <a:off x="10693400" y="3637280"/>
            <a:ext cx="88900" cy="802005"/>
          </a:xfrm>
          <a:prstGeom prst="rect">
            <a:avLst/>
          </a:prstGeom>
          <a:solidFill>
            <a:srgbClr val="176E68"/>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22" name="Rectangle 21"/>
          <p:cNvSpPr/>
          <p:nvPr/>
        </p:nvSpPr>
        <p:spPr>
          <a:xfrm>
            <a:off x="10909300" y="3611245"/>
            <a:ext cx="88900" cy="854075"/>
          </a:xfrm>
          <a:prstGeom prst="rect">
            <a:avLst/>
          </a:prstGeom>
          <a:solidFill>
            <a:srgbClr val="176E68"/>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4ED"/>
        </a:solidFill>
        <a:effectLst/>
      </p:bgPr>
    </p:bg>
    <p:spTree>
      <p:nvGrpSpPr>
        <p:cNvPr id="1" name=""/>
        <p:cNvGrpSpPr/>
        <p:nvPr/>
      </p:nvGrpSpPr>
      <p:grpSpPr>
        <a:xfrm>
          <a:off x="0" y="0"/>
          <a:ext cx="0" cy="0"/>
          <a:chOff x="0" y="0"/>
          <a:chExt cx="0" cy="0"/>
        </a:xfrm>
      </p:grpSpPr>
      <p:sp>
        <p:nvSpPr>
          <p:cNvPr id="2" name="Rectangle 1"/>
          <p:cNvSpPr/>
          <p:nvPr/>
        </p:nvSpPr>
        <p:spPr>
          <a:xfrm>
            <a:off x="584200" y="317500"/>
            <a:ext cx="660400" cy="63500"/>
          </a:xfrm>
          <a:prstGeom prst="rect">
            <a:avLst/>
          </a:prstGeom>
          <a:solidFill>
            <a:srgbClr val="BB542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3" name="Text Box 2"/>
          <p:cNvSpPr txBox="1"/>
          <p:nvPr/>
        </p:nvSpPr>
        <p:spPr>
          <a:xfrm>
            <a:off x="584200" y="546100"/>
            <a:ext cx="11023600" cy="276860"/>
          </a:xfrm>
          <a:prstGeom prst="rect">
            <a:avLst/>
          </a:prstGeom>
          <a:noFill/>
        </p:spPr>
        <p:txBody>
          <a:bodyPr wrap="square" lIns="0" tIns="0" rIns="0" bIns="0" rtlCol="0" anchor="t">
            <a:noAutofit/>
          </a:bodyPr>
          <a:lstStyle/>
          <a:p>
            <a:pPr indent="0">
              <a:spcAft>
                <a:spcPts val="700"/>
              </a:spcAft>
              <a:buNone/>
            </a:pPr>
            <a:r>
              <a:rPr lang="vi-VN" sz="3200" b="1">
                <a:solidFill>
                  <a:srgbClr val="172F3C"/>
                </a:solidFill>
                <a:latin typeface="Segoe UI" panose="020B0502040204020203" charset="0"/>
                <a:cs typeface="Segoe UI" panose="020B0502040204020203" charset="0"/>
              </a:rPr>
              <a:t>ĐẶT VẤN ĐỀ</a:t>
            </a:r>
          </a:p>
        </p:txBody>
      </p:sp>
      <p:sp>
        <p:nvSpPr>
          <p:cNvPr id="4" name="Text Box 3"/>
          <p:cNvSpPr txBox="1"/>
          <p:nvPr/>
        </p:nvSpPr>
        <p:spPr>
          <a:xfrm>
            <a:off x="11404600" y="6477000"/>
            <a:ext cx="330200" cy="276860"/>
          </a:xfrm>
          <a:prstGeom prst="rect">
            <a:avLst/>
          </a:prstGeom>
          <a:noFill/>
        </p:spPr>
        <p:txBody>
          <a:bodyPr wrap="square" lIns="0" tIns="0" rIns="0" bIns="0" rtlCol="0" anchor="t">
            <a:noAutofit/>
          </a:bodyPr>
          <a:lstStyle/>
          <a:p>
            <a:pPr indent="0">
              <a:spcAft>
                <a:spcPts val="700"/>
              </a:spcAft>
              <a:buNone/>
            </a:pPr>
            <a:r>
              <a:rPr lang="vi-VN" sz="1000">
                <a:solidFill>
                  <a:srgbClr val="526673"/>
                </a:solidFill>
                <a:latin typeface="Segoe UI" panose="020B0502040204020203" charset="0"/>
                <a:cs typeface="Segoe UI" panose="020B0502040204020203" charset="0"/>
              </a:rPr>
              <a:t>2</a:t>
            </a:r>
          </a:p>
        </p:txBody>
      </p:sp>
      <p:sp>
        <p:nvSpPr>
          <p:cNvPr id="5" name="Text Box 4"/>
          <p:cNvSpPr txBox="1"/>
          <p:nvPr/>
        </p:nvSpPr>
        <p:spPr>
          <a:xfrm>
            <a:off x="584200" y="6121400"/>
            <a:ext cx="10541000" cy="276860"/>
          </a:xfrm>
          <a:prstGeom prst="rect">
            <a:avLst/>
          </a:prstGeom>
          <a:noFill/>
        </p:spPr>
        <p:txBody>
          <a:bodyPr wrap="square" lIns="0" tIns="0" rIns="0" bIns="0" rtlCol="0" anchor="t">
            <a:noAutofit/>
          </a:bodyPr>
          <a:lstStyle/>
          <a:p>
            <a:pPr indent="0">
              <a:spcAft>
                <a:spcPts val="700"/>
              </a:spcAft>
              <a:buNone/>
            </a:pPr>
            <a:r>
              <a:rPr lang="vi-VN" sz="1200">
                <a:solidFill>
                  <a:srgbClr val="526673"/>
                </a:solidFill>
                <a:latin typeface="Segoe UI" panose="020B0502040204020203" charset="0"/>
                <a:cs typeface="Segoe UI" panose="020B0502040204020203" charset="0"/>
              </a:rPr>
              <a:t>Tình huống giả định để mô tả bài toán, không phải sự cố đã ghi nhận tại một doanh nghiệp</a:t>
            </a:r>
          </a:p>
        </p:txBody>
      </p:sp>
      <p:cxnSp>
        <p:nvCxnSpPr>
          <p:cNvPr id="6" name="Straight Connector 5"/>
          <p:cNvCxnSpPr/>
          <p:nvPr/>
        </p:nvCxnSpPr>
        <p:spPr>
          <a:xfrm>
            <a:off x="990600" y="2730500"/>
            <a:ext cx="10109200" cy="635"/>
          </a:xfrm>
          <a:prstGeom prst="line">
            <a:avLst/>
          </a:prstGeom>
          <a:ln w="38100">
            <a:solidFill>
              <a:srgbClr val="BB542A"/>
            </a:solidFill>
          </a:ln>
        </p:spPr>
        <p:style>
          <a:lnRef idx="2">
            <a:schemeClr val="accent1"/>
          </a:lnRef>
          <a:fillRef idx="0">
            <a:srgbClr val="FFFFFF"/>
          </a:fillRef>
          <a:effectRef idx="0">
            <a:srgbClr val="FFFFFF"/>
          </a:effectRef>
          <a:fontRef idx="minor">
            <a:schemeClr val="tx1"/>
          </a:fontRef>
        </p:style>
      </p:cxnSp>
      <p:sp>
        <p:nvSpPr>
          <p:cNvPr id="7" name="Text Box 6"/>
          <p:cNvSpPr txBox="1"/>
          <p:nvPr/>
        </p:nvSpPr>
        <p:spPr>
          <a:xfrm>
            <a:off x="584200" y="1981200"/>
            <a:ext cx="3403600" cy="276860"/>
          </a:xfrm>
          <a:prstGeom prst="rect">
            <a:avLst/>
          </a:prstGeom>
          <a:noFill/>
        </p:spPr>
        <p:txBody>
          <a:bodyPr wrap="square" lIns="0" tIns="0" rIns="0" bIns="0" rtlCol="0" anchor="t">
            <a:noAutofit/>
          </a:bodyPr>
          <a:lstStyle/>
          <a:p>
            <a:pPr indent="0">
              <a:spcAft>
                <a:spcPts val="700"/>
              </a:spcAft>
              <a:buNone/>
            </a:pPr>
            <a:r>
              <a:rPr lang="vi-VN" sz="2800" b="1">
                <a:solidFill>
                  <a:srgbClr val="BB542A"/>
                </a:solidFill>
                <a:latin typeface="Segoe UI" panose="020B0502040204020203" charset="0"/>
                <a:cs typeface="Segoe UI" panose="020B0502040204020203" charset="0"/>
              </a:rPr>
              <a:t>08:55</a:t>
            </a:r>
          </a:p>
        </p:txBody>
      </p:sp>
      <p:sp>
        <p:nvSpPr>
          <p:cNvPr id="8" name="Oval 7"/>
          <p:cNvSpPr/>
          <p:nvPr/>
        </p:nvSpPr>
        <p:spPr>
          <a:xfrm>
            <a:off x="711200" y="2641600"/>
            <a:ext cx="177800" cy="177800"/>
          </a:xfrm>
          <a:prstGeom prst="ellipse">
            <a:avLst/>
          </a:prstGeom>
          <a:solidFill>
            <a:srgbClr val="BB542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9" name="Text Box 8"/>
          <p:cNvSpPr txBox="1"/>
          <p:nvPr/>
        </p:nvSpPr>
        <p:spPr>
          <a:xfrm>
            <a:off x="584200" y="3213100"/>
            <a:ext cx="3365500" cy="276860"/>
          </a:xfrm>
          <a:prstGeom prst="rect">
            <a:avLst/>
          </a:prstGeom>
          <a:noFill/>
        </p:spPr>
        <p:txBody>
          <a:bodyPr wrap="square" lIns="0" tIns="0" rIns="0" bIns="0" rtlCol="0" anchor="t">
            <a:noAutofit/>
          </a:bodyPr>
          <a:lstStyle/>
          <a:p>
            <a:pPr indent="0">
              <a:spcAft>
                <a:spcPts val="700"/>
              </a:spcAft>
              <a:buNone/>
            </a:pPr>
            <a:r>
              <a:rPr lang="vi-VN" sz="2500" b="1">
                <a:solidFill>
                  <a:srgbClr val="172F3C"/>
                </a:solidFill>
                <a:latin typeface="Segoe UI" panose="020B0502040204020203" charset="0"/>
                <a:cs typeface="Segoe UI" panose="020B0502040204020203" charset="0"/>
              </a:rPr>
              <a:t>Nhân viên đăng nhập</a:t>
            </a:r>
          </a:p>
        </p:txBody>
      </p:sp>
      <p:sp>
        <p:nvSpPr>
          <p:cNvPr id="10" name="Text Box 9"/>
          <p:cNvSpPr txBox="1"/>
          <p:nvPr/>
        </p:nvSpPr>
        <p:spPr>
          <a:xfrm>
            <a:off x="584200" y="4356100"/>
            <a:ext cx="3365500" cy="276860"/>
          </a:xfrm>
          <a:prstGeom prst="rect">
            <a:avLst/>
          </a:prstGeom>
          <a:noFill/>
        </p:spPr>
        <p:txBody>
          <a:bodyPr wrap="square" lIns="0" tIns="0" rIns="0" bIns="0" rtlCol="0" anchor="t">
            <a:noAutofit/>
          </a:bodyPr>
          <a:lstStyle/>
          <a:p>
            <a:pPr indent="0">
              <a:spcAft>
                <a:spcPts val="700"/>
              </a:spcAft>
              <a:buNone/>
            </a:pPr>
            <a:r>
              <a:rPr lang="vi-VN" sz="2100">
                <a:solidFill>
                  <a:srgbClr val="172F3C"/>
                </a:solidFill>
                <a:latin typeface="Segoe UI" panose="020B0502040204020203" charset="0"/>
                <a:cs typeface="Segoe UI" panose="020B0502040204020203" charset="0"/>
              </a:rPr>
              <a:t>Tài khoản và thông tin đăng ký hợp lệ</a:t>
            </a:r>
          </a:p>
        </p:txBody>
      </p:sp>
      <p:sp>
        <p:nvSpPr>
          <p:cNvPr id="11" name="Text Box 10"/>
          <p:cNvSpPr txBox="1"/>
          <p:nvPr/>
        </p:nvSpPr>
        <p:spPr>
          <a:xfrm>
            <a:off x="4368800" y="1981200"/>
            <a:ext cx="3403600" cy="276860"/>
          </a:xfrm>
          <a:prstGeom prst="rect">
            <a:avLst/>
          </a:prstGeom>
          <a:noFill/>
        </p:spPr>
        <p:txBody>
          <a:bodyPr wrap="square" lIns="0" tIns="0" rIns="0" bIns="0" rtlCol="0" anchor="t">
            <a:noAutofit/>
          </a:bodyPr>
          <a:lstStyle/>
          <a:p>
            <a:pPr indent="0">
              <a:spcAft>
                <a:spcPts val="700"/>
              </a:spcAft>
              <a:buNone/>
            </a:pPr>
            <a:r>
              <a:rPr lang="vi-VN" sz="2800" b="1">
                <a:solidFill>
                  <a:srgbClr val="BB542A"/>
                </a:solidFill>
                <a:latin typeface="Segoe UI" panose="020B0502040204020203" charset="0"/>
                <a:cs typeface="Segoe UI" panose="020B0502040204020203" charset="0"/>
              </a:rPr>
              <a:t>09:10</a:t>
            </a:r>
          </a:p>
        </p:txBody>
      </p:sp>
      <p:sp>
        <p:nvSpPr>
          <p:cNvPr id="12" name="Oval 11"/>
          <p:cNvSpPr/>
          <p:nvPr/>
        </p:nvSpPr>
        <p:spPr>
          <a:xfrm>
            <a:off x="4495800" y="2641600"/>
            <a:ext cx="177800" cy="177800"/>
          </a:xfrm>
          <a:prstGeom prst="ellipse">
            <a:avLst/>
          </a:prstGeom>
          <a:solidFill>
            <a:srgbClr val="BB542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3" name="Text Box 12"/>
          <p:cNvSpPr txBox="1"/>
          <p:nvPr/>
        </p:nvSpPr>
        <p:spPr>
          <a:xfrm>
            <a:off x="4368800" y="3213100"/>
            <a:ext cx="3365500" cy="276860"/>
          </a:xfrm>
          <a:prstGeom prst="rect">
            <a:avLst/>
          </a:prstGeom>
          <a:noFill/>
        </p:spPr>
        <p:txBody>
          <a:bodyPr wrap="square" lIns="0" tIns="0" rIns="0" bIns="0" rtlCol="0" anchor="t">
            <a:noAutofit/>
          </a:bodyPr>
          <a:lstStyle/>
          <a:p>
            <a:pPr indent="0">
              <a:spcAft>
                <a:spcPts val="700"/>
              </a:spcAft>
              <a:buNone/>
            </a:pPr>
            <a:r>
              <a:rPr lang="vi-VN" sz="2500" b="1">
                <a:solidFill>
                  <a:srgbClr val="172F3C"/>
                </a:solidFill>
                <a:latin typeface="Segoe UI" panose="020B0502040204020203" charset="0"/>
                <a:cs typeface="Segoe UI" panose="020B0502040204020203" charset="0"/>
              </a:rPr>
              <a:t>Người khác hỗ trợ phần nói</a:t>
            </a:r>
          </a:p>
        </p:txBody>
      </p:sp>
      <p:sp>
        <p:nvSpPr>
          <p:cNvPr id="14" name="Text Box 13"/>
          <p:cNvSpPr txBox="1"/>
          <p:nvPr/>
        </p:nvSpPr>
        <p:spPr>
          <a:xfrm>
            <a:off x="4368800" y="4356100"/>
            <a:ext cx="3365500" cy="276860"/>
          </a:xfrm>
          <a:prstGeom prst="rect">
            <a:avLst/>
          </a:prstGeom>
          <a:noFill/>
        </p:spPr>
        <p:txBody>
          <a:bodyPr wrap="square" lIns="0" tIns="0" rIns="0" bIns="0" rtlCol="0" anchor="t">
            <a:noAutofit/>
          </a:bodyPr>
          <a:lstStyle/>
          <a:p>
            <a:pPr indent="0">
              <a:spcAft>
                <a:spcPts val="700"/>
              </a:spcAft>
              <a:buNone/>
            </a:pPr>
            <a:r>
              <a:rPr lang="vi-VN" sz="2100">
                <a:solidFill>
                  <a:srgbClr val="172F3C"/>
                </a:solidFill>
                <a:latin typeface="Segoe UI" panose="020B0502040204020203" charset="0"/>
                <a:cs typeface="Segoe UI" panose="020B0502040204020203" charset="0"/>
              </a:rPr>
              <a:t>Danh tính thực hiện có thể thay đổi giữa bài</a:t>
            </a:r>
          </a:p>
        </p:txBody>
      </p:sp>
      <p:sp>
        <p:nvSpPr>
          <p:cNvPr id="15" name="Text Box 14"/>
          <p:cNvSpPr txBox="1"/>
          <p:nvPr/>
        </p:nvSpPr>
        <p:spPr>
          <a:xfrm>
            <a:off x="8153400" y="1981200"/>
            <a:ext cx="3403600" cy="276860"/>
          </a:xfrm>
          <a:prstGeom prst="rect">
            <a:avLst/>
          </a:prstGeom>
          <a:noFill/>
        </p:spPr>
        <p:txBody>
          <a:bodyPr wrap="square" lIns="0" tIns="0" rIns="0" bIns="0" rtlCol="0" anchor="t">
            <a:noAutofit/>
          </a:bodyPr>
          <a:lstStyle/>
          <a:p>
            <a:pPr indent="0">
              <a:spcAft>
                <a:spcPts val="700"/>
              </a:spcAft>
              <a:buNone/>
            </a:pPr>
            <a:r>
              <a:rPr lang="vi-VN" sz="2800" b="1">
                <a:solidFill>
                  <a:srgbClr val="BB542A"/>
                </a:solidFill>
                <a:latin typeface="Segoe UI" panose="020B0502040204020203" charset="0"/>
                <a:cs typeface="Segoe UI" panose="020B0502040204020203" charset="0"/>
              </a:rPr>
              <a:t>Sau kỳ thi</a:t>
            </a:r>
          </a:p>
        </p:txBody>
      </p:sp>
      <p:sp>
        <p:nvSpPr>
          <p:cNvPr id="16" name="Oval 15"/>
          <p:cNvSpPr/>
          <p:nvPr/>
        </p:nvSpPr>
        <p:spPr>
          <a:xfrm>
            <a:off x="8280400" y="2641600"/>
            <a:ext cx="177800" cy="177800"/>
          </a:xfrm>
          <a:prstGeom prst="ellipse">
            <a:avLst/>
          </a:prstGeom>
          <a:solidFill>
            <a:srgbClr val="BB542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7" name="Text Box 16"/>
          <p:cNvSpPr txBox="1"/>
          <p:nvPr/>
        </p:nvSpPr>
        <p:spPr>
          <a:xfrm>
            <a:off x="8153400" y="3213100"/>
            <a:ext cx="3365500" cy="276860"/>
          </a:xfrm>
          <a:prstGeom prst="rect">
            <a:avLst/>
          </a:prstGeom>
          <a:noFill/>
        </p:spPr>
        <p:txBody>
          <a:bodyPr wrap="square" lIns="0" tIns="0" rIns="0" bIns="0" rtlCol="0" anchor="t">
            <a:noAutofit/>
          </a:bodyPr>
          <a:lstStyle/>
          <a:p>
            <a:pPr indent="0">
              <a:spcAft>
                <a:spcPts val="700"/>
              </a:spcAft>
              <a:buNone/>
            </a:pPr>
            <a:r>
              <a:rPr lang="vi-VN" sz="2500" b="1">
                <a:solidFill>
                  <a:srgbClr val="172F3C"/>
                </a:solidFill>
                <a:latin typeface="Segoe UI" panose="020B0502040204020203" charset="0"/>
                <a:cs typeface="Segoe UI" panose="020B0502040204020203" charset="0"/>
              </a:rPr>
              <a:t>Kết quả được dùng để ra quyết định</a:t>
            </a:r>
          </a:p>
        </p:txBody>
      </p:sp>
      <p:sp>
        <p:nvSpPr>
          <p:cNvPr id="18" name="Text Box 17"/>
          <p:cNvSpPr txBox="1"/>
          <p:nvPr/>
        </p:nvSpPr>
        <p:spPr>
          <a:xfrm>
            <a:off x="8153400" y="4356100"/>
            <a:ext cx="3365500" cy="276860"/>
          </a:xfrm>
          <a:prstGeom prst="rect">
            <a:avLst/>
          </a:prstGeom>
          <a:noFill/>
        </p:spPr>
        <p:txBody>
          <a:bodyPr wrap="square" lIns="0" tIns="0" rIns="0" bIns="0" rtlCol="0" anchor="t">
            <a:noAutofit/>
          </a:bodyPr>
          <a:lstStyle/>
          <a:p>
            <a:pPr indent="0">
              <a:spcAft>
                <a:spcPts val="700"/>
              </a:spcAft>
              <a:buNone/>
            </a:pPr>
            <a:r>
              <a:rPr lang="vi-VN" sz="2100">
                <a:solidFill>
                  <a:srgbClr val="172F3C"/>
                </a:solidFill>
                <a:latin typeface="Segoe UI" panose="020B0502040204020203" charset="0"/>
                <a:cs typeface="Segoe UI" panose="020B0502040204020203" charset="0"/>
              </a:rPr>
              <a:t>HR khó xác minh lại ai đã làm từng phần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4ED"/>
        </a:solidFill>
        <a:effectLst/>
      </p:bgPr>
    </p:bg>
    <p:spTree>
      <p:nvGrpSpPr>
        <p:cNvPr id="1" name=""/>
        <p:cNvGrpSpPr/>
        <p:nvPr/>
      </p:nvGrpSpPr>
      <p:grpSpPr>
        <a:xfrm>
          <a:off x="0" y="0"/>
          <a:ext cx="0" cy="0"/>
          <a:chOff x="0" y="0"/>
          <a:chExt cx="0" cy="0"/>
        </a:xfrm>
      </p:grpSpPr>
      <p:sp>
        <p:nvSpPr>
          <p:cNvPr id="2" name="Rectangle 1"/>
          <p:cNvSpPr/>
          <p:nvPr/>
        </p:nvSpPr>
        <p:spPr>
          <a:xfrm>
            <a:off x="584200" y="317500"/>
            <a:ext cx="660400" cy="63500"/>
          </a:xfrm>
          <a:prstGeom prst="rect">
            <a:avLst/>
          </a:prstGeom>
          <a:solidFill>
            <a:srgbClr val="BB542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3" name="Text Box 2"/>
          <p:cNvSpPr txBox="1"/>
          <p:nvPr/>
        </p:nvSpPr>
        <p:spPr>
          <a:xfrm>
            <a:off x="584200" y="546100"/>
            <a:ext cx="11023600" cy="276860"/>
          </a:xfrm>
          <a:prstGeom prst="rect">
            <a:avLst/>
          </a:prstGeom>
          <a:noFill/>
        </p:spPr>
        <p:txBody>
          <a:bodyPr wrap="square" lIns="0" tIns="0" rIns="0" bIns="0" rtlCol="0" anchor="t">
            <a:noAutofit/>
          </a:bodyPr>
          <a:lstStyle/>
          <a:p>
            <a:pPr indent="0">
              <a:spcAft>
                <a:spcPts val="700"/>
              </a:spcAft>
              <a:buNone/>
            </a:pPr>
            <a:r>
              <a:rPr lang="vi-VN" sz="3200" b="1">
                <a:solidFill>
                  <a:srgbClr val="172F3C"/>
                </a:solidFill>
                <a:latin typeface="Segoe UI" panose="020B0502040204020203" charset="0"/>
                <a:cs typeface="Segoe UI" panose="020B0502040204020203" charset="0"/>
              </a:rPr>
              <a:t>KHÓ KHĂN</a:t>
            </a:r>
          </a:p>
        </p:txBody>
      </p:sp>
      <p:sp>
        <p:nvSpPr>
          <p:cNvPr id="4" name="Text Box 3"/>
          <p:cNvSpPr txBox="1"/>
          <p:nvPr/>
        </p:nvSpPr>
        <p:spPr>
          <a:xfrm>
            <a:off x="11404600" y="6477000"/>
            <a:ext cx="330200" cy="276860"/>
          </a:xfrm>
          <a:prstGeom prst="rect">
            <a:avLst/>
          </a:prstGeom>
          <a:noFill/>
        </p:spPr>
        <p:txBody>
          <a:bodyPr wrap="square" lIns="0" tIns="0" rIns="0" bIns="0" rtlCol="0" anchor="t">
            <a:noAutofit/>
          </a:bodyPr>
          <a:lstStyle/>
          <a:p>
            <a:pPr indent="0">
              <a:spcAft>
                <a:spcPts val="700"/>
              </a:spcAft>
              <a:buNone/>
            </a:pPr>
            <a:r>
              <a:rPr lang="vi-VN" sz="1000">
                <a:solidFill>
                  <a:srgbClr val="526673"/>
                </a:solidFill>
                <a:latin typeface="Segoe UI" panose="020B0502040204020203" charset="0"/>
                <a:cs typeface="Segoe UI" panose="020B0502040204020203" charset="0"/>
              </a:rPr>
              <a:t>3</a:t>
            </a:r>
          </a:p>
        </p:txBody>
      </p:sp>
      <p:sp>
        <p:nvSpPr>
          <p:cNvPr id="5" name="Text Box 4"/>
          <p:cNvSpPr txBox="1"/>
          <p:nvPr/>
        </p:nvSpPr>
        <p:spPr>
          <a:xfrm>
            <a:off x="584200" y="6121400"/>
            <a:ext cx="10541000" cy="276860"/>
          </a:xfrm>
          <a:prstGeom prst="rect">
            <a:avLst/>
          </a:prstGeom>
          <a:noFill/>
        </p:spPr>
        <p:txBody>
          <a:bodyPr wrap="square" lIns="0" tIns="0" rIns="0" bIns="0" rtlCol="0" anchor="t">
            <a:noAutofit/>
          </a:bodyPr>
          <a:lstStyle/>
          <a:p>
            <a:pPr indent="0">
              <a:spcAft>
                <a:spcPts val="700"/>
              </a:spcAft>
              <a:buNone/>
            </a:pPr>
            <a:r>
              <a:rPr lang="vi-VN" sz="1200">
                <a:solidFill>
                  <a:srgbClr val="526673"/>
                </a:solidFill>
                <a:latin typeface="Segoe UI" panose="020B0502040204020203" charset="0"/>
                <a:cs typeface="Segoe UI" panose="020B0502040204020203" charset="0"/>
              </a:rPr>
              <a:t>Lợi ích giảm gian lận và giảm thời gian rà soát cần được đo trong pilot</a:t>
            </a:r>
          </a:p>
        </p:txBody>
      </p:sp>
      <p:sp>
        <p:nvSpPr>
          <p:cNvPr id="6" name="Text Box 5"/>
          <p:cNvSpPr txBox="1"/>
          <p:nvPr/>
        </p:nvSpPr>
        <p:spPr>
          <a:xfrm>
            <a:off x="584200" y="1993900"/>
            <a:ext cx="3365500" cy="276860"/>
          </a:xfrm>
          <a:prstGeom prst="rect">
            <a:avLst/>
          </a:prstGeom>
          <a:noFill/>
        </p:spPr>
        <p:txBody>
          <a:bodyPr wrap="square" lIns="0" tIns="0" rIns="0" bIns="0" rtlCol="0" anchor="t">
            <a:noAutofit/>
          </a:bodyPr>
          <a:lstStyle/>
          <a:p>
            <a:pPr indent="0">
              <a:spcAft>
                <a:spcPts val="700"/>
              </a:spcAft>
              <a:buNone/>
            </a:pPr>
            <a:r>
              <a:rPr lang="vi-VN" sz="3800" b="1">
                <a:solidFill>
                  <a:srgbClr val="BB542A"/>
                </a:solidFill>
                <a:latin typeface="Segoe UI" panose="020B0502040204020203" charset="0"/>
                <a:cs typeface="Segoe UI" panose="020B0502040204020203" charset="0"/>
              </a:rPr>
              <a:t>01</a:t>
            </a:r>
          </a:p>
        </p:txBody>
      </p:sp>
      <p:sp>
        <p:nvSpPr>
          <p:cNvPr id="7" name="Text Box 6"/>
          <p:cNvSpPr txBox="1"/>
          <p:nvPr/>
        </p:nvSpPr>
        <p:spPr>
          <a:xfrm>
            <a:off x="584200" y="2870200"/>
            <a:ext cx="3365500" cy="276860"/>
          </a:xfrm>
          <a:prstGeom prst="rect">
            <a:avLst/>
          </a:prstGeom>
          <a:noFill/>
        </p:spPr>
        <p:txBody>
          <a:bodyPr wrap="square" lIns="0" tIns="0" rIns="0" bIns="0" rtlCol="0" anchor="t">
            <a:noAutofit/>
          </a:bodyPr>
          <a:lstStyle/>
          <a:p>
            <a:pPr indent="0">
              <a:spcAft>
                <a:spcPts val="700"/>
              </a:spcAft>
              <a:buNone/>
            </a:pPr>
            <a:r>
              <a:rPr lang="vi-VN" sz="2600" b="1">
                <a:solidFill>
                  <a:srgbClr val="176E68"/>
                </a:solidFill>
                <a:latin typeface="Segoe UI" panose="020B0502040204020203" charset="0"/>
                <a:cs typeface="Segoe UI" panose="020B0502040204020203" charset="0"/>
              </a:rPr>
              <a:t>Độ tin cậy</a:t>
            </a:r>
          </a:p>
        </p:txBody>
      </p:sp>
      <p:sp>
        <p:nvSpPr>
          <p:cNvPr id="8" name="Text Box 7"/>
          <p:cNvSpPr txBox="1"/>
          <p:nvPr/>
        </p:nvSpPr>
        <p:spPr>
          <a:xfrm>
            <a:off x="584200" y="4140200"/>
            <a:ext cx="3365500" cy="276860"/>
          </a:xfrm>
          <a:prstGeom prst="rect">
            <a:avLst/>
          </a:prstGeom>
          <a:noFill/>
        </p:spPr>
        <p:txBody>
          <a:bodyPr wrap="square" lIns="0" tIns="0" rIns="0" bIns="0" rtlCol="0" anchor="t">
            <a:noAutofit/>
          </a:bodyPr>
          <a:lstStyle/>
          <a:p>
            <a:pPr indent="0">
              <a:spcAft>
                <a:spcPts val="700"/>
              </a:spcAft>
              <a:buNone/>
            </a:pPr>
            <a:r>
              <a:rPr lang="vi-VN" sz="2300">
                <a:solidFill>
                  <a:srgbClr val="172F3C"/>
                </a:solidFill>
                <a:latin typeface="Segoe UI" panose="020B0502040204020203" charset="0"/>
                <a:cs typeface="Segoe UI" panose="020B0502040204020203" charset="0"/>
              </a:rPr>
              <a:t>Thi hộ hoặc thay người làm sai lệch kết quả đánh giá</a:t>
            </a:r>
          </a:p>
        </p:txBody>
      </p:sp>
      <p:sp>
        <p:nvSpPr>
          <p:cNvPr id="9" name="Text Box 8"/>
          <p:cNvSpPr txBox="1"/>
          <p:nvPr/>
        </p:nvSpPr>
        <p:spPr>
          <a:xfrm>
            <a:off x="4381500" y="1993900"/>
            <a:ext cx="3365500" cy="276860"/>
          </a:xfrm>
          <a:prstGeom prst="rect">
            <a:avLst/>
          </a:prstGeom>
          <a:noFill/>
        </p:spPr>
        <p:txBody>
          <a:bodyPr wrap="square" lIns="0" tIns="0" rIns="0" bIns="0" rtlCol="0" anchor="t">
            <a:noAutofit/>
          </a:bodyPr>
          <a:lstStyle/>
          <a:p>
            <a:pPr indent="0">
              <a:spcAft>
                <a:spcPts val="700"/>
              </a:spcAft>
              <a:buNone/>
            </a:pPr>
            <a:r>
              <a:rPr lang="vi-VN" sz="3800" b="1">
                <a:solidFill>
                  <a:srgbClr val="BB542A"/>
                </a:solidFill>
                <a:latin typeface="Segoe UI" panose="020B0502040204020203" charset="0"/>
                <a:cs typeface="Segoe UI" panose="020B0502040204020203" charset="0"/>
              </a:rPr>
              <a:t>02</a:t>
            </a:r>
          </a:p>
        </p:txBody>
      </p:sp>
      <p:sp>
        <p:nvSpPr>
          <p:cNvPr id="10" name="Text Box 9"/>
          <p:cNvSpPr txBox="1"/>
          <p:nvPr/>
        </p:nvSpPr>
        <p:spPr>
          <a:xfrm>
            <a:off x="4381500" y="2870200"/>
            <a:ext cx="3365500" cy="276860"/>
          </a:xfrm>
          <a:prstGeom prst="rect">
            <a:avLst/>
          </a:prstGeom>
          <a:noFill/>
        </p:spPr>
        <p:txBody>
          <a:bodyPr wrap="square" lIns="0" tIns="0" rIns="0" bIns="0" rtlCol="0" anchor="t">
            <a:noAutofit/>
          </a:bodyPr>
          <a:lstStyle/>
          <a:p>
            <a:pPr indent="0">
              <a:spcAft>
                <a:spcPts val="700"/>
              </a:spcAft>
              <a:buNone/>
            </a:pPr>
            <a:r>
              <a:rPr lang="vi-VN" sz="2600" b="1">
                <a:solidFill>
                  <a:srgbClr val="176E68"/>
                </a:solidFill>
                <a:latin typeface="Segoe UI" panose="020B0502040204020203" charset="0"/>
                <a:cs typeface="Segoe UI" panose="020B0502040204020203" charset="0"/>
              </a:rPr>
              <a:t>Khối lượng rà soát</a:t>
            </a:r>
          </a:p>
        </p:txBody>
      </p:sp>
      <p:sp>
        <p:nvSpPr>
          <p:cNvPr id="11" name="Text Box 10"/>
          <p:cNvSpPr txBox="1"/>
          <p:nvPr/>
        </p:nvSpPr>
        <p:spPr>
          <a:xfrm>
            <a:off x="4381500" y="4140200"/>
            <a:ext cx="3365500" cy="276860"/>
          </a:xfrm>
          <a:prstGeom prst="rect">
            <a:avLst/>
          </a:prstGeom>
          <a:noFill/>
        </p:spPr>
        <p:txBody>
          <a:bodyPr wrap="square" lIns="0" tIns="0" rIns="0" bIns="0" rtlCol="0" anchor="t">
            <a:noAutofit/>
          </a:bodyPr>
          <a:lstStyle/>
          <a:p>
            <a:pPr indent="0">
              <a:spcAft>
                <a:spcPts val="700"/>
              </a:spcAft>
              <a:buNone/>
            </a:pPr>
            <a:r>
              <a:rPr lang="vi-VN" sz="2300">
                <a:solidFill>
                  <a:srgbClr val="172F3C"/>
                </a:solidFill>
                <a:latin typeface="Segoe UI" panose="020B0502040204020203" charset="0"/>
                <a:cs typeface="Segoe UI" panose="020B0502040204020203" charset="0"/>
              </a:rPr>
              <a:t>HR phải tìm lại ảnh, audio và thời điểm xảy ra nghi vấn</a:t>
            </a:r>
          </a:p>
        </p:txBody>
      </p:sp>
      <p:sp>
        <p:nvSpPr>
          <p:cNvPr id="12" name="Text Box 11"/>
          <p:cNvSpPr txBox="1"/>
          <p:nvPr/>
        </p:nvSpPr>
        <p:spPr>
          <a:xfrm>
            <a:off x="8178800" y="1993900"/>
            <a:ext cx="3365500" cy="276860"/>
          </a:xfrm>
          <a:prstGeom prst="rect">
            <a:avLst/>
          </a:prstGeom>
          <a:noFill/>
        </p:spPr>
        <p:txBody>
          <a:bodyPr wrap="square" lIns="0" tIns="0" rIns="0" bIns="0" rtlCol="0" anchor="t">
            <a:noAutofit/>
          </a:bodyPr>
          <a:lstStyle/>
          <a:p>
            <a:pPr indent="0">
              <a:spcAft>
                <a:spcPts val="700"/>
              </a:spcAft>
              <a:buNone/>
            </a:pPr>
            <a:r>
              <a:rPr lang="vi-VN" sz="3800" b="1">
                <a:solidFill>
                  <a:srgbClr val="BB542A"/>
                </a:solidFill>
                <a:latin typeface="Segoe UI" panose="020B0502040204020203" charset="0"/>
                <a:cs typeface="Segoe UI" panose="020B0502040204020203" charset="0"/>
              </a:rPr>
              <a:t>03</a:t>
            </a:r>
          </a:p>
        </p:txBody>
      </p:sp>
      <p:sp>
        <p:nvSpPr>
          <p:cNvPr id="13" name="Text Box 12"/>
          <p:cNvSpPr txBox="1"/>
          <p:nvPr/>
        </p:nvSpPr>
        <p:spPr>
          <a:xfrm>
            <a:off x="8178800" y="2870200"/>
            <a:ext cx="3365500" cy="276860"/>
          </a:xfrm>
          <a:prstGeom prst="rect">
            <a:avLst/>
          </a:prstGeom>
          <a:noFill/>
        </p:spPr>
        <p:txBody>
          <a:bodyPr wrap="square" lIns="0" tIns="0" rIns="0" bIns="0" rtlCol="0" anchor="t">
            <a:noAutofit/>
          </a:bodyPr>
          <a:lstStyle/>
          <a:p>
            <a:pPr indent="0">
              <a:spcAft>
                <a:spcPts val="700"/>
              </a:spcAft>
              <a:buNone/>
            </a:pPr>
            <a:r>
              <a:rPr lang="vi-VN" sz="2600" b="1">
                <a:solidFill>
                  <a:srgbClr val="176E68"/>
                </a:solidFill>
                <a:latin typeface="Segoe UI" panose="020B0502040204020203" charset="0"/>
                <a:cs typeface="Segoe UI" panose="020B0502040204020203" charset="0"/>
              </a:rPr>
              <a:t>Nguy cơ kết luận nhầm</a:t>
            </a:r>
          </a:p>
        </p:txBody>
      </p:sp>
      <p:sp>
        <p:nvSpPr>
          <p:cNvPr id="14" name="Text Box 13"/>
          <p:cNvSpPr txBox="1"/>
          <p:nvPr/>
        </p:nvSpPr>
        <p:spPr>
          <a:xfrm>
            <a:off x="8178800" y="4140200"/>
            <a:ext cx="3365500" cy="276860"/>
          </a:xfrm>
          <a:prstGeom prst="rect">
            <a:avLst/>
          </a:prstGeom>
          <a:noFill/>
        </p:spPr>
        <p:txBody>
          <a:bodyPr wrap="square" lIns="0" tIns="0" rIns="0" bIns="0" rtlCol="0" anchor="t">
            <a:noAutofit/>
          </a:bodyPr>
          <a:lstStyle/>
          <a:p>
            <a:pPr indent="0">
              <a:spcAft>
                <a:spcPts val="700"/>
              </a:spcAft>
              <a:buNone/>
            </a:pPr>
            <a:r>
              <a:rPr lang="vi-VN" sz="2300">
                <a:solidFill>
                  <a:srgbClr val="172F3C"/>
                </a:solidFill>
                <a:latin typeface="Segoe UI" panose="020B0502040204020203" charset="0"/>
                <a:cs typeface="Segoe UI" panose="020B0502040204020203" charset="0"/>
              </a:rPr>
              <a:t>Camera tối, mic kém hoặc template cũ cũng có thể làm giảm score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4ED"/>
        </a:solidFill>
        <a:effectLst/>
      </p:bgPr>
    </p:bg>
    <p:spTree>
      <p:nvGrpSpPr>
        <p:cNvPr id="1" name=""/>
        <p:cNvGrpSpPr/>
        <p:nvPr/>
      </p:nvGrpSpPr>
      <p:grpSpPr>
        <a:xfrm>
          <a:off x="0" y="0"/>
          <a:ext cx="0" cy="0"/>
          <a:chOff x="0" y="0"/>
          <a:chExt cx="0" cy="0"/>
        </a:xfrm>
      </p:grpSpPr>
      <p:sp>
        <p:nvSpPr>
          <p:cNvPr id="2" name="Rectangle 1"/>
          <p:cNvSpPr/>
          <p:nvPr/>
        </p:nvSpPr>
        <p:spPr>
          <a:xfrm>
            <a:off x="584200" y="317500"/>
            <a:ext cx="660400" cy="63500"/>
          </a:xfrm>
          <a:prstGeom prst="rect">
            <a:avLst/>
          </a:prstGeom>
          <a:solidFill>
            <a:srgbClr val="BB542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3" name="Text Box 2"/>
          <p:cNvSpPr txBox="1"/>
          <p:nvPr/>
        </p:nvSpPr>
        <p:spPr>
          <a:xfrm>
            <a:off x="584200" y="546100"/>
            <a:ext cx="11023600" cy="276860"/>
          </a:xfrm>
          <a:prstGeom prst="rect">
            <a:avLst/>
          </a:prstGeom>
          <a:noFill/>
        </p:spPr>
        <p:txBody>
          <a:bodyPr wrap="square" lIns="0" tIns="0" rIns="0" bIns="0" rtlCol="0" anchor="t">
            <a:noAutofit/>
          </a:bodyPr>
          <a:lstStyle/>
          <a:p>
            <a:pPr indent="0">
              <a:spcAft>
                <a:spcPts val="700"/>
              </a:spcAft>
              <a:buNone/>
            </a:pPr>
            <a:r>
              <a:rPr lang="vi-VN" sz="2800" b="1">
                <a:solidFill>
                  <a:srgbClr val="172F3C"/>
                </a:solidFill>
                <a:latin typeface="Segoe UI" panose="020B0502040204020203" charset="0"/>
                <a:cs typeface="Segoe UI" panose="020B0502040204020203" charset="0"/>
              </a:rPr>
              <a:t>HỆ THỐNG KIỂM TRA NHỮNG DẤU HIỆU NÀO?</a:t>
            </a:r>
          </a:p>
        </p:txBody>
      </p:sp>
      <p:sp>
        <p:nvSpPr>
          <p:cNvPr id="4" name="Text Box 3"/>
          <p:cNvSpPr txBox="1"/>
          <p:nvPr/>
        </p:nvSpPr>
        <p:spPr>
          <a:xfrm>
            <a:off x="11404600" y="6477000"/>
            <a:ext cx="330200" cy="276860"/>
          </a:xfrm>
          <a:prstGeom prst="rect">
            <a:avLst/>
          </a:prstGeom>
          <a:noFill/>
        </p:spPr>
        <p:txBody>
          <a:bodyPr wrap="square" lIns="0" tIns="0" rIns="0" bIns="0" rtlCol="0" anchor="t">
            <a:noAutofit/>
          </a:bodyPr>
          <a:lstStyle/>
          <a:p>
            <a:pPr indent="0">
              <a:spcAft>
                <a:spcPts val="700"/>
              </a:spcAft>
              <a:buNone/>
            </a:pPr>
            <a:r>
              <a:rPr lang="vi-VN" sz="1000">
                <a:solidFill>
                  <a:srgbClr val="526673"/>
                </a:solidFill>
                <a:latin typeface="Segoe UI" panose="020B0502040204020203" charset="0"/>
                <a:cs typeface="Segoe UI" panose="020B0502040204020203" charset="0"/>
              </a:rPr>
              <a:t>4</a:t>
            </a:r>
          </a:p>
        </p:txBody>
      </p:sp>
      <p:sp>
        <p:nvSpPr>
          <p:cNvPr id="5" name="Text Box 4"/>
          <p:cNvSpPr txBox="1"/>
          <p:nvPr/>
        </p:nvSpPr>
        <p:spPr>
          <a:xfrm>
            <a:off x="584200" y="6121400"/>
            <a:ext cx="10541000" cy="276860"/>
          </a:xfrm>
          <a:prstGeom prst="rect">
            <a:avLst/>
          </a:prstGeom>
          <a:noFill/>
        </p:spPr>
        <p:txBody>
          <a:bodyPr wrap="square" lIns="0" tIns="0" rIns="0" bIns="0" rtlCol="0" anchor="t">
            <a:noAutofit/>
          </a:bodyPr>
          <a:lstStyle/>
          <a:p>
            <a:pPr indent="0">
              <a:spcAft>
                <a:spcPts val="700"/>
              </a:spcAft>
              <a:buNone/>
            </a:pPr>
            <a:r>
              <a:rPr lang="vi-VN" sz="1200">
                <a:solidFill>
                  <a:srgbClr val="526673"/>
                </a:solidFill>
                <a:latin typeface="Segoe UI" panose="020B0502040204020203" charset="0"/>
                <a:cs typeface="Segoe UI" panose="020B0502040204020203" charset="0"/>
              </a:rPr>
              <a:t>Suspicious là tín hiệu để xem xét, không tự kết luận người thi gian lận</a:t>
            </a:r>
          </a:p>
        </p:txBody>
      </p:sp>
      <p:graphicFrame>
        <p:nvGraphicFramePr>
          <p:cNvPr id="6" name="Table 5"/>
          <p:cNvGraphicFramePr/>
          <p:nvPr/>
        </p:nvGraphicFramePr>
        <p:xfrm>
          <a:off x="584200" y="1879600"/>
          <a:ext cx="11023600" cy="3129280"/>
        </p:xfrm>
        <a:graphic>
          <a:graphicData uri="http://schemas.openxmlformats.org/drawingml/2006/table">
            <a:tbl>
              <a:tblPr firstRow="1" bandRow="1">
                <a:tableStyleId>{5C22544A-7EE6-4342-B048-85BDC9FD1C3A}</a:tableStyleId>
              </a:tblPr>
              <a:tblGrid>
                <a:gridCol w="2921000">
                  <a:extLst>
                    <a:ext uri="{9D8B030D-6E8A-4147-A177-3AD203B41FA5}">
                      <a16:colId xmlns:a16="http://schemas.microsoft.com/office/drawing/2014/main" val="20000"/>
                    </a:ext>
                  </a:extLst>
                </a:gridCol>
                <a:gridCol w="4038600">
                  <a:extLst>
                    <a:ext uri="{9D8B030D-6E8A-4147-A177-3AD203B41FA5}">
                      <a16:colId xmlns:a16="http://schemas.microsoft.com/office/drawing/2014/main" val="20001"/>
                    </a:ext>
                  </a:extLst>
                </a:gridCol>
                <a:gridCol w="4064000">
                  <a:extLst>
                    <a:ext uri="{9D8B030D-6E8A-4147-A177-3AD203B41FA5}">
                      <a16:colId xmlns:a16="http://schemas.microsoft.com/office/drawing/2014/main" val="20002"/>
                    </a:ext>
                  </a:extLst>
                </a:gridCol>
              </a:tblGrid>
              <a:tr h="558800">
                <a:tc>
                  <a:txBody>
                    <a:bodyPr/>
                    <a:lstStyle/>
                    <a:p>
                      <a:pPr indent="0">
                        <a:spcAft>
                          <a:spcPts val="0"/>
                        </a:spcAft>
                        <a:buNone/>
                      </a:pPr>
                      <a:r>
                        <a:rPr lang="vi-VN" sz="1900" b="1">
                          <a:solidFill>
                            <a:srgbClr val="FFFFFF"/>
                          </a:solidFill>
                          <a:latin typeface="Segoe UI" panose="020B0502040204020203" charset="0"/>
                          <a:cs typeface="Segoe UI" panose="020B0502040204020203" charset="0"/>
                        </a:rPr>
                        <a:t>Rủi ro</a:t>
                      </a:r>
                    </a:p>
                  </a:txBody>
                  <a:tcPr marL="152400" marR="127000" marT="88900" marB="88900" anchor="ctr">
                    <a:lnL w="12700" cmpd="sng">
                      <a:solidFill>
                        <a:srgbClr val="F7F4ED"/>
                      </a:solidFill>
                    </a:lnL>
                    <a:lnR w="12700" cmpd="sng">
                      <a:solidFill>
                        <a:srgbClr val="F7F4ED"/>
                      </a:solidFill>
                    </a:lnR>
                    <a:lnT w="12700" cmpd="sng">
                      <a:solidFill>
                        <a:srgbClr val="F7F4ED"/>
                      </a:solidFill>
                    </a:lnT>
                    <a:lnB w="38100" cmpd="sng">
                      <a:solidFill>
                        <a:srgbClr val="F7F4ED"/>
                      </a:solidFill>
                    </a:lnB>
                    <a:solidFill>
                      <a:srgbClr val="176E68"/>
                    </a:solidFill>
                  </a:tcPr>
                </a:tc>
                <a:tc>
                  <a:txBody>
                    <a:bodyPr/>
                    <a:lstStyle/>
                    <a:p>
                      <a:pPr indent="0">
                        <a:spcAft>
                          <a:spcPts val="0"/>
                        </a:spcAft>
                        <a:buNone/>
                      </a:pPr>
                      <a:r>
                        <a:rPr lang="vi-VN" sz="1900" b="1">
                          <a:solidFill>
                            <a:srgbClr val="FFFFFF"/>
                          </a:solidFill>
                          <a:latin typeface="Segoe UI" panose="020B0502040204020203" charset="0"/>
                          <a:cs typeface="Segoe UI" panose="020B0502040204020203" charset="0"/>
                        </a:rPr>
                        <a:t>Tín hiệu hệ thống</a:t>
                      </a:r>
                    </a:p>
                  </a:txBody>
                  <a:tcPr marL="152400" marR="127000" marT="88900" marB="88900" anchor="ctr">
                    <a:lnL w="12700" cmpd="sng">
                      <a:solidFill>
                        <a:srgbClr val="F7F4ED"/>
                      </a:solidFill>
                    </a:lnL>
                    <a:lnR w="12700" cmpd="sng">
                      <a:solidFill>
                        <a:srgbClr val="F7F4ED"/>
                      </a:solidFill>
                    </a:lnR>
                    <a:lnT w="12700" cmpd="sng">
                      <a:solidFill>
                        <a:srgbClr val="F7F4ED"/>
                      </a:solidFill>
                    </a:lnT>
                    <a:lnB w="38100" cmpd="sng">
                      <a:solidFill>
                        <a:srgbClr val="F7F4ED"/>
                      </a:solidFill>
                    </a:lnB>
                    <a:solidFill>
                      <a:srgbClr val="176E68"/>
                    </a:solidFill>
                  </a:tcPr>
                </a:tc>
                <a:tc>
                  <a:txBody>
                    <a:bodyPr/>
                    <a:lstStyle/>
                    <a:p>
                      <a:pPr indent="0">
                        <a:spcAft>
                          <a:spcPts val="0"/>
                        </a:spcAft>
                        <a:buNone/>
                      </a:pPr>
                      <a:r>
                        <a:rPr lang="vi-VN" sz="1900" b="1">
                          <a:solidFill>
                            <a:srgbClr val="FFFFFF"/>
                          </a:solidFill>
                          <a:latin typeface="Segoe UI" panose="020B0502040204020203" charset="0"/>
                          <a:cs typeface="Segoe UI" panose="020B0502040204020203" charset="0"/>
                        </a:rPr>
                        <a:t>Giới hạn cần hiểu</a:t>
                      </a:r>
                    </a:p>
                  </a:txBody>
                  <a:tcPr marL="152400" marR="127000" marT="88900" marB="88900" anchor="ctr">
                    <a:lnL w="12700" cmpd="sng">
                      <a:solidFill>
                        <a:srgbClr val="F7F4ED"/>
                      </a:solidFill>
                    </a:lnL>
                    <a:lnR w="12700" cmpd="sng">
                      <a:solidFill>
                        <a:srgbClr val="F7F4ED"/>
                      </a:solidFill>
                    </a:lnR>
                    <a:lnT w="12700" cmpd="sng">
                      <a:solidFill>
                        <a:srgbClr val="F7F4ED"/>
                      </a:solidFill>
                    </a:lnT>
                    <a:lnB w="38100" cmpd="sng">
                      <a:solidFill>
                        <a:srgbClr val="F7F4ED"/>
                      </a:solidFill>
                    </a:lnB>
                    <a:solidFill>
                      <a:srgbClr val="176E68"/>
                    </a:solidFill>
                  </a:tcPr>
                </a:tc>
                <a:extLst>
                  <a:ext uri="{0D108BD9-81ED-4DB2-BD59-A6C34878D82A}">
                    <a16:rowId xmlns:a16="http://schemas.microsoft.com/office/drawing/2014/main" val="10000"/>
                  </a:ext>
                </a:extLst>
              </a:tr>
              <a:tr h="558800">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Thi hộ / thay người</a:t>
                      </a:r>
                    </a:p>
                  </a:txBody>
                  <a:tcPr marL="152400" marR="127000" marT="88900" marB="88900" anchor="ctr">
                    <a:lnL w="12700" cmpd="sng">
                      <a:solidFill>
                        <a:srgbClr val="F7F4ED"/>
                      </a:solidFill>
                    </a:lnL>
                    <a:lnR w="12700" cmpd="sng">
                      <a:solidFill>
                        <a:srgbClr val="F7F4ED"/>
                      </a:solidFill>
                    </a:lnR>
                    <a:lnT w="38100" cmpd="sng">
                      <a:solidFill>
                        <a:srgbClr val="F7F4ED"/>
                      </a:solidFill>
                    </a:lnT>
                    <a:lnB w="12700" cmpd="sng">
                      <a:solidFill>
                        <a:srgbClr val="F7F4ED"/>
                      </a:solidFill>
                    </a:lnB>
                    <a:solidFill>
                      <a:srgbClr val="E4EEEA"/>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Face và Voice so với mẫu ghi danh</a:t>
                      </a:r>
                    </a:p>
                  </a:txBody>
                  <a:tcPr marL="152400" marR="127000" marT="88900" marB="88900" anchor="ctr">
                    <a:lnL w="12700" cmpd="sng">
                      <a:solidFill>
                        <a:srgbClr val="F7F4ED"/>
                      </a:solidFill>
                    </a:lnL>
                    <a:lnR w="12700" cmpd="sng">
                      <a:solidFill>
                        <a:srgbClr val="F7F4ED"/>
                      </a:solidFill>
                    </a:lnR>
                    <a:lnT w="38100" cmpd="sng">
                      <a:solidFill>
                        <a:srgbClr val="F7F4ED"/>
                      </a:solidFill>
                    </a:lnT>
                    <a:lnB w="12700" cmpd="sng">
                      <a:solidFill>
                        <a:srgbClr val="F7F4ED"/>
                      </a:solidFill>
                    </a:lnB>
                    <a:solidFill>
                      <a:srgbClr val="E4EEEA"/>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Tín hiệu phụ thuộc chất lượng capture</a:t>
                      </a:r>
                    </a:p>
                  </a:txBody>
                  <a:tcPr marL="152400" marR="127000" marT="88900" marB="88900" anchor="ctr">
                    <a:lnL w="12700" cmpd="sng">
                      <a:solidFill>
                        <a:srgbClr val="F7F4ED"/>
                      </a:solidFill>
                    </a:lnL>
                    <a:lnR w="12700" cmpd="sng">
                      <a:solidFill>
                        <a:srgbClr val="F7F4ED"/>
                      </a:solidFill>
                    </a:lnR>
                    <a:lnT w="38100" cmpd="sng">
                      <a:solidFill>
                        <a:srgbClr val="F7F4ED"/>
                      </a:solidFill>
                    </a:lnT>
                    <a:lnB w="12700" cmpd="sng">
                      <a:solidFill>
                        <a:srgbClr val="F7F4ED"/>
                      </a:solidFill>
                    </a:lnB>
                    <a:solidFill>
                      <a:srgbClr val="E4EEEA"/>
                    </a:solidFill>
                  </a:tcPr>
                </a:tc>
                <a:extLst>
                  <a:ext uri="{0D108BD9-81ED-4DB2-BD59-A6C34878D82A}">
                    <a16:rowId xmlns:a16="http://schemas.microsoft.com/office/drawing/2014/main" val="10001"/>
                  </a:ext>
                </a:extLst>
              </a:tr>
              <a:tr h="558800">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Ảnh hoặc âm thanh giả</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F7F4ED"/>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Face PAD và audio anti-spoof</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F7F4ED"/>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Chưa bao phủ mọi loại deepfake / replay</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F7F4ED"/>
                    </a:solidFill>
                  </a:tcPr>
                </a:tc>
                <a:extLst>
                  <a:ext uri="{0D108BD9-81ED-4DB2-BD59-A6C34878D82A}">
                    <a16:rowId xmlns:a16="http://schemas.microsoft.com/office/drawing/2014/main" val="10002"/>
                  </a:ext>
                </a:extLst>
              </a:tr>
              <a:tr h="558800">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Nhiều mặt / đổi giọng</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E4EEEA"/>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Đếm mặt, kiểm tra voice segments</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E4EEEA"/>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Heuristic, chưa là diarization đầy đủ</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E4EEEA"/>
                    </a:solidFill>
                  </a:tcPr>
                </a:tc>
                <a:extLst>
                  <a:ext uri="{0D108BD9-81ED-4DB2-BD59-A6C34878D82A}">
                    <a16:rowId xmlns:a16="http://schemas.microsoft.com/office/drawing/2014/main" val="10003"/>
                  </a:ext>
                </a:extLst>
              </a:tr>
              <a:tr h="558800">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Dùng lại capture</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F7F4ED"/>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Kiểm tra hash media trong phiên</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F7F4ED"/>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Chỉ phát hiện tái sử dụng chính xác</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F7F4ED"/>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4ED"/>
        </a:solidFill>
        <a:effectLst/>
      </p:bgPr>
    </p:bg>
    <p:spTree>
      <p:nvGrpSpPr>
        <p:cNvPr id="1" name=""/>
        <p:cNvGrpSpPr/>
        <p:nvPr/>
      </p:nvGrpSpPr>
      <p:grpSpPr>
        <a:xfrm>
          <a:off x="0" y="0"/>
          <a:ext cx="0" cy="0"/>
          <a:chOff x="0" y="0"/>
          <a:chExt cx="0" cy="0"/>
        </a:xfrm>
      </p:grpSpPr>
      <p:sp>
        <p:nvSpPr>
          <p:cNvPr id="2" name="Rectangle 1"/>
          <p:cNvSpPr/>
          <p:nvPr/>
        </p:nvSpPr>
        <p:spPr>
          <a:xfrm>
            <a:off x="584200" y="317500"/>
            <a:ext cx="660400" cy="63500"/>
          </a:xfrm>
          <a:prstGeom prst="rect">
            <a:avLst/>
          </a:prstGeom>
          <a:solidFill>
            <a:srgbClr val="BB542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3" name="Text Box 2"/>
          <p:cNvSpPr txBox="1"/>
          <p:nvPr/>
        </p:nvSpPr>
        <p:spPr>
          <a:xfrm>
            <a:off x="584200" y="546100"/>
            <a:ext cx="11023600" cy="276860"/>
          </a:xfrm>
          <a:prstGeom prst="rect">
            <a:avLst/>
          </a:prstGeom>
          <a:noFill/>
        </p:spPr>
        <p:txBody>
          <a:bodyPr wrap="square" lIns="0" tIns="0" rIns="0" bIns="0" rtlCol="0" anchor="t">
            <a:noAutofit/>
          </a:bodyPr>
          <a:lstStyle/>
          <a:p>
            <a:pPr indent="0">
              <a:spcAft>
                <a:spcPts val="700"/>
              </a:spcAft>
              <a:buNone/>
            </a:pPr>
            <a:r>
              <a:rPr lang="vi-VN" sz="2800" b="1">
                <a:solidFill>
                  <a:srgbClr val="172F3C"/>
                </a:solidFill>
                <a:latin typeface="Segoe UI" panose="020B0502040204020203" charset="0"/>
                <a:cs typeface="Segoe UI" panose="020B0502040204020203" charset="0"/>
              </a:rPr>
              <a:t>BỔ SUNG XÁC MINH VÀO PHẦN MỀM THI ĐANG CÓ</a:t>
            </a:r>
          </a:p>
        </p:txBody>
      </p:sp>
      <p:sp>
        <p:nvSpPr>
          <p:cNvPr id="4" name="Text Box 3"/>
          <p:cNvSpPr txBox="1"/>
          <p:nvPr/>
        </p:nvSpPr>
        <p:spPr>
          <a:xfrm>
            <a:off x="11404600" y="6477000"/>
            <a:ext cx="330200" cy="276860"/>
          </a:xfrm>
          <a:prstGeom prst="rect">
            <a:avLst/>
          </a:prstGeom>
          <a:noFill/>
        </p:spPr>
        <p:txBody>
          <a:bodyPr wrap="square" lIns="0" tIns="0" rIns="0" bIns="0" rtlCol="0" anchor="t">
            <a:noAutofit/>
          </a:bodyPr>
          <a:lstStyle/>
          <a:p>
            <a:pPr indent="0">
              <a:spcAft>
                <a:spcPts val="700"/>
              </a:spcAft>
              <a:buNone/>
            </a:pPr>
            <a:r>
              <a:rPr lang="vi-VN" sz="1000">
                <a:solidFill>
                  <a:srgbClr val="526673"/>
                </a:solidFill>
                <a:latin typeface="Segoe UI" panose="020B0502040204020203" charset="0"/>
                <a:cs typeface="Segoe UI" panose="020B0502040204020203" charset="0"/>
              </a:rPr>
              <a:t>5</a:t>
            </a:r>
          </a:p>
        </p:txBody>
      </p:sp>
      <p:cxnSp>
        <p:nvCxnSpPr>
          <p:cNvPr id="6" name="Straight Connector 5"/>
          <p:cNvCxnSpPr/>
          <p:nvPr/>
        </p:nvCxnSpPr>
        <p:spPr>
          <a:xfrm>
            <a:off x="6057900" y="2006600"/>
            <a:ext cx="635" cy="3619500"/>
          </a:xfrm>
          <a:prstGeom prst="line">
            <a:avLst/>
          </a:prstGeom>
          <a:ln>
            <a:solidFill>
              <a:srgbClr val="CCD6D1"/>
            </a:solidFill>
          </a:ln>
        </p:spPr>
        <p:style>
          <a:lnRef idx="2">
            <a:schemeClr val="accent1"/>
          </a:lnRef>
          <a:fillRef idx="0">
            <a:srgbClr val="FFFFFF"/>
          </a:fillRef>
          <a:effectRef idx="0">
            <a:srgbClr val="FFFFFF"/>
          </a:effectRef>
          <a:fontRef idx="minor">
            <a:schemeClr val="tx1"/>
          </a:fontRef>
        </p:style>
      </p:cxnSp>
      <p:sp>
        <p:nvSpPr>
          <p:cNvPr id="7" name="Text Box 6"/>
          <p:cNvSpPr txBox="1"/>
          <p:nvPr/>
        </p:nvSpPr>
        <p:spPr>
          <a:xfrm>
            <a:off x="584200" y="2146300"/>
            <a:ext cx="5067300" cy="276860"/>
          </a:xfrm>
          <a:prstGeom prst="rect">
            <a:avLst/>
          </a:prstGeom>
          <a:noFill/>
        </p:spPr>
        <p:txBody>
          <a:bodyPr wrap="square" lIns="0" tIns="0" rIns="0" bIns="0" rtlCol="0" anchor="t">
            <a:noAutofit/>
          </a:bodyPr>
          <a:lstStyle/>
          <a:p>
            <a:pPr indent="0">
              <a:spcAft>
                <a:spcPts val="700"/>
              </a:spcAft>
              <a:buNone/>
            </a:pPr>
            <a:r>
              <a:rPr lang="vi-VN" sz="2800" b="1">
                <a:solidFill>
                  <a:srgbClr val="176E68"/>
                </a:solidFill>
                <a:latin typeface="Segoe UI" panose="020B0502040204020203" charset="0"/>
                <a:cs typeface="Segoe UI" panose="020B0502040204020203" charset="0"/>
              </a:rPr>
              <a:t>Doanh nghiệp quản lý</a:t>
            </a:r>
          </a:p>
        </p:txBody>
      </p:sp>
      <p:sp>
        <p:nvSpPr>
          <p:cNvPr id="8" name="Text Box 7"/>
          <p:cNvSpPr txBox="1"/>
          <p:nvPr/>
        </p:nvSpPr>
        <p:spPr>
          <a:xfrm>
            <a:off x="584200" y="3225800"/>
            <a:ext cx="4991100" cy="276860"/>
          </a:xfrm>
          <a:prstGeom prst="rect">
            <a:avLst/>
          </a:prstGeom>
          <a:noFill/>
        </p:spPr>
        <p:txBody>
          <a:bodyPr wrap="square" lIns="0" tIns="0" rIns="0" bIns="0" rtlCol="0" anchor="t">
            <a:noAutofit/>
          </a:bodyPr>
          <a:lstStyle/>
          <a:p>
            <a:pPr indent="0">
              <a:spcAft>
                <a:spcPts val="700"/>
              </a:spcAft>
              <a:buNone/>
            </a:pPr>
            <a:r>
              <a:rPr lang="vi-VN" sz="2500">
                <a:solidFill>
                  <a:srgbClr val="172F3C"/>
                </a:solidFill>
                <a:latin typeface="Segoe UI" panose="020B0502040204020203" charset="0"/>
                <a:cs typeface="Segoe UI" panose="020B0502040204020203" charset="0"/>
              </a:rPr>
              <a:t>Bài thi và tài khoản
Lịch gửi ảnh / WAV
Điểm và quyết định nghiệp vụ</a:t>
            </a:r>
          </a:p>
        </p:txBody>
      </p:sp>
      <p:sp>
        <p:nvSpPr>
          <p:cNvPr id="9" name="Text Box 8"/>
          <p:cNvSpPr txBox="1"/>
          <p:nvPr/>
        </p:nvSpPr>
        <p:spPr>
          <a:xfrm>
            <a:off x="6464300" y="2146300"/>
            <a:ext cx="5067300" cy="276860"/>
          </a:xfrm>
          <a:prstGeom prst="rect">
            <a:avLst/>
          </a:prstGeom>
          <a:noFill/>
        </p:spPr>
        <p:txBody>
          <a:bodyPr wrap="square" lIns="0" tIns="0" rIns="0" bIns="0" rtlCol="0" anchor="t">
            <a:noAutofit/>
          </a:bodyPr>
          <a:lstStyle/>
          <a:p>
            <a:pPr indent="0">
              <a:spcAft>
                <a:spcPts val="700"/>
              </a:spcAft>
              <a:buNone/>
            </a:pPr>
            <a:r>
              <a:rPr lang="vi-VN" sz="2800" b="1">
                <a:solidFill>
                  <a:srgbClr val="176E68"/>
                </a:solidFill>
                <a:latin typeface="Segoe UI" panose="020B0502040204020203" charset="0"/>
                <a:cs typeface="Segoe UI" panose="020B0502040204020203" charset="0"/>
              </a:rPr>
              <a:t>Dịch vụ cung cấp</a:t>
            </a:r>
          </a:p>
        </p:txBody>
      </p:sp>
      <p:sp>
        <p:nvSpPr>
          <p:cNvPr id="10" name="Text Box 9"/>
          <p:cNvSpPr txBox="1"/>
          <p:nvPr/>
        </p:nvSpPr>
        <p:spPr>
          <a:xfrm>
            <a:off x="6464300" y="3225800"/>
            <a:ext cx="4991100" cy="276860"/>
          </a:xfrm>
          <a:prstGeom prst="rect">
            <a:avLst/>
          </a:prstGeom>
          <a:noFill/>
        </p:spPr>
        <p:txBody>
          <a:bodyPr wrap="square" lIns="0" tIns="0" rIns="0" bIns="0" rtlCol="0" anchor="t">
            <a:noAutofit/>
          </a:bodyPr>
          <a:lstStyle/>
          <a:p>
            <a:pPr indent="0">
              <a:spcAft>
                <a:spcPts val="700"/>
              </a:spcAft>
              <a:buNone/>
            </a:pPr>
            <a:r>
              <a:rPr lang="vi-VN" sz="2500">
                <a:solidFill>
                  <a:srgbClr val="172F3C"/>
                </a:solidFill>
                <a:latin typeface="Segoe UI" panose="020B0502040204020203" charset="0"/>
                <a:cs typeface="Segoe UI" panose="020B0502040204020203" charset="0"/>
              </a:rPr>
              <a:t>API xác minh Face / Voice
Lý do và bằng chứng nghi vấn
Webhook, lịch sử, PDF / CSV</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4ED"/>
        </a:solidFill>
        <a:effectLst/>
      </p:bgPr>
    </p:bg>
    <p:spTree>
      <p:nvGrpSpPr>
        <p:cNvPr id="1" name=""/>
        <p:cNvGrpSpPr/>
        <p:nvPr/>
      </p:nvGrpSpPr>
      <p:grpSpPr>
        <a:xfrm>
          <a:off x="0" y="0"/>
          <a:ext cx="0" cy="0"/>
          <a:chOff x="0" y="0"/>
          <a:chExt cx="0" cy="0"/>
        </a:xfrm>
      </p:grpSpPr>
      <p:sp>
        <p:nvSpPr>
          <p:cNvPr id="2" name="Rectangle 1"/>
          <p:cNvSpPr/>
          <p:nvPr/>
        </p:nvSpPr>
        <p:spPr>
          <a:xfrm>
            <a:off x="584200" y="317500"/>
            <a:ext cx="660400" cy="63500"/>
          </a:xfrm>
          <a:prstGeom prst="rect">
            <a:avLst/>
          </a:prstGeom>
          <a:solidFill>
            <a:srgbClr val="BB542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3" name="Text Box 2"/>
          <p:cNvSpPr txBox="1"/>
          <p:nvPr/>
        </p:nvSpPr>
        <p:spPr>
          <a:xfrm>
            <a:off x="584200" y="546100"/>
            <a:ext cx="11023600" cy="276860"/>
          </a:xfrm>
          <a:prstGeom prst="rect">
            <a:avLst/>
          </a:prstGeom>
          <a:noFill/>
        </p:spPr>
        <p:txBody>
          <a:bodyPr wrap="square" lIns="0" tIns="0" rIns="0" bIns="0" rtlCol="0" anchor="t">
            <a:noAutofit/>
          </a:bodyPr>
          <a:lstStyle/>
          <a:p>
            <a:pPr indent="0">
              <a:spcAft>
                <a:spcPts val="700"/>
              </a:spcAft>
              <a:buNone/>
            </a:pPr>
            <a:r>
              <a:rPr lang="vi-VN" sz="2800" b="1">
                <a:solidFill>
                  <a:srgbClr val="172F3C"/>
                </a:solidFill>
                <a:latin typeface="Segoe UI" panose="020B0502040204020203" charset="0"/>
                <a:cs typeface="Segoe UI" panose="020B0502040204020203" charset="0"/>
              </a:rPr>
              <a:t>LOGIC KIỂM TRA</a:t>
            </a:r>
          </a:p>
        </p:txBody>
      </p:sp>
      <p:sp>
        <p:nvSpPr>
          <p:cNvPr id="4" name="Text Box 3"/>
          <p:cNvSpPr txBox="1"/>
          <p:nvPr/>
        </p:nvSpPr>
        <p:spPr>
          <a:xfrm>
            <a:off x="11404600" y="6477000"/>
            <a:ext cx="330200" cy="276860"/>
          </a:xfrm>
          <a:prstGeom prst="rect">
            <a:avLst/>
          </a:prstGeom>
          <a:noFill/>
        </p:spPr>
        <p:txBody>
          <a:bodyPr wrap="square" lIns="0" tIns="0" rIns="0" bIns="0" rtlCol="0" anchor="t">
            <a:noAutofit/>
          </a:bodyPr>
          <a:lstStyle/>
          <a:p>
            <a:pPr indent="0">
              <a:spcAft>
                <a:spcPts val="700"/>
              </a:spcAft>
              <a:buNone/>
            </a:pPr>
            <a:r>
              <a:rPr lang="vi-VN" sz="1000">
                <a:solidFill>
                  <a:srgbClr val="526673"/>
                </a:solidFill>
                <a:latin typeface="Segoe UI" panose="020B0502040204020203" charset="0"/>
                <a:cs typeface="Segoe UI" panose="020B0502040204020203" charset="0"/>
              </a:rPr>
              <a:t>6</a:t>
            </a:r>
          </a:p>
        </p:txBody>
      </p:sp>
      <p:sp>
        <p:nvSpPr>
          <p:cNvPr id="5" name="Text Box 4"/>
          <p:cNvSpPr txBox="1"/>
          <p:nvPr/>
        </p:nvSpPr>
        <p:spPr>
          <a:xfrm>
            <a:off x="584200" y="6121400"/>
            <a:ext cx="10541000" cy="276860"/>
          </a:xfrm>
          <a:prstGeom prst="rect">
            <a:avLst/>
          </a:prstGeom>
          <a:noFill/>
        </p:spPr>
        <p:txBody>
          <a:bodyPr wrap="square" lIns="0" tIns="0" rIns="0" bIns="0" rtlCol="0" anchor="t">
            <a:noAutofit/>
          </a:bodyPr>
          <a:lstStyle/>
          <a:p>
            <a:pPr indent="0">
              <a:spcAft>
                <a:spcPts val="700"/>
              </a:spcAft>
              <a:buNone/>
            </a:pPr>
            <a:r>
              <a:rPr lang="vi-VN" sz="1200">
                <a:solidFill>
                  <a:srgbClr val="526673"/>
                </a:solidFill>
                <a:latin typeface="Segoe UI" panose="020B0502040204020203" charset="0"/>
                <a:cs typeface="Segoe UI" panose="020B0502040204020203" charset="0"/>
              </a:rPr>
              <a:t>Retry cùng request và payload nhận lại cùng kết quả. Payload thay đổi trả 409</a:t>
            </a:r>
          </a:p>
        </p:txBody>
      </p:sp>
      <p:sp>
        <p:nvSpPr>
          <p:cNvPr id="6" name="Text Box 5"/>
          <p:cNvSpPr txBox="1"/>
          <p:nvPr/>
        </p:nvSpPr>
        <p:spPr>
          <a:xfrm>
            <a:off x="584200" y="2311400"/>
            <a:ext cx="1981200" cy="276860"/>
          </a:xfrm>
          <a:prstGeom prst="rect">
            <a:avLst/>
          </a:prstGeom>
          <a:noFill/>
        </p:spPr>
        <p:txBody>
          <a:bodyPr wrap="square" lIns="0" tIns="0" rIns="0" bIns="0" rtlCol="0" anchor="t">
            <a:noAutofit/>
          </a:bodyPr>
          <a:lstStyle/>
          <a:p>
            <a:pPr indent="0">
              <a:spcAft>
                <a:spcPts val="700"/>
              </a:spcAft>
              <a:buNone/>
            </a:pPr>
            <a:r>
              <a:rPr lang="vi-VN" sz="2700" b="1">
                <a:solidFill>
                  <a:srgbClr val="BB542A"/>
                </a:solidFill>
                <a:latin typeface="Segoe UI" panose="020B0502040204020203" charset="0"/>
                <a:cs typeface="Segoe UI" panose="020B0502040204020203" charset="0"/>
              </a:rPr>
              <a:t>01</a:t>
            </a:r>
          </a:p>
        </p:txBody>
      </p:sp>
      <p:sp>
        <p:nvSpPr>
          <p:cNvPr id="7" name="Rectangle 6"/>
          <p:cNvSpPr/>
          <p:nvPr/>
        </p:nvSpPr>
        <p:spPr>
          <a:xfrm>
            <a:off x="584200" y="2997200"/>
            <a:ext cx="1955800" cy="63500"/>
          </a:xfrm>
          <a:prstGeom prst="rect">
            <a:avLst/>
          </a:prstGeom>
          <a:solidFill>
            <a:srgbClr val="176E68"/>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8" name="Text Box 7"/>
          <p:cNvSpPr txBox="1"/>
          <p:nvPr/>
        </p:nvSpPr>
        <p:spPr>
          <a:xfrm>
            <a:off x="584200" y="3365500"/>
            <a:ext cx="1968500" cy="276860"/>
          </a:xfrm>
          <a:prstGeom prst="rect">
            <a:avLst/>
          </a:prstGeom>
          <a:noFill/>
        </p:spPr>
        <p:txBody>
          <a:bodyPr wrap="square" lIns="0" tIns="0" rIns="0" bIns="0" rtlCol="0" anchor="t">
            <a:noAutofit/>
          </a:bodyPr>
          <a:lstStyle/>
          <a:p>
            <a:pPr indent="0">
              <a:spcAft>
                <a:spcPts val="700"/>
              </a:spcAft>
              <a:buNone/>
            </a:pPr>
            <a:r>
              <a:rPr lang="vi-VN" sz="2400" b="1">
                <a:solidFill>
                  <a:srgbClr val="172F3C"/>
                </a:solidFill>
                <a:latin typeface="Segoe UI" panose="020B0502040204020203" charset="0"/>
                <a:cs typeface="Segoe UI" panose="020B0502040204020203" charset="0"/>
              </a:rPr>
              <a:t>Ghi danh</a:t>
            </a:r>
          </a:p>
        </p:txBody>
      </p:sp>
      <p:sp>
        <p:nvSpPr>
          <p:cNvPr id="9" name="Text Box 8"/>
          <p:cNvSpPr txBox="1"/>
          <p:nvPr/>
        </p:nvSpPr>
        <p:spPr>
          <a:xfrm>
            <a:off x="584200" y="4457700"/>
            <a:ext cx="1968500" cy="276860"/>
          </a:xfrm>
          <a:prstGeom prst="rect">
            <a:avLst/>
          </a:prstGeom>
          <a:noFill/>
        </p:spPr>
        <p:txBody>
          <a:bodyPr wrap="square" lIns="0" tIns="0" rIns="0" bIns="0" rtlCol="0" anchor="t">
            <a:noAutofit/>
          </a:bodyPr>
          <a:lstStyle/>
          <a:p>
            <a:pPr indent="0">
              <a:spcAft>
                <a:spcPts val="700"/>
              </a:spcAft>
              <a:buNone/>
            </a:pPr>
            <a:r>
              <a:rPr lang="vi-VN">
                <a:solidFill>
                  <a:srgbClr val="172F3C"/>
                </a:solidFill>
                <a:latin typeface="Segoe UI" panose="020B0502040204020203" charset="0"/>
                <a:cs typeface="Segoe UI" panose="020B0502040204020203" charset="0"/>
              </a:rPr>
              <a:t>Tối thiểu 2 ảnh và 2 WAV</a:t>
            </a:r>
          </a:p>
        </p:txBody>
      </p:sp>
      <p:cxnSp>
        <p:nvCxnSpPr>
          <p:cNvPr id="10" name="Straight Connector 9"/>
          <p:cNvCxnSpPr/>
          <p:nvPr/>
        </p:nvCxnSpPr>
        <p:spPr>
          <a:xfrm>
            <a:off x="2501900" y="3022600"/>
            <a:ext cx="241300" cy="635"/>
          </a:xfrm>
          <a:prstGeom prst="line">
            <a:avLst/>
          </a:prstGeom>
          <a:ln w="25400">
            <a:solidFill>
              <a:srgbClr val="176E68"/>
            </a:solidFill>
            <a:tailEnd type="arrow"/>
          </a:ln>
        </p:spPr>
        <p:style>
          <a:lnRef idx="2">
            <a:schemeClr val="accent1"/>
          </a:lnRef>
          <a:fillRef idx="0">
            <a:srgbClr val="FFFFFF"/>
          </a:fillRef>
          <a:effectRef idx="0">
            <a:srgbClr val="FFFFFF"/>
          </a:effectRef>
          <a:fontRef idx="minor">
            <a:schemeClr val="tx1"/>
          </a:fontRef>
        </p:style>
      </p:cxnSp>
      <p:sp>
        <p:nvSpPr>
          <p:cNvPr id="11" name="Text Box 10"/>
          <p:cNvSpPr txBox="1"/>
          <p:nvPr/>
        </p:nvSpPr>
        <p:spPr>
          <a:xfrm>
            <a:off x="2832100" y="2311400"/>
            <a:ext cx="1981200" cy="276860"/>
          </a:xfrm>
          <a:prstGeom prst="rect">
            <a:avLst/>
          </a:prstGeom>
          <a:noFill/>
        </p:spPr>
        <p:txBody>
          <a:bodyPr wrap="square" lIns="0" tIns="0" rIns="0" bIns="0" rtlCol="0" anchor="t">
            <a:noAutofit/>
          </a:bodyPr>
          <a:lstStyle/>
          <a:p>
            <a:pPr indent="0">
              <a:spcAft>
                <a:spcPts val="700"/>
              </a:spcAft>
              <a:buNone/>
            </a:pPr>
            <a:r>
              <a:rPr lang="vi-VN" sz="2700" b="1">
                <a:solidFill>
                  <a:srgbClr val="BB542A"/>
                </a:solidFill>
                <a:latin typeface="Segoe UI" panose="020B0502040204020203" charset="0"/>
                <a:cs typeface="Segoe UI" panose="020B0502040204020203" charset="0"/>
              </a:rPr>
              <a:t>02</a:t>
            </a:r>
          </a:p>
        </p:txBody>
      </p:sp>
      <p:sp>
        <p:nvSpPr>
          <p:cNvPr id="12" name="Rectangle 11"/>
          <p:cNvSpPr/>
          <p:nvPr/>
        </p:nvSpPr>
        <p:spPr>
          <a:xfrm>
            <a:off x="2832100" y="2997200"/>
            <a:ext cx="1955800" cy="63500"/>
          </a:xfrm>
          <a:prstGeom prst="rect">
            <a:avLst/>
          </a:prstGeom>
          <a:solidFill>
            <a:srgbClr val="176E68"/>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3" name="Text Box 12"/>
          <p:cNvSpPr txBox="1"/>
          <p:nvPr/>
        </p:nvSpPr>
        <p:spPr>
          <a:xfrm>
            <a:off x="2832100" y="3365500"/>
            <a:ext cx="1968500" cy="276860"/>
          </a:xfrm>
          <a:prstGeom prst="rect">
            <a:avLst/>
          </a:prstGeom>
          <a:noFill/>
        </p:spPr>
        <p:txBody>
          <a:bodyPr wrap="square" lIns="0" tIns="0" rIns="0" bIns="0" rtlCol="0" anchor="t">
            <a:noAutofit/>
          </a:bodyPr>
          <a:lstStyle/>
          <a:p>
            <a:pPr indent="0">
              <a:spcAft>
                <a:spcPts val="700"/>
              </a:spcAft>
              <a:buNone/>
            </a:pPr>
            <a:r>
              <a:rPr lang="vi-VN" sz="2400" b="1">
                <a:solidFill>
                  <a:srgbClr val="172F3C"/>
                </a:solidFill>
                <a:latin typeface="Segoe UI" panose="020B0502040204020203" charset="0"/>
                <a:cs typeface="Segoe UI" panose="020B0502040204020203" charset="0"/>
              </a:rPr>
              <a:t>Gửi capture</a:t>
            </a:r>
          </a:p>
        </p:txBody>
      </p:sp>
      <p:sp>
        <p:nvSpPr>
          <p:cNvPr id="14" name="Text Box 13"/>
          <p:cNvSpPr txBox="1"/>
          <p:nvPr/>
        </p:nvSpPr>
        <p:spPr>
          <a:xfrm>
            <a:off x="2832100" y="4457700"/>
            <a:ext cx="1968500" cy="276860"/>
          </a:xfrm>
          <a:prstGeom prst="rect">
            <a:avLst/>
          </a:prstGeom>
          <a:noFill/>
        </p:spPr>
        <p:txBody>
          <a:bodyPr wrap="square" lIns="0" tIns="0" rIns="0" bIns="0" rtlCol="0" anchor="t">
            <a:noAutofit/>
          </a:bodyPr>
          <a:lstStyle/>
          <a:p>
            <a:pPr indent="0">
              <a:spcAft>
                <a:spcPts val="700"/>
              </a:spcAft>
              <a:buNone/>
            </a:pPr>
            <a:r>
              <a:rPr lang="vi-VN">
                <a:solidFill>
                  <a:srgbClr val="172F3C"/>
                </a:solidFill>
                <a:latin typeface="Segoe UI" panose="020B0502040204020203" charset="0"/>
                <a:cs typeface="Segoe UI" panose="020B0502040204020203" charset="0"/>
              </a:rPr>
              <a:t>person, session, request, consent</a:t>
            </a:r>
          </a:p>
        </p:txBody>
      </p:sp>
      <p:cxnSp>
        <p:nvCxnSpPr>
          <p:cNvPr id="15" name="Straight Connector 14"/>
          <p:cNvCxnSpPr/>
          <p:nvPr/>
        </p:nvCxnSpPr>
        <p:spPr>
          <a:xfrm>
            <a:off x="4749800" y="3022600"/>
            <a:ext cx="241300" cy="635"/>
          </a:xfrm>
          <a:prstGeom prst="line">
            <a:avLst/>
          </a:prstGeom>
          <a:ln w="25400">
            <a:solidFill>
              <a:srgbClr val="176E68"/>
            </a:solidFill>
            <a:tailEnd type="arrow"/>
          </a:ln>
        </p:spPr>
        <p:style>
          <a:lnRef idx="2">
            <a:schemeClr val="accent1"/>
          </a:lnRef>
          <a:fillRef idx="0">
            <a:srgbClr val="FFFFFF"/>
          </a:fillRef>
          <a:effectRef idx="0">
            <a:srgbClr val="FFFFFF"/>
          </a:effectRef>
          <a:fontRef idx="minor">
            <a:schemeClr val="tx1"/>
          </a:fontRef>
        </p:style>
      </p:cxnSp>
      <p:sp>
        <p:nvSpPr>
          <p:cNvPr id="16" name="Text Box 15"/>
          <p:cNvSpPr txBox="1"/>
          <p:nvPr/>
        </p:nvSpPr>
        <p:spPr>
          <a:xfrm>
            <a:off x="5080000" y="2311400"/>
            <a:ext cx="1981200" cy="276860"/>
          </a:xfrm>
          <a:prstGeom prst="rect">
            <a:avLst/>
          </a:prstGeom>
          <a:noFill/>
        </p:spPr>
        <p:txBody>
          <a:bodyPr wrap="square" lIns="0" tIns="0" rIns="0" bIns="0" rtlCol="0" anchor="t">
            <a:noAutofit/>
          </a:bodyPr>
          <a:lstStyle/>
          <a:p>
            <a:pPr indent="0">
              <a:spcAft>
                <a:spcPts val="700"/>
              </a:spcAft>
              <a:buNone/>
            </a:pPr>
            <a:r>
              <a:rPr lang="vi-VN" sz="2700" b="1">
                <a:solidFill>
                  <a:srgbClr val="BB542A"/>
                </a:solidFill>
                <a:latin typeface="Segoe UI" panose="020B0502040204020203" charset="0"/>
                <a:cs typeface="Segoe UI" panose="020B0502040204020203" charset="0"/>
              </a:rPr>
              <a:t>03</a:t>
            </a:r>
          </a:p>
        </p:txBody>
      </p:sp>
      <p:sp>
        <p:nvSpPr>
          <p:cNvPr id="17" name="Rectangle 16"/>
          <p:cNvSpPr/>
          <p:nvPr/>
        </p:nvSpPr>
        <p:spPr>
          <a:xfrm>
            <a:off x="5080000" y="2997200"/>
            <a:ext cx="1955800" cy="63500"/>
          </a:xfrm>
          <a:prstGeom prst="rect">
            <a:avLst/>
          </a:prstGeom>
          <a:solidFill>
            <a:srgbClr val="176E68"/>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8" name="Text Box 17"/>
          <p:cNvSpPr txBox="1"/>
          <p:nvPr/>
        </p:nvSpPr>
        <p:spPr>
          <a:xfrm>
            <a:off x="5080000" y="3365500"/>
            <a:ext cx="1968500" cy="276860"/>
          </a:xfrm>
          <a:prstGeom prst="rect">
            <a:avLst/>
          </a:prstGeom>
          <a:noFill/>
        </p:spPr>
        <p:txBody>
          <a:bodyPr wrap="square" lIns="0" tIns="0" rIns="0" bIns="0" rtlCol="0" anchor="t">
            <a:noAutofit/>
          </a:bodyPr>
          <a:lstStyle/>
          <a:p>
            <a:pPr indent="0">
              <a:spcAft>
                <a:spcPts val="700"/>
              </a:spcAft>
              <a:buNone/>
            </a:pPr>
            <a:r>
              <a:rPr lang="vi-VN" sz="2400" b="1">
                <a:solidFill>
                  <a:srgbClr val="172F3C"/>
                </a:solidFill>
                <a:latin typeface="Segoe UI" panose="020B0502040204020203" charset="0"/>
                <a:cs typeface="Segoe UI" panose="020B0502040204020203" charset="0"/>
              </a:rPr>
              <a:t>Xác minh</a:t>
            </a:r>
          </a:p>
        </p:txBody>
      </p:sp>
      <p:sp>
        <p:nvSpPr>
          <p:cNvPr id="19" name="Text Box 18"/>
          <p:cNvSpPr txBox="1"/>
          <p:nvPr/>
        </p:nvSpPr>
        <p:spPr>
          <a:xfrm>
            <a:off x="5080000" y="4457700"/>
            <a:ext cx="1968500" cy="276860"/>
          </a:xfrm>
          <a:prstGeom prst="rect">
            <a:avLst/>
          </a:prstGeom>
          <a:noFill/>
        </p:spPr>
        <p:txBody>
          <a:bodyPr wrap="square" lIns="0" tIns="0" rIns="0" bIns="0" rtlCol="0" anchor="t">
            <a:noAutofit/>
          </a:bodyPr>
          <a:lstStyle/>
          <a:p>
            <a:pPr indent="0">
              <a:spcAft>
                <a:spcPts val="700"/>
              </a:spcAft>
              <a:buNone/>
            </a:pPr>
            <a:r>
              <a:rPr lang="vi-VN">
                <a:solidFill>
                  <a:srgbClr val="172F3C"/>
                </a:solidFill>
                <a:latin typeface="Segoe UI" panose="020B0502040204020203" charset="0"/>
                <a:cs typeface="Segoe UI" panose="020B0502040204020203" charset="0"/>
              </a:rPr>
              <a:t>Identity và integrity checks</a:t>
            </a:r>
          </a:p>
        </p:txBody>
      </p:sp>
      <p:cxnSp>
        <p:nvCxnSpPr>
          <p:cNvPr id="20" name="Straight Connector 19"/>
          <p:cNvCxnSpPr/>
          <p:nvPr/>
        </p:nvCxnSpPr>
        <p:spPr>
          <a:xfrm>
            <a:off x="6997700" y="3022600"/>
            <a:ext cx="241300" cy="635"/>
          </a:xfrm>
          <a:prstGeom prst="line">
            <a:avLst/>
          </a:prstGeom>
          <a:ln w="25400">
            <a:solidFill>
              <a:srgbClr val="176E68"/>
            </a:solidFill>
            <a:tailEnd type="arrow"/>
          </a:ln>
        </p:spPr>
        <p:style>
          <a:lnRef idx="2">
            <a:schemeClr val="accent1"/>
          </a:lnRef>
          <a:fillRef idx="0">
            <a:srgbClr val="FFFFFF"/>
          </a:fillRef>
          <a:effectRef idx="0">
            <a:srgbClr val="FFFFFF"/>
          </a:effectRef>
          <a:fontRef idx="minor">
            <a:schemeClr val="tx1"/>
          </a:fontRef>
        </p:style>
      </p:cxnSp>
      <p:sp>
        <p:nvSpPr>
          <p:cNvPr id="21" name="Text Box 20"/>
          <p:cNvSpPr txBox="1"/>
          <p:nvPr/>
        </p:nvSpPr>
        <p:spPr>
          <a:xfrm>
            <a:off x="7327900" y="2311400"/>
            <a:ext cx="1981200" cy="276860"/>
          </a:xfrm>
          <a:prstGeom prst="rect">
            <a:avLst/>
          </a:prstGeom>
          <a:noFill/>
        </p:spPr>
        <p:txBody>
          <a:bodyPr wrap="square" lIns="0" tIns="0" rIns="0" bIns="0" rtlCol="0" anchor="t">
            <a:noAutofit/>
          </a:bodyPr>
          <a:lstStyle/>
          <a:p>
            <a:pPr indent="0">
              <a:spcAft>
                <a:spcPts val="700"/>
              </a:spcAft>
              <a:buNone/>
            </a:pPr>
            <a:r>
              <a:rPr lang="vi-VN" sz="2700" b="1">
                <a:solidFill>
                  <a:srgbClr val="BB542A"/>
                </a:solidFill>
                <a:latin typeface="Segoe UI" panose="020B0502040204020203" charset="0"/>
                <a:cs typeface="Segoe UI" panose="020B0502040204020203" charset="0"/>
              </a:rPr>
              <a:t>04</a:t>
            </a:r>
          </a:p>
        </p:txBody>
      </p:sp>
      <p:sp>
        <p:nvSpPr>
          <p:cNvPr id="22" name="Rectangle 21"/>
          <p:cNvSpPr/>
          <p:nvPr/>
        </p:nvSpPr>
        <p:spPr>
          <a:xfrm>
            <a:off x="7327900" y="2997200"/>
            <a:ext cx="1955800" cy="63500"/>
          </a:xfrm>
          <a:prstGeom prst="rect">
            <a:avLst/>
          </a:prstGeom>
          <a:solidFill>
            <a:srgbClr val="176E68"/>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23" name="Text Box 22"/>
          <p:cNvSpPr txBox="1"/>
          <p:nvPr/>
        </p:nvSpPr>
        <p:spPr>
          <a:xfrm>
            <a:off x="7327900" y="3365500"/>
            <a:ext cx="1968500" cy="276860"/>
          </a:xfrm>
          <a:prstGeom prst="rect">
            <a:avLst/>
          </a:prstGeom>
          <a:noFill/>
        </p:spPr>
        <p:txBody>
          <a:bodyPr wrap="square" lIns="0" tIns="0" rIns="0" bIns="0" rtlCol="0" anchor="t">
            <a:noAutofit/>
          </a:bodyPr>
          <a:lstStyle/>
          <a:p>
            <a:pPr indent="0">
              <a:spcAft>
                <a:spcPts val="700"/>
              </a:spcAft>
              <a:buNone/>
            </a:pPr>
            <a:r>
              <a:rPr lang="vi-VN" sz="2400" b="1">
                <a:solidFill>
                  <a:srgbClr val="172F3C"/>
                </a:solidFill>
                <a:latin typeface="Segoe UI" panose="020B0502040204020203" charset="0"/>
                <a:cs typeface="Segoe UI" panose="020B0502040204020203" charset="0"/>
              </a:rPr>
              <a:t>Trả kết quả</a:t>
            </a:r>
          </a:p>
        </p:txBody>
      </p:sp>
      <p:sp>
        <p:nvSpPr>
          <p:cNvPr id="24" name="Text Box 23"/>
          <p:cNvSpPr txBox="1"/>
          <p:nvPr/>
        </p:nvSpPr>
        <p:spPr>
          <a:xfrm>
            <a:off x="7327900" y="4457700"/>
            <a:ext cx="1968500" cy="276860"/>
          </a:xfrm>
          <a:prstGeom prst="rect">
            <a:avLst/>
          </a:prstGeom>
          <a:noFill/>
        </p:spPr>
        <p:txBody>
          <a:bodyPr wrap="square" lIns="0" tIns="0" rIns="0" bIns="0" rtlCol="0" anchor="t">
            <a:noAutofit/>
          </a:bodyPr>
          <a:lstStyle/>
          <a:p>
            <a:pPr indent="0">
              <a:spcAft>
                <a:spcPts val="700"/>
              </a:spcAft>
              <a:buNone/>
            </a:pPr>
            <a:r>
              <a:rPr lang="vi-VN">
                <a:solidFill>
                  <a:srgbClr val="172F3C"/>
                </a:solidFill>
                <a:latin typeface="Segoe UI" panose="020B0502040204020203" charset="0"/>
                <a:cs typeface="Segoe UI" panose="020B0502040204020203" charset="0"/>
              </a:rPr>
              <a:t>API và webhook HMAC</a:t>
            </a:r>
          </a:p>
        </p:txBody>
      </p:sp>
      <p:cxnSp>
        <p:nvCxnSpPr>
          <p:cNvPr id="25" name="Straight Connector 24"/>
          <p:cNvCxnSpPr/>
          <p:nvPr/>
        </p:nvCxnSpPr>
        <p:spPr>
          <a:xfrm>
            <a:off x="9245600" y="3022600"/>
            <a:ext cx="241300" cy="635"/>
          </a:xfrm>
          <a:prstGeom prst="line">
            <a:avLst/>
          </a:prstGeom>
          <a:ln w="25400">
            <a:solidFill>
              <a:srgbClr val="176E68"/>
            </a:solidFill>
            <a:tailEnd type="arrow"/>
          </a:ln>
        </p:spPr>
        <p:style>
          <a:lnRef idx="2">
            <a:schemeClr val="accent1"/>
          </a:lnRef>
          <a:fillRef idx="0">
            <a:srgbClr val="FFFFFF"/>
          </a:fillRef>
          <a:effectRef idx="0">
            <a:srgbClr val="FFFFFF"/>
          </a:effectRef>
          <a:fontRef idx="minor">
            <a:schemeClr val="tx1"/>
          </a:fontRef>
        </p:style>
      </p:cxnSp>
      <p:sp>
        <p:nvSpPr>
          <p:cNvPr id="26" name="Text Box 25"/>
          <p:cNvSpPr txBox="1"/>
          <p:nvPr/>
        </p:nvSpPr>
        <p:spPr>
          <a:xfrm>
            <a:off x="9575800" y="2311400"/>
            <a:ext cx="1981200" cy="276860"/>
          </a:xfrm>
          <a:prstGeom prst="rect">
            <a:avLst/>
          </a:prstGeom>
          <a:noFill/>
        </p:spPr>
        <p:txBody>
          <a:bodyPr wrap="square" lIns="0" tIns="0" rIns="0" bIns="0" rtlCol="0" anchor="t">
            <a:noAutofit/>
          </a:bodyPr>
          <a:lstStyle/>
          <a:p>
            <a:pPr indent="0">
              <a:spcAft>
                <a:spcPts val="700"/>
              </a:spcAft>
              <a:buNone/>
            </a:pPr>
            <a:r>
              <a:rPr lang="vi-VN" sz="2700" b="1">
                <a:solidFill>
                  <a:srgbClr val="BB542A"/>
                </a:solidFill>
                <a:latin typeface="Segoe UI" panose="020B0502040204020203" charset="0"/>
                <a:cs typeface="Segoe UI" panose="020B0502040204020203" charset="0"/>
              </a:rPr>
              <a:t>05</a:t>
            </a:r>
          </a:p>
        </p:txBody>
      </p:sp>
      <p:sp>
        <p:nvSpPr>
          <p:cNvPr id="27" name="Rectangle 26"/>
          <p:cNvSpPr/>
          <p:nvPr/>
        </p:nvSpPr>
        <p:spPr>
          <a:xfrm>
            <a:off x="9575800" y="2997200"/>
            <a:ext cx="1955800" cy="63500"/>
          </a:xfrm>
          <a:prstGeom prst="rect">
            <a:avLst/>
          </a:prstGeom>
          <a:solidFill>
            <a:srgbClr val="176E68"/>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28" name="Text Box 27"/>
          <p:cNvSpPr txBox="1"/>
          <p:nvPr/>
        </p:nvSpPr>
        <p:spPr>
          <a:xfrm>
            <a:off x="9575800" y="3365500"/>
            <a:ext cx="1968500" cy="276860"/>
          </a:xfrm>
          <a:prstGeom prst="rect">
            <a:avLst/>
          </a:prstGeom>
          <a:noFill/>
        </p:spPr>
        <p:txBody>
          <a:bodyPr wrap="square" lIns="0" tIns="0" rIns="0" bIns="0" rtlCol="0" anchor="t">
            <a:noAutofit/>
          </a:bodyPr>
          <a:lstStyle/>
          <a:p>
            <a:pPr indent="0">
              <a:spcAft>
                <a:spcPts val="700"/>
              </a:spcAft>
              <a:buNone/>
            </a:pPr>
            <a:r>
              <a:rPr lang="vi-VN" sz="2400" b="1">
                <a:solidFill>
                  <a:srgbClr val="172F3C"/>
                </a:solidFill>
                <a:latin typeface="Segoe UI" panose="020B0502040204020203" charset="0"/>
                <a:cs typeface="Segoe UI" panose="020B0502040204020203" charset="0"/>
              </a:rPr>
              <a:t>Rà soát</a:t>
            </a:r>
          </a:p>
        </p:txBody>
      </p:sp>
      <p:sp>
        <p:nvSpPr>
          <p:cNvPr id="29" name="Text Box 28"/>
          <p:cNvSpPr txBox="1"/>
          <p:nvPr/>
        </p:nvSpPr>
        <p:spPr>
          <a:xfrm>
            <a:off x="9575800" y="4457700"/>
            <a:ext cx="1968500" cy="276860"/>
          </a:xfrm>
          <a:prstGeom prst="rect">
            <a:avLst/>
          </a:prstGeom>
          <a:noFill/>
        </p:spPr>
        <p:txBody>
          <a:bodyPr wrap="square" lIns="0" tIns="0" rIns="0" bIns="0" rtlCol="0" anchor="t">
            <a:noAutofit/>
          </a:bodyPr>
          <a:lstStyle/>
          <a:p>
            <a:pPr indent="0">
              <a:spcAft>
                <a:spcPts val="700"/>
              </a:spcAft>
              <a:buNone/>
            </a:pPr>
            <a:r>
              <a:rPr lang="vi-VN">
                <a:solidFill>
                  <a:srgbClr val="172F3C"/>
                </a:solidFill>
                <a:latin typeface="Segoe UI" panose="020B0502040204020203" charset="0"/>
                <a:cs typeface="Segoe UI" panose="020B0502040204020203" charset="0"/>
              </a:rPr>
              <a:t>Lịch sử, evidence, báo cáo</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4ED"/>
        </a:solidFill>
        <a:effectLst/>
      </p:bgPr>
    </p:bg>
    <p:spTree>
      <p:nvGrpSpPr>
        <p:cNvPr id="1" name=""/>
        <p:cNvGrpSpPr/>
        <p:nvPr/>
      </p:nvGrpSpPr>
      <p:grpSpPr>
        <a:xfrm>
          <a:off x="0" y="0"/>
          <a:ext cx="0" cy="0"/>
          <a:chOff x="0" y="0"/>
          <a:chExt cx="0" cy="0"/>
        </a:xfrm>
      </p:grpSpPr>
      <p:sp>
        <p:nvSpPr>
          <p:cNvPr id="2" name="Rectangle 1"/>
          <p:cNvSpPr/>
          <p:nvPr/>
        </p:nvSpPr>
        <p:spPr>
          <a:xfrm>
            <a:off x="584200" y="317500"/>
            <a:ext cx="660400" cy="63500"/>
          </a:xfrm>
          <a:prstGeom prst="rect">
            <a:avLst/>
          </a:prstGeom>
          <a:solidFill>
            <a:srgbClr val="BB542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3" name="Text Box 2"/>
          <p:cNvSpPr txBox="1"/>
          <p:nvPr/>
        </p:nvSpPr>
        <p:spPr>
          <a:xfrm>
            <a:off x="584200" y="546100"/>
            <a:ext cx="11023600" cy="276860"/>
          </a:xfrm>
          <a:prstGeom prst="rect">
            <a:avLst/>
          </a:prstGeom>
          <a:noFill/>
        </p:spPr>
        <p:txBody>
          <a:bodyPr wrap="square" lIns="0" tIns="0" rIns="0" bIns="0" rtlCol="0" anchor="t">
            <a:noAutofit/>
          </a:bodyPr>
          <a:lstStyle/>
          <a:p>
            <a:pPr indent="0">
              <a:spcAft>
                <a:spcPts val="700"/>
              </a:spcAft>
              <a:buNone/>
            </a:pPr>
            <a:r>
              <a:rPr lang="vi-VN" sz="2800" b="1">
                <a:solidFill>
                  <a:srgbClr val="172F3C"/>
                </a:solidFill>
                <a:latin typeface="Segoe UI" panose="020B0502040204020203" charset="0"/>
                <a:cs typeface="Segoe UI" panose="020B0502040204020203" charset="0"/>
              </a:rPr>
              <a:t>MODEL BIẾN ẢNH VÀ GIỌNG NÓI THÀNH QUYẾT ĐỊNH</a:t>
            </a:r>
          </a:p>
        </p:txBody>
      </p:sp>
      <p:sp>
        <p:nvSpPr>
          <p:cNvPr id="4" name="Text Box 3"/>
          <p:cNvSpPr txBox="1"/>
          <p:nvPr/>
        </p:nvSpPr>
        <p:spPr>
          <a:xfrm>
            <a:off x="11404600" y="6477000"/>
            <a:ext cx="330200" cy="276860"/>
          </a:xfrm>
          <a:prstGeom prst="rect">
            <a:avLst/>
          </a:prstGeom>
          <a:noFill/>
        </p:spPr>
        <p:txBody>
          <a:bodyPr wrap="square" lIns="0" tIns="0" rIns="0" bIns="0" rtlCol="0" anchor="t">
            <a:noAutofit/>
          </a:bodyPr>
          <a:lstStyle/>
          <a:p>
            <a:pPr indent="0">
              <a:spcAft>
                <a:spcPts val="700"/>
              </a:spcAft>
              <a:buNone/>
            </a:pPr>
            <a:r>
              <a:rPr lang="vi-VN" sz="1000">
                <a:solidFill>
                  <a:srgbClr val="526673"/>
                </a:solidFill>
                <a:latin typeface="Segoe UI" panose="020B0502040204020203" charset="0"/>
                <a:cs typeface="Segoe UI" panose="020B0502040204020203" charset="0"/>
              </a:rPr>
              <a:t>7</a:t>
            </a:r>
          </a:p>
        </p:txBody>
      </p:sp>
      <p:sp>
        <p:nvSpPr>
          <p:cNvPr id="5" name="Text Box 4"/>
          <p:cNvSpPr txBox="1"/>
          <p:nvPr/>
        </p:nvSpPr>
        <p:spPr>
          <a:xfrm>
            <a:off x="584200" y="6121400"/>
            <a:ext cx="10541000" cy="276860"/>
          </a:xfrm>
          <a:prstGeom prst="rect">
            <a:avLst/>
          </a:prstGeom>
          <a:noFill/>
        </p:spPr>
        <p:txBody>
          <a:bodyPr wrap="square" lIns="0" tIns="0" rIns="0" bIns="0" rtlCol="0" anchor="t">
            <a:noAutofit/>
          </a:bodyPr>
          <a:lstStyle/>
          <a:p>
            <a:pPr indent="0">
              <a:spcAft>
                <a:spcPts val="700"/>
              </a:spcAft>
              <a:buNone/>
            </a:pPr>
            <a:r>
              <a:rPr lang="vi-VN" sz="1200">
                <a:solidFill>
                  <a:srgbClr val="526673"/>
                </a:solidFill>
                <a:latin typeface="Segoe UI" panose="020B0502040204020203" charset="0"/>
                <a:cs typeface="Segoe UI" panose="020B0502040204020203" charset="0"/>
              </a:rPr>
              <a:t>Retrain hiện tại là hiệu chỉnh threshold policy. Các encoder pretrained được giữ cố định</a:t>
            </a:r>
          </a:p>
        </p:txBody>
      </p:sp>
      <p:sp>
        <p:nvSpPr>
          <p:cNvPr id="6" name="Text Box 5"/>
          <p:cNvSpPr txBox="1"/>
          <p:nvPr/>
        </p:nvSpPr>
        <p:spPr>
          <a:xfrm>
            <a:off x="584200" y="2032000"/>
            <a:ext cx="1397000" cy="276860"/>
          </a:xfrm>
          <a:prstGeom prst="rect">
            <a:avLst/>
          </a:prstGeom>
          <a:noFill/>
        </p:spPr>
        <p:txBody>
          <a:bodyPr wrap="square" lIns="0" tIns="0" rIns="0" bIns="0" rtlCol="0" anchor="t">
            <a:noAutofit/>
          </a:bodyPr>
          <a:lstStyle/>
          <a:p>
            <a:pPr indent="0">
              <a:spcAft>
                <a:spcPts val="700"/>
              </a:spcAft>
              <a:buNone/>
            </a:pPr>
            <a:r>
              <a:rPr lang="vi-VN" sz="1900" b="1">
                <a:solidFill>
                  <a:srgbClr val="BB542A"/>
                </a:solidFill>
                <a:latin typeface="Segoe UI" panose="020B0502040204020203" charset="0"/>
                <a:cs typeface="Segoe UI" panose="020B0502040204020203" charset="0"/>
              </a:rPr>
              <a:t>FACE</a:t>
            </a:r>
          </a:p>
        </p:txBody>
      </p:sp>
      <p:sp>
        <p:nvSpPr>
          <p:cNvPr id="7" name="Text Box 6"/>
          <p:cNvSpPr txBox="1"/>
          <p:nvPr/>
        </p:nvSpPr>
        <p:spPr>
          <a:xfrm>
            <a:off x="2273300" y="2032000"/>
            <a:ext cx="1270000" cy="276860"/>
          </a:xfrm>
          <a:prstGeom prst="rect">
            <a:avLst/>
          </a:prstGeom>
          <a:noFill/>
        </p:spPr>
        <p:txBody>
          <a:bodyPr wrap="square" lIns="0" tIns="0" rIns="0" bIns="0" rtlCol="0" anchor="t">
            <a:noAutofit/>
          </a:bodyPr>
          <a:lstStyle/>
          <a:p>
            <a:pPr indent="0">
              <a:spcAft>
                <a:spcPts val="700"/>
              </a:spcAft>
              <a:buNone/>
            </a:pPr>
            <a:r>
              <a:rPr lang="vi-VN" sz="2400">
                <a:solidFill>
                  <a:srgbClr val="172F3C"/>
                </a:solidFill>
                <a:latin typeface="Segoe UI" panose="020B0502040204020203" charset="0"/>
                <a:cs typeface="Segoe UI" panose="020B0502040204020203" charset="0"/>
              </a:rPr>
              <a:t>Ảnh</a:t>
            </a:r>
          </a:p>
        </p:txBody>
      </p:sp>
      <p:cxnSp>
        <p:nvCxnSpPr>
          <p:cNvPr id="8" name="Straight Connector 7"/>
          <p:cNvCxnSpPr/>
          <p:nvPr/>
        </p:nvCxnSpPr>
        <p:spPr>
          <a:xfrm>
            <a:off x="3581400" y="2247900"/>
            <a:ext cx="609600" cy="635"/>
          </a:xfrm>
          <a:prstGeom prst="line">
            <a:avLst/>
          </a:prstGeom>
          <a:ln w="25400">
            <a:solidFill>
              <a:srgbClr val="176E68"/>
            </a:solidFill>
            <a:tailEnd type="arrow"/>
          </a:ln>
        </p:spPr>
        <p:style>
          <a:lnRef idx="2">
            <a:schemeClr val="accent1"/>
          </a:lnRef>
          <a:fillRef idx="0">
            <a:srgbClr val="FFFFFF"/>
          </a:fillRef>
          <a:effectRef idx="0">
            <a:srgbClr val="FFFFFF"/>
          </a:effectRef>
          <a:fontRef idx="minor">
            <a:schemeClr val="tx1"/>
          </a:fontRef>
        </p:style>
      </p:cxnSp>
      <p:sp>
        <p:nvSpPr>
          <p:cNvPr id="9" name="Text Box 8"/>
          <p:cNvSpPr txBox="1"/>
          <p:nvPr/>
        </p:nvSpPr>
        <p:spPr>
          <a:xfrm>
            <a:off x="4457700" y="2032000"/>
            <a:ext cx="2857500" cy="276860"/>
          </a:xfrm>
          <a:prstGeom prst="rect">
            <a:avLst/>
          </a:prstGeom>
          <a:noFill/>
        </p:spPr>
        <p:txBody>
          <a:bodyPr wrap="square" lIns="0" tIns="0" rIns="0" bIns="0" rtlCol="0" anchor="t">
            <a:noAutofit/>
          </a:bodyPr>
          <a:lstStyle/>
          <a:p>
            <a:pPr indent="0">
              <a:spcAft>
                <a:spcPts val="700"/>
              </a:spcAft>
              <a:buNone/>
            </a:pPr>
            <a:r>
              <a:rPr lang="vi-VN" sz="2300" b="1">
                <a:solidFill>
                  <a:srgbClr val="176E68"/>
                </a:solidFill>
                <a:latin typeface="Segoe UI" panose="020B0502040204020203" charset="0"/>
                <a:cs typeface="Segoe UI" panose="020B0502040204020203" charset="0"/>
              </a:rPr>
              <a:t>YuNet + SFace</a:t>
            </a:r>
          </a:p>
        </p:txBody>
      </p:sp>
      <p:cxnSp>
        <p:nvCxnSpPr>
          <p:cNvPr id="10" name="Straight Connector 9"/>
          <p:cNvCxnSpPr/>
          <p:nvPr/>
        </p:nvCxnSpPr>
        <p:spPr>
          <a:xfrm>
            <a:off x="7518400" y="2247900"/>
            <a:ext cx="571500" cy="635"/>
          </a:xfrm>
          <a:prstGeom prst="line">
            <a:avLst/>
          </a:prstGeom>
          <a:ln w="25400">
            <a:solidFill>
              <a:srgbClr val="176E68"/>
            </a:solidFill>
            <a:tailEnd type="arrow"/>
          </a:ln>
        </p:spPr>
        <p:style>
          <a:lnRef idx="2">
            <a:schemeClr val="accent1"/>
          </a:lnRef>
          <a:fillRef idx="0">
            <a:srgbClr val="FFFFFF"/>
          </a:fillRef>
          <a:effectRef idx="0">
            <a:srgbClr val="FFFFFF"/>
          </a:effectRef>
          <a:fontRef idx="minor">
            <a:schemeClr val="tx1"/>
          </a:fontRef>
        </p:style>
      </p:cxnSp>
      <p:sp>
        <p:nvSpPr>
          <p:cNvPr id="11" name="Text Box 10"/>
          <p:cNvSpPr txBox="1"/>
          <p:nvPr/>
        </p:nvSpPr>
        <p:spPr>
          <a:xfrm>
            <a:off x="8343900" y="2032000"/>
            <a:ext cx="3263900" cy="276860"/>
          </a:xfrm>
          <a:prstGeom prst="rect">
            <a:avLst/>
          </a:prstGeom>
          <a:noFill/>
        </p:spPr>
        <p:txBody>
          <a:bodyPr wrap="square" lIns="0" tIns="0" rIns="0" bIns="0" rtlCol="0" anchor="t">
            <a:noAutofit/>
          </a:bodyPr>
          <a:lstStyle/>
          <a:p>
            <a:pPr indent="0">
              <a:spcAft>
                <a:spcPts val="700"/>
              </a:spcAft>
              <a:buNone/>
            </a:pPr>
            <a:r>
              <a:rPr lang="vi-VN" sz="2200">
                <a:solidFill>
                  <a:srgbClr val="172F3C"/>
                </a:solidFill>
                <a:latin typeface="Segoe UI" panose="020B0502040204020203" charset="0"/>
                <a:cs typeface="Segoe UI" panose="020B0502040204020203" charset="0"/>
              </a:rPr>
              <a:t>Embedding chuẩn hóa</a:t>
            </a:r>
          </a:p>
        </p:txBody>
      </p:sp>
      <p:sp>
        <p:nvSpPr>
          <p:cNvPr id="12" name="Text Box 11"/>
          <p:cNvSpPr txBox="1"/>
          <p:nvPr/>
        </p:nvSpPr>
        <p:spPr>
          <a:xfrm>
            <a:off x="584200" y="3352800"/>
            <a:ext cx="1397000" cy="276860"/>
          </a:xfrm>
          <a:prstGeom prst="rect">
            <a:avLst/>
          </a:prstGeom>
          <a:noFill/>
        </p:spPr>
        <p:txBody>
          <a:bodyPr wrap="square" lIns="0" tIns="0" rIns="0" bIns="0" rtlCol="0" anchor="t">
            <a:noAutofit/>
          </a:bodyPr>
          <a:lstStyle/>
          <a:p>
            <a:pPr indent="0">
              <a:spcAft>
                <a:spcPts val="700"/>
              </a:spcAft>
              <a:buNone/>
            </a:pPr>
            <a:r>
              <a:rPr lang="vi-VN" sz="1900" b="1">
                <a:solidFill>
                  <a:srgbClr val="BB542A"/>
                </a:solidFill>
                <a:latin typeface="Segoe UI" panose="020B0502040204020203" charset="0"/>
                <a:cs typeface="Segoe UI" panose="020B0502040204020203" charset="0"/>
              </a:rPr>
              <a:t>VOICE</a:t>
            </a:r>
          </a:p>
        </p:txBody>
      </p:sp>
      <p:sp>
        <p:nvSpPr>
          <p:cNvPr id="13" name="Text Box 12"/>
          <p:cNvSpPr txBox="1"/>
          <p:nvPr/>
        </p:nvSpPr>
        <p:spPr>
          <a:xfrm>
            <a:off x="2273300" y="3352800"/>
            <a:ext cx="1270000" cy="276860"/>
          </a:xfrm>
          <a:prstGeom prst="rect">
            <a:avLst/>
          </a:prstGeom>
          <a:noFill/>
        </p:spPr>
        <p:txBody>
          <a:bodyPr wrap="square" lIns="0" tIns="0" rIns="0" bIns="0" rtlCol="0" anchor="t">
            <a:noAutofit/>
          </a:bodyPr>
          <a:lstStyle/>
          <a:p>
            <a:pPr indent="0">
              <a:spcAft>
                <a:spcPts val="700"/>
              </a:spcAft>
              <a:buNone/>
            </a:pPr>
            <a:r>
              <a:rPr lang="vi-VN" sz="2400">
                <a:solidFill>
                  <a:srgbClr val="172F3C"/>
                </a:solidFill>
                <a:latin typeface="Segoe UI" panose="020B0502040204020203" charset="0"/>
                <a:cs typeface="Segoe UI" panose="020B0502040204020203" charset="0"/>
              </a:rPr>
              <a:t>WAV</a:t>
            </a:r>
          </a:p>
        </p:txBody>
      </p:sp>
      <p:cxnSp>
        <p:nvCxnSpPr>
          <p:cNvPr id="14" name="Straight Connector 13"/>
          <p:cNvCxnSpPr/>
          <p:nvPr/>
        </p:nvCxnSpPr>
        <p:spPr>
          <a:xfrm>
            <a:off x="3581400" y="3568700"/>
            <a:ext cx="609600" cy="635"/>
          </a:xfrm>
          <a:prstGeom prst="line">
            <a:avLst/>
          </a:prstGeom>
          <a:ln w="25400">
            <a:solidFill>
              <a:srgbClr val="176E68"/>
            </a:solidFill>
            <a:tailEnd type="arrow"/>
          </a:ln>
        </p:spPr>
        <p:style>
          <a:lnRef idx="2">
            <a:schemeClr val="accent1"/>
          </a:lnRef>
          <a:fillRef idx="0">
            <a:srgbClr val="FFFFFF"/>
          </a:fillRef>
          <a:effectRef idx="0">
            <a:srgbClr val="FFFFFF"/>
          </a:effectRef>
          <a:fontRef idx="minor">
            <a:schemeClr val="tx1"/>
          </a:fontRef>
        </p:style>
      </p:cxnSp>
      <p:sp>
        <p:nvSpPr>
          <p:cNvPr id="15" name="Text Box 14"/>
          <p:cNvSpPr txBox="1"/>
          <p:nvPr/>
        </p:nvSpPr>
        <p:spPr>
          <a:xfrm>
            <a:off x="4457700" y="3352800"/>
            <a:ext cx="2857500" cy="276860"/>
          </a:xfrm>
          <a:prstGeom prst="rect">
            <a:avLst/>
          </a:prstGeom>
          <a:noFill/>
        </p:spPr>
        <p:txBody>
          <a:bodyPr wrap="square" lIns="0" tIns="0" rIns="0" bIns="0" rtlCol="0" anchor="t">
            <a:noAutofit/>
          </a:bodyPr>
          <a:lstStyle/>
          <a:p>
            <a:pPr indent="0">
              <a:spcAft>
                <a:spcPts val="700"/>
              </a:spcAft>
              <a:buNone/>
            </a:pPr>
            <a:r>
              <a:rPr lang="vi-VN" sz="2300" b="1">
                <a:solidFill>
                  <a:srgbClr val="176E68"/>
                </a:solidFill>
                <a:latin typeface="Segoe UI" panose="020B0502040204020203" charset="0"/>
                <a:cs typeface="Segoe UI" panose="020B0502040204020203" charset="0"/>
              </a:rPr>
              <a:t>ECAPA</a:t>
            </a:r>
          </a:p>
        </p:txBody>
      </p:sp>
      <p:cxnSp>
        <p:nvCxnSpPr>
          <p:cNvPr id="16" name="Straight Connector 15"/>
          <p:cNvCxnSpPr/>
          <p:nvPr/>
        </p:nvCxnSpPr>
        <p:spPr>
          <a:xfrm>
            <a:off x="7518400" y="3568700"/>
            <a:ext cx="571500" cy="635"/>
          </a:xfrm>
          <a:prstGeom prst="line">
            <a:avLst/>
          </a:prstGeom>
          <a:ln w="25400">
            <a:solidFill>
              <a:srgbClr val="176E68"/>
            </a:solidFill>
            <a:tailEnd type="arrow"/>
          </a:ln>
        </p:spPr>
        <p:style>
          <a:lnRef idx="2">
            <a:schemeClr val="accent1"/>
          </a:lnRef>
          <a:fillRef idx="0">
            <a:srgbClr val="FFFFFF"/>
          </a:fillRef>
          <a:effectRef idx="0">
            <a:srgbClr val="FFFFFF"/>
          </a:effectRef>
          <a:fontRef idx="minor">
            <a:schemeClr val="tx1"/>
          </a:fontRef>
        </p:style>
      </p:cxnSp>
      <p:sp>
        <p:nvSpPr>
          <p:cNvPr id="17" name="Text Box 16"/>
          <p:cNvSpPr txBox="1"/>
          <p:nvPr/>
        </p:nvSpPr>
        <p:spPr>
          <a:xfrm>
            <a:off x="8343900" y="3352800"/>
            <a:ext cx="3263900" cy="276860"/>
          </a:xfrm>
          <a:prstGeom prst="rect">
            <a:avLst/>
          </a:prstGeom>
          <a:noFill/>
        </p:spPr>
        <p:txBody>
          <a:bodyPr wrap="square" lIns="0" tIns="0" rIns="0" bIns="0" rtlCol="0" anchor="t">
            <a:noAutofit/>
          </a:bodyPr>
          <a:lstStyle/>
          <a:p>
            <a:pPr indent="0">
              <a:spcAft>
                <a:spcPts val="700"/>
              </a:spcAft>
              <a:buNone/>
            </a:pPr>
            <a:r>
              <a:rPr lang="vi-VN" sz="2200">
                <a:solidFill>
                  <a:srgbClr val="172F3C"/>
                </a:solidFill>
                <a:latin typeface="Segoe UI" panose="020B0502040204020203" charset="0"/>
                <a:cs typeface="Segoe UI" panose="020B0502040204020203" charset="0"/>
              </a:rPr>
              <a:t>Embedding chuẩn hóa</a:t>
            </a:r>
          </a:p>
        </p:txBody>
      </p:sp>
      <p:sp>
        <p:nvSpPr>
          <p:cNvPr id="18" name="Rectangle 17"/>
          <p:cNvSpPr/>
          <p:nvPr/>
        </p:nvSpPr>
        <p:spPr>
          <a:xfrm>
            <a:off x="584200" y="4686300"/>
            <a:ext cx="11023600" cy="1003300"/>
          </a:xfrm>
          <a:prstGeom prst="rect">
            <a:avLst/>
          </a:prstGeom>
          <a:solidFill>
            <a:srgbClr val="E4EEE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9" name="Text Box 18"/>
          <p:cNvSpPr txBox="1"/>
          <p:nvPr/>
        </p:nvSpPr>
        <p:spPr>
          <a:xfrm>
            <a:off x="800100" y="4851400"/>
            <a:ext cx="10591800" cy="276860"/>
          </a:xfrm>
          <a:prstGeom prst="rect">
            <a:avLst/>
          </a:prstGeom>
          <a:noFill/>
        </p:spPr>
        <p:txBody>
          <a:bodyPr wrap="square" lIns="0" tIns="0" rIns="0" bIns="0" rtlCol="0" anchor="t">
            <a:noAutofit/>
          </a:bodyPr>
          <a:lstStyle/>
          <a:p>
            <a:pPr indent="0">
              <a:spcAft>
                <a:spcPts val="700"/>
              </a:spcAft>
              <a:buNone/>
            </a:pPr>
            <a:r>
              <a:rPr lang="vi-VN" sz="1900">
                <a:solidFill>
                  <a:srgbClr val="172F3C"/>
                </a:solidFill>
                <a:latin typeface="Segoe UI" panose="020B0502040204020203" charset="0"/>
                <a:cs typeface="Segoe UI" panose="020B0502040204020203" charset="0"/>
              </a:rPr>
              <a:t>Cosine với template của người được khai báo  /  Score và ngưỡng riêng cho từng modality  /  Kết quả identity, reason codes và model versions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4ED"/>
        </a:solidFill>
        <a:effectLst/>
      </p:bgPr>
    </p:bg>
    <p:spTree>
      <p:nvGrpSpPr>
        <p:cNvPr id="1" name=""/>
        <p:cNvGrpSpPr/>
        <p:nvPr/>
      </p:nvGrpSpPr>
      <p:grpSpPr>
        <a:xfrm>
          <a:off x="0" y="0"/>
          <a:ext cx="0" cy="0"/>
          <a:chOff x="0" y="0"/>
          <a:chExt cx="0" cy="0"/>
        </a:xfrm>
      </p:grpSpPr>
      <p:sp>
        <p:nvSpPr>
          <p:cNvPr id="2" name="Rectangle 1"/>
          <p:cNvSpPr/>
          <p:nvPr/>
        </p:nvSpPr>
        <p:spPr>
          <a:xfrm>
            <a:off x="584200" y="317500"/>
            <a:ext cx="660400" cy="63500"/>
          </a:xfrm>
          <a:prstGeom prst="rect">
            <a:avLst/>
          </a:prstGeom>
          <a:solidFill>
            <a:srgbClr val="BB542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3" name="Text Box 2"/>
          <p:cNvSpPr txBox="1"/>
          <p:nvPr/>
        </p:nvSpPr>
        <p:spPr>
          <a:xfrm>
            <a:off x="584200" y="546100"/>
            <a:ext cx="11023600" cy="276860"/>
          </a:xfrm>
          <a:prstGeom prst="rect">
            <a:avLst/>
          </a:prstGeom>
          <a:noFill/>
        </p:spPr>
        <p:txBody>
          <a:bodyPr wrap="square" lIns="0" tIns="0" rIns="0" bIns="0" rtlCol="0" anchor="t">
            <a:noAutofit/>
          </a:bodyPr>
          <a:lstStyle/>
          <a:p>
            <a:pPr indent="0">
              <a:spcAft>
                <a:spcPts val="700"/>
              </a:spcAft>
              <a:buNone/>
            </a:pPr>
            <a:r>
              <a:rPr lang="vi-VN" sz="2800" b="1">
                <a:solidFill>
                  <a:srgbClr val="172F3C"/>
                </a:solidFill>
                <a:latin typeface="Segoe UI" panose="020B0502040204020203" charset="0"/>
                <a:cs typeface="Segoe UI" panose="020B0502040204020203" charset="0"/>
              </a:rPr>
              <a:t>SERVING, VÒNG ĐỜI MODEL VÀ MONITORING DÙNG CHUNG DỮ LIỆU CÓ KIỂM SOÁT</a:t>
            </a:r>
          </a:p>
        </p:txBody>
      </p:sp>
      <p:sp>
        <p:nvSpPr>
          <p:cNvPr id="4" name="Text Box 3"/>
          <p:cNvSpPr txBox="1"/>
          <p:nvPr/>
        </p:nvSpPr>
        <p:spPr>
          <a:xfrm>
            <a:off x="11404600" y="6477000"/>
            <a:ext cx="330200" cy="276860"/>
          </a:xfrm>
          <a:prstGeom prst="rect">
            <a:avLst/>
          </a:prstGeom>
          <a:noFill/>
        </p:spPr>
        <p:txBody>
          <a:bodyPr wrap="square" lIns="0" tIns="0" rIns="0" bIns="0" rtlCol="0" anchor="t">
            <a:noAutofit/>
          </a:bodyPr>
          <a:lstStyle/>
          <a:p>
            <a:pPr indent="0">
              <a:spcAft>
                <a:spcPts val="700"/>
              </a:spcAft>
              <a:buNone/>
            </a:pPr>
            <a:r>
              <a:rPr lang="vi-VN" sz="1000">
                <a:solidFill>
                  <a:srgbClr val="526673"/>
                </a:solidFill>
                <a:latin typeface="Segoe UI" panose="020B0502040204020203" charset="0"/>
                <a:cs typeface="Segoe UI" panose="020B0502040204020203" charset="0"/>
              </a:rPr>
              <a:t>8</a:t>
            </a:r>
          </a:p>
        </p:txBody>
      </p:sp>
      <p:sp>
        <p:nvSpPr>
          <p:cNvPr id="5" name="Text Box 4"/>
          <p:cNvSpPr txBox="1"/>
          <p:nvPr/>
        </p:nvSpPr>
        <p:spPr>
          <a:xfrm>
            <a:off x="584200" y="6121400"/>
            <a:ext cx="10541000" cy="276860"/>
          </a:xfrm>
          <a:prstGeom prst="rect">
            <a:avLst/>
          </a:prstGeom>
          <a:noFill/>
        </p:spPr>
        <p:txBody>
          <a:bodyPr wrap="square" lIns="0" tIns="0" rIns="0" bIns="0" rtlCol="0" anchor="t">
            <a:noAutofit/>
          </a:bodyPr>
          <a:lstStyle/>
          <a:p>
            <a:pPr indent="0">
              <a:spcAft>
                <a:spcPts val="700"/>
              </a:spcAft>
              <a:buNone/>
            </a:pPr>
            <a:r>
              <a:rPr lang="vi-VN" sz="1200">
                <a:solidFill>
                  <a:srgbClr val="526673"/>
                </a:solidFill>
                <a:latin typeface="Segoe UI" panose="020B0502040204020203" charset="0"/>
                <a:cs typeface="Segoe UI" panose="020B0502040204020203" charset="0"/>
              </a:rPr>
              <a:t>Docker Compose một máy. Simulation dùng DB / MLflow / volume riêng</a:t>
            </a:r>
          </a:p>
        </p:txBody>
      </p:sp>
      <p:sp>
        <p:nvSpPr>
          <p:cNvPr id="6" name="Rectangle 5"/>
          <p:cNvSpPr/>
          <p:nvPr/>
        </p:nvSpPr>
        <p:spPr>
          <a:xfrm>
            <a:off x="584200" y="2082800"/>
            <a:ext cx="2387600" cy="1536700"/>
          </a:xfrm>
          <a:prstGeom prst="rect">
            <a:avLst/>
          </a:prstGeom>
          <a:solidFill>
            <a:srgbClr val="E4EEE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7" name="Text Box 6"/>
          <p:cNvSpPr txBox="1"/>
          <p:nvPr/>
        </p:nvSpPr>
        <p:spPr>
          <a:xfrm>
            <a:off x="787400" y="2247900"/>
            <a:ext cx="1981200" cy="276860"/>
          </a:xfrm>
          <a:prstGeom prst="rect">
            <a:avLst/>
          </a:prstGeom>
          <a:noFill/>
        </p:spPr>
        <p:txBody>
          <a:bodyPr wrap="square" lIns="0" tIns="0" rIns="0" bIns="0" rtlCol="0" anchor="t">
            <a:noAutofit/>
          </a:bodyPr>
          <a:lstStyle/>
          <a:p>
            <a:pPr indent="0">
              <a:spcAft>
                <a:spcPts val="700"/>
              </a:spcAft>
              <a:buNone/>
            </a:pPr>
            <a:r>
              <a:rPr lang="vi-VN" sz="2300" b="1">
                <a:solidFill>
                  <a:srgbClr val="176E68"/>
                </a:solidFill>
                <a:latin typeface="Segoe UI" panose="020B0502040204020203" charset="0"/>
                <a:cs typeface="Segoe UI" panose="020B0502040204020203" charset="0"/>
              </a:rPr>
              <a:t>Khách hàng</a:t>
            </a:r>
          </a:p>
        </p:txBody>
      </p:sp>
      <p:sp>
        <p:nvSpPr>
          <p:cNvPr id="8" name="Text Box 7"/>
          <p:cNvSpPr txBox="1"/>
          <p:nvPr/>
        </p:nvSpPr>
        <p:spPr>
          <a:xfrm>
            <a:off x="787400" y="2755900"/>
            <a:ext cx="1981200" cy="276860"/>
          </a:xfrm>
          <a:prstGeom prst="rect">
            <a:avLst/>
          </a:prstGeom>
          <a:noFill/>
        </p:spPr>
        <p:txBody>
          <a:bodyPr wrap="square" lIns="0" tIns="0" rIns="0" bIns="0" rtlCol="0" anchor="t">
            <a:noAutofit/>
          </a:bodyPr>
          <a:lstStyle/>
          <a:p>
            <a:pPr indent="0">
              <a:spcAft>
                <a:spcPts val="700"/>
              </a:spcAft>
              <a:buNone/>
            </a:pPr>
            <a:r>
              <a:rPr lang="vi-VN">
                <a:solidFill>
                  <a:srgbClr val="172F3C"/>
                </a:solidFill>
                <a:latin typeface="Segoe UI" panose="020B0502040204020203" charset="0"/>
                <a:cs typeface="Segoe UI" panose="020B0502040204020203" charset="0"/>
              </a:rPr>
              <a:t>Phần mềm thi và portal</a:t>
            </a:r>
          </a:p>
        </p:txBody>
      </p:sp>
      <p:sp>
        <p:nvSpPr>
          <p:cNvPr id="9" name="Rectangle 8"/>
          <p:cNvSpPr/>
          <p:nvPr/>
        </p:nvSpPr>
        <p:spPr>
          <a:xfrm>
            <a:off x="3708400" y="2082800"/>
            <a:ext cx="3340100" cy="1536700"/>
          </a:xfrm>
          <a:prstGeom prst="rect">
            <a:avLst/>
          </a:prstGeom>
          <a:solidFill>
            <a:srgbClr val="E4EEE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0" name="Text Box 9"/>
          <p:cNvSpPr txBox="1"/>
          <p:nvPr/>
        </p:nvSpPr>
        <p:spPr>
          <a:xfrm>
            <a:off x="3911600" y="2247900"/>
            <a:ext cx="2933700" cy="276860"/>
          </a:xfrm>
          <a:prstGeom prst="rect">
            <a:avLst/>
          </a:prstGeom>
          <a:noFill/>
        </p:spPr>
        <p:txBody>
          <a:bodyPr wrap="square" lIns="0" tIns="0" rIns="0" bIns="0" rtlCol="0" anchor="t">
            <a:noAutofit/>
          </a:bodyPr>
          <a:lstStyle/>
          <a:p>
            <a:pPr indent="0">
              <a:spcAft>
                <a:spcPts val="700"/>
              </a:spcAft>
              <a:buNone/>
            </a:pPr>
            <a:r>
              <a:rPr lang="vi-VN" sz="2300" b="1">
                <a:solidFill>
                  <a:srgbClr val="176E68"/>
                </a:solidFill>
                <a:latin typeface="Segoe UI" panose="020B0502040204020203" charset="0"/>
                <a:cs typeface="Segoe UI" panose="020B0502040204020203" charset="0"/>
              </a:rPr>
              <a:t>Serving</a:t>
            </a:r>
          </a:p>
        </p:txBody>
      </p:sp>
      <p:sp>
        <p:nvSpPr>
          <p:cNvPr id="11" name="Text Box 10"/>
          <p:cNvSpPr txBox="1"/>
          <p:nvPr/>
        </p:nvSpPr>
        <p:spPr>
          <a:xfrm>
            <a:off x="3911600" y="2755900"/>
            <a:ext cx="2933700" cy="276860"/>
          </a:xfrm>
          <a:prstGeom prst="rect">
            <a:avLst/>
          </a:prstGeom>
          <a:noFill/>
        </p:spPr>
        <p:txBody>
          <a:bodyPr wrap="square" lIns="0" tIns="0" rIns="0" bIns="0" rtlCol="0" anchor="t">
            <a:noAutofit/>
          </a:bodyPr>
          <a:lstStyle/>
          <a:p>
            <a:pPr indent="0">
              <a:spcAft>
                <a:spcPts val="700"/>
              </a:spcAft>
              <a:buNone/>
            </a:pPr>
            <a:r>
              <a:rPr lang="vi-VN">
                <a:solidFill>
                  <a:srgbClr val="172F3C"/>
                </a:solidFill>
                <a:latin typeface="Segoe UI" panose="020B0502040204020203" charset="0"/>
                <a:cs typeface="Segoe UI" panose="020B0502040204020203" charset="0"/>
              </a:rPr>
              <a:t>FastAPI, Face / Voice, inspectors</a:t>
            </a:r>
          </a:p>
        </p:txBody>
      </p:sp>
      <p:sp>
        <p:nvSpPr>
          <p:cNvPr id="12" name="Rectangle 11"/>
          <p:cNvSpPr/>
          <p:nvPr/>
        </p:nvSpPr>
        <p:spPr>
          <a:xfrm>
            <a:off x="7924800" y="2082800"/>
            <a:ext cx="3683000" cy="1536700"/>
          </a:xfrm>
          <a:prstGeom prst="rect">
            <a:avLst/>
          </a:prstGeom>
          <a:solidFill>
            <a:srgbClr val="E4EEE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3" name="Text Box 12"/>
          <p:cNvSpPr txBox="1"/>
          <p:nvPr/>
        </p:nvSpPr>
        <p:spPr>
          <a:xfrm>
            <a:off x="8128000" y="2247900"/>
            <a:ext cx="3276600" cy="276860"/>
          </a:xfrm>
          <a:prstGeom prst="rect">
            <a:avLst/>
          </a:prstGeom>
          <a:noFill/>
        </p:spPr>
        <p:txBody>
          <a:bodyPr wrap="square" lIns="0" tIns="0" rIns="0" bIns="0" rtlCol="0" anchor="t">
            <a:noAutofit/>
          </a:bodyPr>
          <a:lstStyle/>
          <a:p>
            <a:pPr indent="0">
              <a:spcAft>
                <a:spcPts val="700"/>
              </a:spcAft>
              <a:buNone/>
            </a:pPr>
            <a:r>
              <a:rPr lang="vi-VN" sz="2300" b="1">
                <a:solidFill>
                  <a:srgbClr val="176E68"/>
                </a:solidFill>
                <a:latin typeface="Segoe UI" panose="020B0502040204020203" charset="0"/>
                <a:cs typeface="Segoe UI" panose="020B0502040204020203" charset="0"/>
              </a:rPr>
              <a:t>Lưu trữ</a:t>
            </a:r>
          </a:p>
        </p:txBody>
      </p:sp>
      <p:sp>
        <p:nvSpPr>
          <p:cNvPr id="14" name="Text Box 13"/>
          <p:cNvSpPr txBox="1"/>
          <p:nvPr/>
        </p:nvSpPr>
        <p:spPr>
          <a:xfrm>
            <a:off x="8128000" y="2755900"/>
            <a:ext cx="3276600" cy="276860"/>
          </a:xfrm>
          <a:prstGeom prst="rect">
            <a:avLst/>
          </a:prstGeom>
          <a:noFill/>
        </p:spPr>
        <p:txBody>
          <a:bodyPr wrap="square" lIns="0" tIns="0" rIns="0" bIns="0" rtlCol="0" anchor="t">
            <a:noAutofit/>
          </a:bodyPr>
          <a:lstStyle/>
          <a:p>
            <a:pPr indent="0">
              <a:spcAft>
                <a:spcPts val="700"/>
              </a:spcAft>
              <a:buNone/>
            </a:pPr>
            <a:r>
              <a:rPr lang="vi-VN">
                <a:solidFill>
                  <a:srgbClr val="172F3C"/>
                </a:solidFill>
                <a:latin typeface="Segoe UI" panose="020B0502040204020203" charset="0"/>
                <a:cs typeface="Segoe UI" panose="020B0502040204020203" charset="0"/>
              </a:rPr>
              <a:t>PostgreSQL, MinIO</a:t>
            </a:r>
          </a:p>
        </p:txBody>
      </p:sp>
      <p:sp>
        <p:nvSpPr>
          <p:cNvPr id="15" name="Rectangle 14"/>
          <p:cNvSpPr/>
          <p:nvPr/>
        </p:nvSpPr>
        <p:spPr>
          <a:xfrm>
            <a:off x="3708400" y="4292600"/>
            <a:ext cx="3340100" cy="1447800"/>
          </a:xfrm>
          <a:prstGeom prst="rect">
            <a:avLst/>
          </a:prstGeom>
          <a:solidFill>
            <a:srgbClr val="E4EEE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6" name="Text Box 15"/>
          <p:cNvSpPr txBox="1"/>
          <p:nvPr/>
        </p:nvSpPr>
        <p:spPr>
          <a:xfrm>
            <a:off x="3911600" y="4457700"/>
            <a:ext cx="2933700" cy="276860"/>
          </a:xfrm>
          <a:prstGeom prst="rect">
            <a:avLst/>
          </a:prstGeom>
          <a:noFill/>
        </p:spPr>
        <p:txBody>
          <a:bodyPr wrap="square" lIns="0" tIns="0" rIns="0" bIns="0" rtlCol="0" anchor="t">
            <a:noAutofit/>
          </a:bodyPr>
          <a:lstStyle/>
          <a:p>
            <a:pPr indent="0">
              <a:spcAft>
                <a:spcPts val="700"/>
              </a:spcAft>
              <a:buNone/>
            </a:pPr>
            <a:r>
              <a:rPr lang="vi-VN" sz="2300" b="1">
                <a:solidFill>
                  <a:srgbClr val="176E68"/>
                </a:solidFill>
                <a:latin typeface="Segoe UI" panose="020B0502040204020203" charset="0"/>
                <a:cs typeface="Segoe UI" panose="020B0502040204020203" charset="0"/>
              </a:rPr>
              <a:t>MLOps</a:t>
            </a:r>
          </a:p>
        </p:txBody>
      </p:sp>
      <p:sp>
        <p:nvSpPr>
          <p:cNvPr id="17" name="Text Box 16"/>
          <p:cNvSpPr txBox="1"/>
          <p:nvPr/>
        </p:nvSpPr>
        <p:spPr>
          <a:xfrm>
            <a:off x="3911600" y="4965700"/>
            <a:ext cx="2933700" cy="276860"/>
          </a:xfrm>
          <a:prstGeom prst="rect">
            <a:avLst/>
          </a:prstGeom>
          <a:noFill/>
        </p:spPr>
        <p:txBody>
          <a:bodyPr wrap="square" lIns="0" tIns="0" rIns="0" bIns="0" rtlCol="0" anchor="t">
            <a:noAutofit/>
          </a:bodyPr>
          <a:lstStyle/>
          <a:p>
            <a:pPr indent="0">
              <a:spcAft>
                <a:spcPts val="700"/>
              </a:spcAft>
              <a:buNone/>
            </a:pPr>
            <a:r>
              <a:rPr lang="vi-VN">
                <a:solidFill>
                  <a:srgbClr val="172F3C"/>
                </a:solidFill>
                <a:latin typeface="Segoe UI" panose="020B0502040204020203" charset="0"/>
                <a:cs typeface="Segoe UI" panose="020B0502040204020203" charset="0"/>
              </a:rPr>
              <a:t>Airflow, MLflow, lifecycle state</a:t>
            </a:r>
          </a:p>
        </p:txBody>
      </p:sp>
      <p:sp>
        <p:nvSpPr>
          <p:cNvPr id="18" name="Rectangle 17"/>
          <p:cNvSpPr/>
          <p:nvPr/>
        </p:nvSpPr>
        <p:spPr>
          <a:xfrm>
            <a:off x="7924800" y="4292600"/>
            <a:ext cx="3683000" cy="1447800"/>
          </a:xfrm>
          <a:prstGeom prst="rect">
            <a:avLst/>
          </a:prstGeom>
          <a:solidFill>
            <a:srgbClr val="E4EEE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9" name="Text Box 18"/>
          <p:cNvSpPr txBox="1"/>
          <p:nvPr/>
        </p:nvSpPr>
        <p:spPr>
          <a:xfrm>
            <a:off x="8128000" y="4457700"/>
            <a:ext cx="3276600" cy="276860"/>
          </a:xfrm>
          <a:prstGeom prst="rect">
            <a:avLst/>
          </a:prstGeom>
          <a:noFill/>
        </p:spPr>
        <p:txBody>
          <a:bodyPr wrap="square" lIns="0" tIns="0" rIns="0" bIns="0" rtlCol="0" anchor="t">
            <a:noAutofit/>
          </a:bodyPr>
          <a:lstStyle/>
          <a:p>
            <a:pPr indent="0">
              <a:spcAft>
                <a:spcPts val="700"/>
              </a:spcAft>
              <a:buNone/>
            </a:pPr>
            <a:r>
              <a:rPr lang="vi-VN" sz="2300" b="1">
                <a:solidFill>
                  <a:srgbClr val="176E68"/>
                </a:solidFill>
                <a:latin typeface="Segoe UI" panose="020B0502040204020203" charset="0"/>
                <a:cs typeface="Segoe UI" panose="020B0502040204020203" charset="0"/>
              </a:rPr>
              <a:t>Vận hành</a:t>
            </a:r>
          </a:p>
        </p:txBody>
      </p:sp>
      <p:sp>
        <p:nvSpPr>
          <p:cNvPr id="20" name="Text Box 19"/>
          <p:cNvSpPr txBox="1"/>
          <p:nvPr/>
        </p:nvSpPr>
        <p:spPr>
          <a:xfrm>
            <a:off x="8128000" y="4965700"/>
            <a:ext cx="3276600" cy="276860"/>
          </a:xfrm>
          <a:prstGeom prst="rect">
            <a:avLst/>
          </a:prstGeom>
          <a:noFill/>
        </p:spPr>
        <p:txBody>
          <a:bodyPr wrap="square" lIns="0" tIns="0" rIns="0" bIns="0" rtlCol="0" anchor="t">
            <a:noAutofit/>
          </a:bodyPr>
          <a:lstStyle/>
          <a:p>
            <a:pPr indent="0">
              <a:spcAft>
                <a:spcPts val="700"/>
              </a:spcAft>
              <a:buNone/>
            </a:pPr>
            <a:r>
              <a:rPr lang="vi-VN">
                <a:solidFill>
                  <a:srgbClr val="172F3C"/>
                </a:solidFill>
                <a:latin typeface="Segoe UI" panose="020B0502040204020203" charset="0"/>
                <a:cs typeface="Segoe UI" panose="020B0502040204020203" charset="0"/>
              </a:rPr>
              <a:t>Prometheus, Grafana, Alertmanager</a:t>
            </a:r>
          </a:p>
        </p:txBody>
      </p:sp>
      <p:cxnSp>
        <p:nvCxnSpPr>
          <p:cNvPr id="21" name="Straight Connector 20"/>
          <p:cNvCxnSpPr/>
          <p:nvPr/>
        </p:nvCxnSpPr>
        <p:spPr>
          <a:xfrm>
            <a:off x="2971800" y="2768600"/>
            <a:ext cx="647700" cy="635"/>
          </a:xfrm>
          <a:prstGeom prst="line">
            <a:avLst/>
          </a:prstGeom>
          <a:ln w="25400">
            <a:solidFill>
              <a:srgbClr val="176E68"/>
            </a:solidFill>
            <a:tailEnd type="arrow"/>
          </a:ln>
        </p:spPr>
        <p:style>
          <a:lnRef idx="2">
            <a:schemeClr val="accent1"/>
          </a:lnRef>
          <a:fillRef idx="0">
            <a:srgbClr val="FFFFFF"/>
          </a:fillRef>
          <a:effectRef idx="0">
            <a:srgbClr val="FFFFFF"/>
          </a:effectRef>
          <a:fontRef idx="minor">
            <a:schemeClr val="tx1"/>
          </a:fontRef>
        </p:style>
      </p:cxnSp>
      <p:cxnSp>
        <p:nvCxnSpPr>
          <p:cNvPr id="22" name="Straight Connector 21"/>
          <p:cNvCxnSpPr/>
          <p:nvPr/>
        </p:nvCxnSpPr>
        <p:spPr>
          <a:xfrm>
            <a:off x="7048500" y="2768600"/>
            <a:ext cx="787400" cy="635"/>
          </a:xfrm>
          <a:prstGeom prst="line">
            <a:avLst/>
          </a:prstGeom>
          <a:ln w="25400">
            <a:solidFill>
              <a:srgbClr val="176E68"/>
            </a:solidFill>
            <a:tailEnd type="arrow"/>
          </a:ln>
        </p:spPr>
        <p:style>
          <a:lnRef idx="2">
            <a:schemeClr val="accent1"/>
          </a:lnRef>
          <a:fillRef idx="0">
            <a:srgbClr val="FFFFFF"/>
          </a:fillRef>
          <a:effectRef idx="0">
            <a:srgbClr val="FFFFFF"/>
          </a:effectRef>
          <a:fontRef idx="minor">
            <a:schemeClr val="tx1"/>
          </a:fontRef>
        </p:style>
      </p:cxnSp>
      <p:cxnSp>
        <p:nvCxnSpPr>
          <p:cNvPr id="23" name="Straight Connector 22"/>
          <p:cNvCxnSpPr/>
          <p:nvPr/>
        </p:nvCxnSpPr>
        <p:spPr>
          <a:xfrm>
            <a:off x="9766300" y="3619500"/>
            <a:ext cx="635" cy="584200"/>
          </a:xfrm>
          <a:prstGeom prst="line">
            <a:avLst/>
          </a:prstGeom>
          <a:ln w="25400">
            <a:solidFill>
              <a:srgbClr val="176E68"/>
            </a:solidFill>
            <a:tailEnd type="arrow"/>
          </a:ln>
        </p:spPr>
        <p:style>
          <a:lnRef idx="2">
            <a:schemeClr val="accent1"/>
          </a:lnRef>
          <a:fillRef idx="0">
            <a:srgbClr val="FFFFFF"/>
          </a:fillRef>
          <a:effectRef idx="0">
            <a:srgbClr val="FFFFFF"/>
          </a:effectRef>
          <a:fontRef idx="minor">
            <a:schemeClr val="tx1"/>
          </a:fontRef>
        </p:style>
      </p:cxnSp>
      <p:cxnSp>
        <p:nvCxnSpPr>
          <p:cNvPr id="24" name="Straight Connector 23"/>
          <p:cNvCxnSpPr/>
          <p:nvPr/>
        </p:nvCxnSpPr>
        <p:spPr>
          <a:xfrm>
            <a:off x="9042400" y="3619500"/>
            <a:ext cx="635" cy="317500"/>
          </a:xfrm>
          <a:prstGeom prst="line">
            <a:avLst/>
          </a:prstGeom>
          <a:ln w="25400">
            <a:solidFill>
              <a:srgbClr val="176E68"/>
            </a:solidFill>
          </a:ln>
        </p:spPr>
        <p:style>
          <a:lnRef idx="2">
            <a:schemeClr val="accent1"/>
          </a:lnRef>
          <a:fillRef idx="0">
            <a:srgbClr val="FFFFFF"/>
          </a:fillRef>
          <a:effectRef idx="0">
            <a:srgbClr val="FFFFFF"/>
          </a:effectRef>
          <a:fontRef idx="minor">
            <a:schemeClr val="tx1"/>
          </a:fontRef>
        </p:style>
      </p:cxnSp>
      <p:cxnSp>
        <p:nvCxnSpPr>
          <p:cNvPr id="25" name="Straight Connector 24"/>
          <p:cNvCxnSpPr/>
          <p:nvPr/>
        </p:nvCxnSpPr>
        <p:spPr>
          <a:xfrm>
            <a:off x="5384800" y="3937000"/>
            <a:ext cx="3657600" cy="635"/>
          </a:xfrm>
          <a:prstGeom prst="line">
            <a:avLst/>
          </a:prstGeom>
          <a:ln w="25400">
            <a:solidFill>
              <a:srgbClr val="176E68"/>
            </a:solidFill>
          </a:ln>
        </p:spPr>
        <p:style>
          <a:lnRef idx="2">
            <a:schemeClr val="accent1"/>
          </a:lnRef>
          <a:fillRef idx="0">
            <a:srgbClr val="FFFFFF"/>
          </a:fillRef>
          <a:effectRef idx="0">
            <a:srgbClr val="FFFFFF"/>
          </a:effectRef>
          <a:fontRef idx="minor">
            <a:schemeClr val="tx1"/>
          </a:fontRef>
        </p:style>
      </p:cxnSp>
      <p:cxnSp>
        <p:nvCxnSpPr>
          <p:cNvPr id="26" name="Straight Connector 25"/>
          <p:cNvCxnSpPr/>
          <p:nvPr/>
        </p:nvCxnSpPr>
        <p:spPr>
          <a:xfrm>
            <a:off x="5384800" y="3937000"/>
            <a:ext cx="635" cy="266700"/>
          </a:xfrm>
          <a:prstGeom prst="line">
            <a:avLst/>
          </a:prstGeom>
          <a:ln w="25400">
            <a:solidFill>
              <a:srgbClr val="176E68"/>
            </a:solidFill>
            <a:tailEnd type="arrow"/>
          </a:ln>
        </p:spPr>
        <p:style>
          <a:lnRef idx="2">
            <a:schemeClr val="accent1"/>
          </a:lnRef>
          <a:fillRef idx="0">
            <a:srgbClr val="FFFFFF"/>
          </a:fillRef>
          <a:effectRef idx="0">
            <a:srgbClr val="FFFFFF"/>
          </a:effectRef>
          <a:fontRef idx="minor">
            <a:schemeClr val="tx1"/>
          </a:fontRef>
        </p:style>
      </p:cxnSp>
      <p:cxnSp>
        <p:nvCxnSpPr>
          <p:cNvPr id="27" name="Straight Connector 26"/>
          <p:cNvCxnSpPr/>
          <p:nvPr/>
        </p:nvCxnSpPr>
        <p:spPr>
          <a:xfrm>
            <a:off x="7048500" y="5029200"/>
            <a:ext cx="787400" cy="635"/>
          </a:xfrm>
          <a:prstGeom prst="line">
            <a:avLst/>
          </a:prstGeom>
          <a:ln w="25400">
            <a:solidFill>
              <a:srgbClr val="176E68"/>
            </a:solidFill>
            <a:tailEnd type="arrow"/>
          </a:ln>
        </p:spPr>
        <p:style>
          <a:lnRef idx="2">
            <a:schemeClr val="accent1"/>
          </a:lnRef>
          <a:fillRef idx="0">
            <a:srgbClr val="FFFFFF"/>
          </a:fillRef>
          <a:effectRef idx="0">
            <a:srgbClr val="FFFFFF"/>
          </a:effectRef>
          <a:fontRef idx="minor">
            <a:schemeClr val="tx1"/>
          </a:fontRef>
        </p:style>
      </p:cxnSp>
      <p:sp>
        <p:nvSpPr>
          <p:cNvPr id="28" name="Text Box 27"/>
          <p:cNvSpPr txBox="1"/>
          <p:nvPr/>
        </p:nvSpPr>
        <p:spPr>
          <a:xfrm>
            <a:off x="584200" y="4445000"/>
            <a:ext cx="2616200" cy="276860"/>
          </a:xfrm>
          <a:prstGeom prst="rect">
            <a:avLst/>
          </a:prstGeom>
          <a:noFill/>
        </p:spPr>
        <p:txBody>
          <a:bodyPr wrap="square" lIns="0" tIns="0" rIns="0" bIns="0" rtlCol="0" anchor="t">
            <a:noAutofit/>
          </a:bodyPr>
          <a:lstStyle/>
          <a:p>
            <a:pPr indent="0">
              <a:spcAft>
                <a:spcPts val="700"/>
              </a:spcAft>
              <a:buNone/>
            </a:pPr>
            <a:r>
              <a:rPr lang="vi-VN" sz="2200" b="1">
                <a:solidFill>
                  <a:srgbClr val="BB542A"/>
                </a:solidFill>
                <a:latin typeface="Segoe UI" panose="020B0502040204020203" charset="0"/>
                <a:cs typeface="Segoe UI" panose="020B0502040204020203" charset="0"/>
              </a:rPr>
              <a:t>Policy state bền vững và audit từng bước</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4ED"/>
        </a:solidFill>
        <a:effectLst/>
      </p:bgPr>
    </p:bg>
    <p:spTree>
      <p:nvGrpSpPr>
        <p:cNvPr id="1" name=""/>
        <p:cNvGrpSpPr/>
        <p:nvPr/>
      </p:nvGrpSpPr>
      <p:grpSpPr>
        <a:xfrm>
          <a:off x="0" y="0"/>
          <a:ext cx="0" cy="0"/>
          <a:chOff x="0" y="0"/>
          <a:chExt cx="0" cy="0"/>
        </a:xfrm>
      </p:grpSpPr>
      <p:sp>
        <p:nvSpPr>
          <p:cNvPr id="2" name="Rectangle 1"/>
          <p:cNvSpPr/>
          <p:nvPr/>
        </p:nvSpPr>
        <p:spPr>
          <a:xfrm>
            <a:off x="584200" y="317500"/>
            <a:ext cx="660400" cy="63500"/>
          </a:xfrm>
          <a:prstGeom prst="rect">
            <a:avLst/>
          </a:prstGeom>
          <a:solidFill>
            <a:srgbClr val="BB542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3" name="Text Box 2"/>
          <p:cNvSpPr txBox="1"/>
          <p:nvPr/>
        </p:nvSpPr>
        <p:spPr>
          <a:xfrm>
            <a:off x="584200" y="546100"/>
            <a:ext cx="11023600" cy="276860"/>
          </a:xfrm>
          <a:prstGeom prst="rect">
            <a:avLst/>
          </a:prstGeom>
          <a:noFill/>
        </p:spPr>
        <p:txBody>
          <a:bodyPr wrap="square" lIns="0" tIns="0" rIns="0" bIns="0" rtlCol="0" anchor="t">
            <a:noAutofit/>
          </a:bodyPr>
          <a:lstStyle/>
          <a:p>
            <a:pPr indent="0">
              <a:spcAft>
                <a:spcPts val="700"/>
              </a:spcAft>
              <a:buNone/>
            </a:pPr>
            <a:r>
              <a:rPr lang="vi-VN" sz="2800" b="1">
                <a:solidFill>
                  <a:srgbClr val="172F3C"/>
                </a:solidFill>
                <a:latin typeface="Segoe UI" panose="020B0502040204020203" charset="0"/>
                <a:cs typeface="Segoe UI" panose="020B0502040204020203" charset="0"/>
              </a:rPr>
              <a:t>LƯU ĐÚNG BẰNG CHỨNG VÀ GIỚI HẠN QUYỀN TRUY CẬP</a:t>
            </a:r>
          </a:p>
        </p:txBody>
      </p:sp>
      <p:sp>
        <p:nvSpPr>
          <p:cNvPr id="4" name="Text Box 3"/>
          <p:cNvSpPr txBox="1"/>
          <p:nvPr/>
        </p:nvSpPr>
        <p:spPr>
          <a:xfrm>
            <a:off x="11404600" y="6477000"/>
            <a:ext cx="330200" cy="276860"/>
          </a:xfrm>
          <a:prstGeom prst="rect">
            <a:avLst/>
          </a:prstGeom>
          <a:noFill/>
        </p:spPr>
        <p:txBody>
          <a:bodyPr wrap="square" lIns="0" tIns="0" rIns="0" bIns="0" rtlCol="0" anchor="t">
            <a:noAutofit/>
          </a:bodyPr>
          <a:lstStyle/>
          <a:p>
            <a:pPr indent="0">
              <a:spcAft>
                <a:spcPts val="700"/>
              </a:spcAft>
              <a:buNone/>
            </a:pPr>
            <a:r>
              <a:rPr lang="vi-VN" sz="1000">
                <a:solidFill>
                  <a:srgbClr val="526673"/>
                </a:solidFill>
                <a:latin typeface="Segoe UI" panose="020B0502040204020203" charset="0"/>
                <a:cs typeface="Segoe UI" panose="020B0502040204020203" charset="0"/>
              </a:rPr>
              <a:t>9</a:t>
            </a:r>
          </a:p>
        </p:txBody>
      </p:sp>
      <p:sp>
        <p:nvSpPr>
          <p:cNvPr id="5" name="Text Box 4"/>
          <p:cNvSpPr txBox="1"/>
          <p:nvPr/>
        </p:nvSpPr>
        <p:spPr>
          <a:xfrm>
            <a:off x="584200" y="6121400"/>
            <a:ext cx="10541000" cy="276860"/>
          </a:xfrm>
          <a:prstGeom prst="rect">
            <a:avLst/>
          </a:prstGeom>
          <a:noFill/>
        </p:spPr>
        <p:txBody>
          <a:bodyPr wrap="square" lIns="0" tIns="0" rIns="0" bIns="0" rtlCol="0" anchor="t">
            <a:noAutofit/>
          </a:bodyPr>
          <a:lstStyle/>
          <a:p>
            <a:pPr indent="0">
              <a:spcAft>
                <a:spcPts val="700"/>
              </a:spcAft>
              <a:buNone/>
            </a:pPr>
            <a:r>
              <a:rPr lang="vi-VN" sz="1200">
                <a:solidFill>
                  <a:srgbClr val="526673"/>
                </a:solidFill>
                <a:latin typeface="Segoe UI" panose="020B0502040204020203" charset="0"/>
                <a:cs typeface="Segoe UI" panose="020B0502040204020203" charset="0"/>
              </a:rPr>
              <a:t>Raw enrollment không giữ mặc định. Query embedding retention tắt mặc định</a:t>
            </a:r>
          </a:p>
        </p:txBody>
      </p:sp>
      <p:cxnSp>
        <p:nvCxnSpPr>
          <p:cNvPr id="6" name="Straight Connector 5"/>
          <p:cNvCxnSpPr/>
          <p:nvPr/>
        </p:nvCxnSpPr>
        <p:spPr>
          <a:xfrm>
            <a:off x="6057900" y="2006600"/>
            <a:ext cx="635" cy="3619500"/>
          </a:xfrm>
          <a:prstGeom prst="line">
            <a:avLst/>
          </a:prstGeom>
          <a:ln>
            <a:solidFill>
              <a:srgbClr val="CCD6D1"/>
            </a:solidFill>
          </a:ln>
        </p:spPr>
        <p:style>
          <a:lnRef idx="2">
            <a:schemeClr val="accent1"/>
          </a:lnRef>
          <a:fillRef idx="0">
            <a:srgbClr val="FFFFFF"/>
          </a:fillRef>
          <a:effectRef idx="0">
            <a:srgbClr val="FFFFFF"/>
          </a:effectRef>
          <a:fontRef idx="minor">
            <a:schemeClr val="tx1"/>
          </a:fontRef>
        </p:style>
      </p:cxnSp>
      <p:sp>
        <p:nvSpPr>
          <p:cNvPr id="7" name="Text Box 6"/>
          <p:cNvSpPr txBox="1"/>
          <p:nvPr/>
        </p:nvSpPr>
        <p:spPr>
          <a:xfrm>
            <a:off x="584200" y="2146300"/>
            <a:ext cx="5067300" cy="276860"/>
          </a:xfrm>
          <a:prstGeom prst="rect">
            <a:avLst/>
          </a:prstGeom>
          <a:noFill/>
        </p:spPr>
        <p:txBody>
          <a:bodyPr wrap="square" lIns="0" tIns="0" rIns="0" bIns="0" rtlCol="0" anchor="t">
            <a:noAutofit/>
          </a:bodyPr>
          <a:lstStyle/>
          <a:p>
            <a:pPr indent="0">
              <a:spcAft>
                <a:spcPts val="700"/>
              </a:spcAft>
              <a:buNone/>
            </a:pPr>
            <a:r>
              <a:rPr lang="vi-VN" sz="2800" b="1">
                <a:solidFill>
                  <a:srgbClr val="176E68"/>
                </a:solidFill>
                <a:latin typeface="Segoe UI" panose="020B0502040204020203" charset="0"/>
                <a:cs typeface="Segoe UI" panose="020B0502040204020203" charset="0"/>
              </a:rPr>
              <a:t>PostgreSQL</a:t>
            </a:r>
          </a:p>
        </p:txBody>
      </p:sp>
      <p:sp>
        <p:nvSpPr>
          <p:cNvPr id="8" name="Text Box 7"/>
          <p:cNvSpPr txBox="1"/>
          <p:nvPr/>
        </p:nvSpPr>
        <p:spPr>
          <a:xfrm>
            <a:off x="584200" y="3225800"/>
            <a:ext cx="4991100" cy="276860"/>
          </a:xfrm>
          <a:prstGeom prst="rect">
            <a:avLst/>
          </a:prstGeom>
          <a:noFill/>
        </p:spPr>
        <p:txBody>
          <a:bodyPr wrap="square" lIns="0" tIns="0" rIns="0" bIns="0" rtlCol="0" anchor="t">
            <a:noAutofit/>
          </a:bodyPr>
          <a:lstStyle/>
          <a:p>
            <a:pPr indent="0">
              <a:spcAft>
                <a:spcPts val="700"/>
              </a:spcAft>
              <a:buNone/>
            </a:pPr>
            <a:r>
              <a:rPr lang="vi-VN" sz="2500">
                <a:solidFill>
                  <a:srgbClr val="172F3C"/>
                </a:solidFill>
                <a:latin typeface="Segoe UI" panose="020B0502040204020203" charset="0"/>
                <a:cs typeface="Segoe UI" panose="020B0502040204020203" charset="0"/>
              </a:rPr>
              <a:t>Embedding JSON và template versions
Checks, reviewed labels, lifecycle audit
Không có vector database riêng</a:t>
            </a:r>
          </a:p>
        </p:txBody>
      </p:sp>
      <p:sp>
        <p:nvSpPr>
          <p:cNvPr id="9" name="Text Box 8"/>
          <p:cNvSpPr txBox="1"/>
          <p:nvPr/>
        </p:nvSpPr>
        <p:spPr>
          <a:xfrm>
            <a:off x="6464300" y="2146300"/>
            <a:ext cx="5067300" cy="276860"/>
          </a:xfrm>
          <a:prstGeom prst="rect">
            <a:avLst/>
          </a:prstGeom>
          <a:noFill/>
        </p:spPr>
        <p:txBody>
          <a:bodyPr wrap="square" lIns="0" tIns="0" rIns="0" bIns="0" rtlCol="0" anchor="t">
            <a:noAutofit/>
          </a:bodyPr>
          <a:lstStyle/>
          <a:p>
            <a:pPr indent="0">
              <a:spcAft>
                <a:spcPts val="700"/>
              </a:spcAft>
              <a:buNone/>
            </a:pPr>
            <a:r>
              <a:rPr lang="vi-VN" sz="2800" b="1">
                <a:solidFill>
                  <a:srgbClr val="176E68"/>
                </a:solidFill>
                <a:latin typeface="Segoe UI" panose="020B0502040204020203" charset="0"/>
                <a:cs typeface="Segoe UI" panose="020B0502040204020203" charset="0"/>
              </a:rPr>
              <a:t>MinIO</a:t>
            </a:r>
          </a:p>
        </p:txBody>
      </p:sp>
      <p:sp>
        <p:nvSpPr>
          <p:cNvPr id="10" name="Text Box 9"/>
          <p:cNvSpPr txBox="1"/>
          <p:nvPr/>
        </p:nvSpPr>
        <p:spPr>
          <a:xfrm>
            <a:off x="6464300" y="3225800"/>
            <a:ext cx="4991100" cy="276860"/>
          </a:xfrm>
          <a:prstGeom prst="rect">
            <a:avLst/>
          </a:prstGeom>
          <a:noFill/>
        </p:spPr>
        <p:txBody>
          <a:bodyPr wrap="square" lIns="0" tIns="0" rIns="0" bIns="0" rtlCol="0" anchor="t">
            <a:noAutofit/>
          </a:bodyPr>
          <a:lstStyle/>
          <a:p>
            <a:pPr indent="0">
              <a:spcAft>
                <a:spcPts val="700"/>
              </a:spcAft>
              <a:buNone/>
            </a:pPr>
            <a:r>
              <a:rPr lang="vi-VN" sz="2500">
                <a:solidFill>
                  <a:srgbClr val="172F3C"/>
                </a:solidFill>
                <a:latin typeface="Segoe UI" panose="020B0502040204020203" charset="0"/>
                <a:cs typeface="Segoe UI" panose="020B0502040204020203" charset="0"/>
              </a:rPr>
              <a:t>Media nghi vấn
MLflow artifacts và dataset snapshots
Download qua API có xác thực</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4ED"/>
        </a:solidFill>
        <a:effectLst/>
      </p:bgPr>
    </p:bg>
    <p:spTree>
      <p:nvGrpSpPr>
        <p:cNvPr id="1" name=""/>
        <p:cNvGrpSpPr/>
        <p:nvPr/>
      </p:nvGrpSpPr>
      <p:grpSpPr>
        <a:xfrm>
          <a:off x="0" y="0"/>
          <a:ext cx="0" cy="0"/>
          <a:chOff x="0" y="0"/>
          <a:chExt cx="0" cy="0"/>
        </a:xfrm>
      </p:grpSpPr>
      <p:sp>
        <p:nvSpPr>
          <p:cNvPr id="2" name="Rectangle 1"/>
          <p:cNvSpPr/>
          <p:nvPr/>
        </p:nvSpPr>
        <p:spPr>
          <a:xfrm>
            <a:off x="584200" y="317500"/>
            <a:ext cx="660400" cy="63500"/>
          </a:xfrm>
          <a:prstGeom prst="rect">
            <a:avLst/>
          </a:prstGeom>
          <a:solidFill>
            <a:srgbClr val="BB542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3" name="Text Box 2"/>
          <p:cNvSpPr txBox="1"/>
          <p:nvPr/>
        </p:nvSpPr>
        <p:spPr>
          <a:xfrm>
            <a:off x="584200" y="546100"/>
            <a:ext cx="11023600" cy="276860"/>
          </a:xfrm>
          <a:prstGeom prst="rect">
            <a:avLst/>
          </a:prstGeom>
          <a:noFill/>
        </p:spPr>
        <p:txBody>
          <a:bodyPr wrap="square" lIns="0" tIns="0" rIns="0" bIns="0" rtlCol="0" anchor="t">
            <a:noAutofit/>
          </a:bodyPr>
          <a:lstStyle/>
          <a:p>
            <a:pPr indent="0">
              <a:spcAft>
                <a:spcPts val="700"/>
              </a:spcAft>
              <a:buNone/>
            </a:pPr>
            <a:r>
              <a:rPr lang="vi-VN" sz="2800" b="1">
                <a:solidFill>
                  <a:srgbClr val="172F3C"/>
                </a:solidFill>
                <a:latin typeface="Segoe UI" panose="020B0502040204020203" charset="0"/>
                <a:cs typeface="Segoe UI" panose="020B0502040204020203" charset="0"/>
              </a:rPr>
              <a:t>SCORE GIẢM CÓ THỂ ĐẾN TỪ NHIỀU NGUYÊN NHÂN</a:t>
            </a:r>
          </a:p>
        </p:txBody>
      </p:sp>
      <p:sp>
        <p:nvSpPr>
          <p:cNvPr id="4" name="Text Box 3"/>
          <p:cNvSpPr txBox="1"/>
          <p:nvPr/>
        </p:nvSpPr>
        <p:spPr>
          <a:xfrm>
            <a:off x="11404600" y="6477000"/>
            <a:ext cx="330200" cy="276860"/>
          </a:xfrm>
          <a:prstGeom prst="rect">
            <a:avLst/>
          </a:prstGeom>
          <a:noFill/>
        </p:spPr>
        <p:txBody>
          <a:bodyPr wrap="square" lIns="0" tIns="0" rIns="0" bIns="0" rtlCol="0" anchor="t">
            <a:noAutofit/>
          </a:bodyPr>
          <a:lstStyle/>
          <a:p>
            <a:pPr indent="0">
              <a:spcAft>
                <a:spcPts val="700"/>
              </a:spcAft>
              <a:buNone/>
            </a:pPr>
            <a:r>
              <a:rPr lang="vi-VN" sz="1000">
                <a:solidFill>
                  <a:srgbClr val="526673"/>
                </a:solidFill>
                <a:latin typeface="Segoe UI" panose="020B0502040204020203" charset="0"/>
                <a:cs typeface="Segoe UI" panose="020B0502040204020203" charset="0"/>
              </a:rPr>
              <a:t>10</a:t>
            </a:r>
          </a:p>
        </p:txBody>
      </p:sp>
      <p:sp>
        <p:nvSpPr>
          <p:cNvPr id="5" name="Text Box 4"/>
          <p:cNvSpPr txBox="1"/>
          <p:nvPr/>
        </p:nvSpPr>
        <p:spPr>
          <a:xfrm>
            <a:off x="584200" y="6121400"/>
            <a:ext cx="10541000" cy="276860"/>
          </a:xfrm>
          <a:prstGeom prst="rect">
            <a:avLst/>
          </a:prstGeom>
          <a:noFill/>
        </p:spPr>
        <p:txBody>
          <a:bodyPr wrap="square" lIns="0" tIns="0" rIns="0" bIns="0" rtlCol="0" anchor="t">
            <a:noAutofit/>
          </a:bodyPr>
          <a:lstStyle/>
          <a:p>
            <a:pPr indent="0">
              <a:spcAft>
                <a:spcPts val="700"/>
              </a:spcAft>
              <a:buNone/>
            </a:pPr>
            <a:r>
              <a:rPr lang="vi-VN" sz="1200">
                <a:solidFill>
                  <a:srgbClr val="526673"/>
                </a:solidFill>
                <a:latin typeface="Segoe UI" panose="020B0502040204020203" charset="0"/>
                <a:cs typeface="Segoe UI" panose="020B0502040204020203" charset="0"/>
              </a:rPr>
              <a:t>Drift thống kê là bằng chứng đầu vào. Quyết định hành động cần thêm performance và cohort</a:t>
            </a:r>
          </a:p>
        </p:txBody>
      </p:sp>
      <p:sp>
        <p:nvSpPr>
          <p:cNvPr id="6" name="Text Box 5"/>
          <p:cNvSpPr txBox="1"/>
          <p:nvPr/>
        </p:nvSpPr>
        <p:spPr>
          <a:xfrm>
            <a:off x="584200" y="1993900"/>
            <a:ext cx="3365500" cy="276860"/>
          </a:xfrm>
          <a:prstGeom prst="rect">
            <a:avLst/>
          </a:prstGeom>
          <a:noFill/>
        </p:spPr>
        <p:txBody>
          <a:bodyPr wrap="square" lIns="0" tIns="0" rIns="0" bIns="0" rtlCol="0" anchor="t">
            <a:noAutofit/>
          </a:bodyPr>
          <a:lstStyle/>
          <a:p>
            <a:pPr indent="0">
              <a:spcAft>
                <a:spcPts val="700"/>
              </a:spcAft>
              <a:buNone/>
            </a:pPr>
            <a:r>
              <a:rPr lang="vi-VN" sz="3800" b="1">
                <a:solidFill>
                  <a:srgbClr val="BB542A"/>
                </a:solidFill>
                <a:latin typeface="Segoe UI" panose="020B0502040204020203" charset="0"/>
                <a:cs typeface="Segoe UI" panose="020B0502040204020203" charset="0"/>
              </a:rPr>
              <a:t>01</a:t>
            </a:r>
          </a:p>
        </p:txBody>
      </p:sp>
      <p:sp>
        <p:nvSpPr>
          <p:cNvPr id="7" name="Text Box 6"/>
          <p:cNvSpPr txBox="1"/>
          <p:nvPr/>
        </p:nvSpPr>
        <p:spPr>
          <a:xfrm>
            <a:off x="584200" y="2870200"/>
            <a:ext cx="3365500" cy="276860"/>
          </a:xfrm>
          <a:prstGeom prst="rect">
            <a:avLst/>
          </a:prstGeom>
          <a:noFill/>
        </p:spPr>
        <p:txBody>
          <a:bodyPr wrap="square" lIns="0" tIns="0" rIns="0" bIns="0" rtlCol="0" anchor="t">
            <a:noAutofit/>
          </a:bodyPr>
          <a:lstStyle/>
          <a:p>
            <a:pPr indent="0">
              <a:spcAft>
                <a:spcPts val="700"/>
              </a:spcAft>
              <a:buNone/>
            </a:pPr>
            <a:r>
              <a:rPr lang="vi-VN" sz="2600" b="1">
                <a:solidFill>
                  <a:srgbClr val="176E68"/>
                </a:solidFill>
                <a:latin typeface="Segoe UI" panose="020B0502040204020203" charset="0"/>
                <a:cs typeface="Segoe UI" panose="020B0502040204020203" charset="0"/>
              </a:rPr>
              <a:t>Capture thay đổi</a:t>
            </a:r>
          </a:p>
        </p:txBody>
      </p:sp>
      <p:sp>
        <p:nvSpPr>
          <p:cNvPr id="8" name="Text Box 7"/>
          <p:cNvSpPr txBox="1"/>
          <p:nvPr/>
        </p:nvSpPr>
        <p:spPr>
          <a:xfrm>
            <a:off x="584200" y="4140200"/>
            <a:ext cx="3365500" cy="276860"/>
          </a:xfrm>
          <a:prstGeom prst="rect">
            <a:avLst/>
          </a:prstGeom>
          <a:noFill/>
        </p:spPr>
        <p:txBody>
          <a:bodyPr wrap="square" lIns="0" tIns="0" rIns="0" bIns="0" rtlCol="0" anchor="t">
            <a:noAutofit/>
          </a:bodyPr>
          <a:lstStyle/>
          <a:p>
            <a:pPr indent="0">
              <a:spcAft>
                <a:spcPts val="700"/>
              </a:spcAft>
              <a:buNone/>
            </a:pPr>
            <a:r>
              <a:rPr lang="vi-VN" sz="2300">
                <a:solidFill>
                  <a:srgbClr val="172F3C"/>
                </a:solidFill>
                <a:latin typeface="Segoe UI" panose="020B0502040204020203" charset="0"/>
                <a:cs typeface="Segoe UI" panose="020B0502040204020203" charset="0"/>
              </a:rPr>
              <a:t>Camera tối hơn, mic khác, nhiều khoảng lặng</a:t>
            </a:r>
          </a:p>
        </p:txBody>
      </p:sp>
      <p:sp>
        <p:nvSpPr>
          <p:cNvPr id="9" name="Text Box 8"/>
          <p:cNvSpPr txBox="1"/>
          <p:nvPr/>
        </p:nvSpPr>
        <p:spPr>
          <a:xfrm>
            <a:off x="4381500" y="1993900"/>
            <a:ext cx="3365500" cy="276860"/>
          </a:xfrm>
          <a:prstGeom prst="rect">
            <a:avLst/>
          </a:prstGeom>
          <a:noFill/>
        </p:spPr>
        <p:txBody>
          <a:bodyPr wrap="square" lIns="0" tIns="0" rIns="0" bIns="0" rtlCol="0" anchor="t">
            <a:noAutofit/>
          </a:bodyPr>
          <a:lstStyle/>
          <a:p>
            <a:pPr indent="0">
              <a:spcAft>
                <a:spcPts val="700"/>
              </a:spcAft>
              <a:buNone/>
            </a:pPr>
            <a:r>
              <a:rPr lang="vi-VN" sz="3800" b="1">
                <a:solidFill>
                  <a:srgbClr val="BB542A"/>
                </a:solidFill>
                <a:latin typeface="Segoe UI" panose="020B0502040204020203" charset="0"/>
                <a:cs typeface="Segoe UI" panose="020B0502040204020203" charset="0"/>
              </a:rPr>
              <a:t>02</a:t>
            </a:r>
          </a:p>
        </p:txBody>
      </p:sp>
      <p:sp>
        <p:nvSpPr>
          <p:cNvPr id="10" name="Text Box 9"/>
          <p:cNvSpPr txBox="1"/>
          <p:nvPr/>
        </p:nvSpPr>
        <p:spPr>
          <a:xfrm>
            <a:off x="4381500" y="2870200"/>
            <a:ext cx="3365500" cy="276860"/>
          </a:xfrm>
          <a:prstGeom prst="rect">
            <a:avLst/>
          </a:prstGeom>
          <a:noFill/>
        </p:spPr>
        <p:txBody>
          <a:bodyPr wrap="square" lIns="0" tIns="0" rIns="0" bIns="0" rtlCol="0" anchor="t">
            <a:noAutofit/>
          </a:bodyPr>
          <a:lstStyle/>
          <a:p>
            <a:pPr indent="0">
              <a:spcAft>
                <a:spcPts val="700"/>
              </a:spcAft>
              <a:buNone/>
            </a:pPr>
            <a:r>
              <a:rPr lang="vi-VN" sz="2600" b="1">
                <a:solidFill>
                  <a:srgbClr val="176E68"/>
                </a:solidFill>
                <a:latin typeface="Segoe UI" panose="020B0502040204020203" charset="0"/>
                <a:cs typeface="Segoe UI" panose="020B0502040204020203" charset="0"/>
              </a:rPr>
              <a:t>Template đã cũ</a:t>
            </a:r>
          </a:p>
        </p:txBody>
      </p:sp>
      <p:sp>
        <p:nvSpPr>
          <p:cNvPr id="11" name="Text Box 10"/>
          <p:cNvSpPr txBox="1"/>
          <p:nvPr/>
        </p:nvSpPr>
        <p:spPr>
          <a:xfrm>
            <a:off x="4381500" y="4140200"/>
            <a:ext cx="3365500" cy="276860"/>
          </a:xfrm>
          <a:prstGeom prst="rect">
            <a:avLst/>
          </a:prstGeom>
          <a:noFill/>
        </p:spPr>
        <p:txBody>
          <a:bodyPr wrap="square" lIns="0" tIns="0" rIns="0" bIns="0" rtlCol="0" anchor="t">
            <a:noAutofit/>
          </a:bodyPr>
          <a:lstStyle/>
          <a:p>
            <a:pPr indent="0">
              <a:spcAft>
                <a:spcPts val="700"/>
              </a:spcAft>
              <a:buNone/>
            </a:pPr>
            <a:r>
              <a:rPr lang="vi-VN" sz="2300">
                <a:solidFill>
                  <a:srgbClr val="172F3C"/>
                </a:solidFill>
                <a:latin typeface="Segoe UI" panose="020B0502040204020203" charset="0"/>
                <a:cs typeface="Segoe UI" panose="020B0502040204020203" charset="0"/>
              </a:rPr>
              <a:t>Mẫu ghi danh không còn đại diện tốt</a:t>
            </a:r>
          </a:p>
        </p:txBody>
      </p:sp>
      <p:sp>
        <p:nvSpPr>
          <p:cNvPr id="12" name="Text Box 11"/>
          <p:cNvSpPr txBox="1"/>
          <p:nvPr/>
        </p:nvSpPr>
        <p:spPr>
          <a:xfrm>
            <a:off x="8178800" y="1993900"/>
            <a:ext cx="3365500" cy="276860"/>
          </a:xfrm>
          <a:prstGeom prst="rect">
            <a:avLst/>
          </a:prstGeom>
          <a:noFill/>
        </p:spPr>
        <p:txBody>
          <a:bodyPr wrap="square" lIns="0" tIns="0" rIns="0" bIns="0" rtlCol="0" anchor="t">
            <a:noAutofit/>
          </a:bodyPr>
          <a:lstStyle/>
          <a:p>
            <a:pPr indent="0">
              <a:spcAft>
                <a:spcPts val="700"/>
              </a:spcAft>
              <a:buNone/>
            </a:pPr>
            <a:r>
              <a:rPr lang="vi-VN" sz="3800" b="1">
                <a:solidFill>
                  <a:srgbClr val="BB542A"/>
                </a:solidFill>
                <a:latin typeface="Segoe UI" panose="020B0502040204020203" charset="0"/>
                <a:cs typeface="Segoe UI" panose="020B0502040204020203" charset="0"/>
              </a:rPr>
              <a:t>03</a:t>
            </a:r>
          </a:p>
        </p:txBody>
      </p:sp>
      <p:sp>
        <p:nvSpPr>
          <p:cNvPr id="13" name="Text Box 12"/>
          <p:cNvSpPr txBox="1"/>
          <p:nvPr/>
        </p:nvSpPr>
        <p:spPr>
          <a:xfrm>
            <a:off x="8178800" y="2870200"/>
            <a:ext cx="3365500" cy="276860"/>
          </a:xfrm>
          <a:prstGeom prst="rect">
            <a:avLst/>
          </a:prstGeom>
          <a:noFill/>
        </p:spPr>
        <p:txBody>
          <a:bodyPr wrap="square" lIns="0" tIns="0" rIns="0" bIns="0" rtlCol="0" anchor="t">
            <a:noAutofit/>
          </a:bodyPr>
          <a:lstStyle/>
          <a:p>
            <a:pPr indent="0">
              <a:spcAft>
                <a:spcPts val="700"/>
              </a:spcAft>
              <a:buNone/>
            </a:pPr>
            <a:r>
              <a:rPr lang="vi-VN" sz="2600" b="1">
                <a:solidFill>
                  <a:srgbClr val="176E68"/>
                </a:solidFill>
                <a:latin typeface="Segoe UI" panose="020B0502040204020203" charset="0"/>
                <a:cs typeface="Segoe UI" panose="020B0502040204020203" charset="0"/>
              </a:rPr>
              <a:t>Policy suy giảm</a:t>
            </a:r>
          </a:p>
        </p:txBody>
      </p:sp>
      <p:sp>
        <p:nvSpPr>
          <p:cNvPr id="14" name="Text Box 13"/>
          <p:cNvSpPr txBox="1"/>
          <p:nvPr/>
        </p:nvSpPr>
        <p:spPr>
          <a:xfrm>
            <a:off x="8178800" y="4140200"/>
            <a:ext cx="3365500" cy="276860"/>
          </a:xfrm>
          <a:prstGeom prst="rect">
            <a:avLst/>
          </a:prstGeom>
          <a:noFill/>
        </p:spPr>
        <p:txBody>
          <a:bodyPr wrap="square" lIns="0" tIns="0" rIns="0" bIns="0" rtlCol="0" anchor="t">
            <a:noAutofit/>
          </a:bodyPr>
          <a:lstStyle/>
          <a:p>
            <a:pPr indent="0">
              <a:spcAft>
                <a:spcPts val="700"/>
              </a:spcAft>
              <a:buNone/>
            </a:pPr>
            <a:r>
              <a:rPr lang="vi-VN" sz="2300">
                <a:solidFill>
                  <a:srgbClr val="172F3C"/>
                </a:solidFill>
                <a:latin typeface="Segoe UI" panose="020B0502040204020203" charset="0"/>
                <a:cs typeface="Segoe UI" panose="020B0502040204020203" charset="0"/>
              </a:rPr>
              <a:t>Sai số tăng trên dữ liệu được review tin cậy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4ED"/>
        </a:solidFill>
        <a:effectLst/>
      </p:bgPr>
    </p:bg>
    <p:spTree>
      <p:nvGrpSpPr>
        <p:cNvPr id="1" name=""/>
        <p:cNvGrpSpPr/>
        <p:nvPr/>
      </p:nvGrpSpPr>
      <p:grpSpPr>
        <a:xfrm>
          <a:off x="0" y="0"/>
          <a:ext cx="0" cy="0"/>
          <a:chOff x="0" y="0"/>
          <a:chExt cx="0" cy="0"/>
        </a:xfrm>
      </p:grpSpPr>
      <p:sp>
        <p:nvSpPr>
          <p:cNvPr id="2" name="Rectangle 1"/>
          <p:cNvSpPr/>
          <p:nvPr/>
        </p:nvSpPr>
        <p:spPr>
          <a:xfrm>
            <a:off x="584200" y="317500"/>
            <a:ext cx="660400" cy="63500"/>
          </a:xfrm>
          <a:prstGeom prst="rect">
            <a:avLst/>
          </a:prstGeom>
          <a:solidFill>
            <a:srgbClr val="BB542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3" name="Text Box 2"/>
          <p:cNvSpPr txBox="1"/>
          <p:nvPr/>
        </p:nvSpPr>
        <p:spPr>
          <a:xfrm>
            <a:off x="584200" y="546100"/>
            <a:ext cx="11023600" cy="276860"/>
          </a:xfrm>
          <a:prstGeom prst="rect">
            <a:avLst/>
          </a:prstGeom>
          <a:noFill/>
        </p:spPr>
        <p:txBody>
          <a:bodyPr wrap="square" lIns="0" tIns="0" rIns="0" bIns="0" rtlCol="0" anchor="t">
            <a:noAutofit/>
          </a:bodyPr>
          <a:lstStyle/>
          <a:p>
            <a:pPr indent="0">
              <a:spcAft>
                <a:spcPts val="700"/>
              </a:spcAft>
              <a:buNone/>
            </a:pPr>
            <a:r>
              <a:rPr lang="vi-VN" sz="2800" b="1">
                <a:solidFill>
                  <a:srgbClr val="172F3C"/>
                </a:solidFill>
                <a:latin typeface="Segoe UI" panose="020B0502040204020203" charset="0"/>
                <a:cs typeface="Segoe UI" panose="020B0502040204020203" charset="0"/>
              </a:rPr>
              <a:t>NĂM LỚP BẰNG CHỨNG ĐỂ ĐÁNH GIÁ DRIFT</a:t>
            </a:r>
          </a:p>
        </p:txBody>
      </p:sp>
      <p:sp>
        <p:nvSpPr>
          <p:cNvPr id="4" name="Text Box 3"/>
          <p:cNvSpPr txBox="1"/>
          <p:nvPr/>
        </p:nvSpPr>
        <p:spPr>
          <a:xfrm>
            <a:off x="11404600" y="6477000"/>
            <a:ext cx="330200" cy="276860"/>
          </a:xfrm>
          <a:prstGeom prst="rect">
            <a:avLst/>
          </a:prstGeom>
          <a:noFill/>
        </p:spPr>
        <p:txBody>
          <a:bodyPr wrap="square" lIns="0" tIns="0" rIns="0" bIns="0" rtlCol="0" anchor="t">
            <a:noAutofit/>
          </a:bodyPr>
          <a:lstStyle/>
          <a:p>
            <a:pPr indent="0">
              <a:spcAft>
                <a:spcPts val="700"/>
              </a:spcAft>
              <a:buNone/>
            </a:pPr>
            <a:r>
              <a:rPr lang="vi-VN" sz="1000">
                <a:solidFill>
                  <a:srgbClr val="526673"/>
                </a:solidFill>
                <a:latin typeface="Segoe UI" panose="020B0502040204020203" charset="0"/>
                <a:cs typeface="Segoe UI" panose="020B0502040204020203" charset="0"/>
              </a:rPr>
              <a:t>11</a:t>
            </a:r>
          </a:p>
        </p:txBody>
      </p:sp>
      <p:sp>
        <p:nvSpPr>
          <p:cNvPr id="5" name="Text Box 4"/>
          <p:cNvSpPr txBox="1"/>
          <p:nvPr/>
        </p:nvSpPr>
        <p:spPr>
          <a:xfrm>
            <a:off x="584200" y="6121400"/>
            <a:ext cx="10541000" cy="276860"/>
          </a:xfrm>
          <a:prstGeom prst="rect">
            <a:avLst/>
          </a:prstGeom>
          <a:noFill/>
        </p:spPr>
        <p:txBody>
          <a:bodyPr wrap="square" lIns="0" tIns="0" rIns="0" bIns="0" rtlCol="0" anchor="t">
            <a:noAutofit/>
          </a:bodyPr>
          <a:lstStyle/>
          <a:p>
            <a:pPr indent="0">
              <a:spcAft>
                <a:spcPts val="700"/>
              </a:spcAft>
              <a:buNone/>
            </a:pPr>
            <a:r>
              <a:rPr lang="vi-VN" sz="1200">
                <a:solidFill>
                  <a:srgbClr val="526673"/>
                </a:solidFill>
                <a:latin typeface="Segoe UI" panose="020B0502040204020203" charset="0"/>
                <a:cs typeface="Segoe UI" panose="020B0502040204020203" charset="0"/>
              </a:rPr>
              <a:t>Face và Voice có reference, report và trạng thái drift độc lập</a:t>
            </a:r>
          </a:p>
        </p:txBody>
      </p:sp>
      <p:graphicFrame>
        <p:nvGraphicFramePr>
          <p:cNvPr id="6" name="Table 5"/>
          <p:cNvGraphicFramePr/>
          <p:nvPr/>
        </p:nvGraphicFramePr>
        <p:xfrm>
          <a:off x="584200" y="1879600"/>
          <a:ext cx="11023600" cy="3520440"/>
        </p:xfrm>
        <a:graphic>
          <a:graphicData uri="http://schemas.openxmlformats.org/drawingml/2006/table">
            <a:tbl>
              <a:tblPr firstRow="1" bandRow="1">
                <a:tableStyleId>{5C22544A-7EE6-4342-B048-85BDC9FD1C3A}</a:tableStyleId>
              </a:tblPr>
              <a:tblGrid>
                <a:gridCol w="2921000">
                  <a:extLst>
                    <a:ext uri="{9D8B030D-6E8A-4147-A177-3AD203B41FA5}">
                      <a16:colId xmlns:a16="http://schemas.microsoft.com/office/drawing/2014/main" val="20000"/>
                    </a:ext>
                  </a:extLst>
                </a:gridCol>
                <a:gridCol w="4038600">
                  <a:extLst>
                    <a:ext uri="{9D8B030D-6E8A-4147-A177-3AD203B41FA5}">
                      <a16:colId xmlns:a16="http://schemas.microsoft.com/office/drawing/2014/main" val="20001"/>
                    </a:ext>
                  </a:extLst>
                </a:gridCol>
                <a:gridCol w="4064000">
                  <a:extLst>
                    <a:ext uri="{9D8B030D-6E8A-4147-A177-3AD203B41FA5}">
                      <a16:colId xmlns:a16="http://schemas.microsoft.com/office/drawing/2014/main" val="20002"/>
                    </a:ext>
                  </a:extLst>
                </a:gridCol>
              </a:tblGrid>
              <a:tr h="558800">
                <a:tc>
                  <a:txBody>
                    <a:bodyPr/>
                    <a:lstStyle/>
                    <a:p>
                      <a:pPr indent="0">
                        <a:spcAft>
                          <a:spcPts val="0"/>
                        </a:spcAft>
                        <a:buNone/>
                      </a:pPr>
                      <a:r>
                        <a:rPr lang="vi-VN" sz="1900" b="1">
                          <a:solidFill>
                            <a:srgbClr val="FFFFFF"/>
                          </a:solidFill>
                          <a:latin typeface="Segoe UI" panose="020B0502040204020203" charset="0"/>
                          <a:cs typeface="Segoe UI" panose="020B0502040204020203" charset="0"/>
                        </a:rPr>
                        <a:t>Lớp</a:t>
                      </a:r>
                    </a:p>
                  </a:txBody>
                  <a:tcPr marL="152400" marR="127000" marT="88900" marB="88900" anchor="ctr">
                    <a:lnL w="12700" cmpd="sng">
                      <a:solidFill>
                        <a:srgbClr val="F7F4ED"/>
                      </a:solidFill>
                    </a:lnL>
                    <a:lnR w="12700" cmpd="sng">
                      <a:solidFill>
                        <a:srgbClr val="F7F4ED"/>
                      </a:solidFill>
                    </a:lnR>
                    <a:lnT w="12700" cmpd="sng">
                      <a:solidFill>
                        <a:srgbClr val="F7F4ED"/>
                      </a:solidFill>
                    </a:lnT>
                    <a:lnB w="38100" cmpd="sng">
                      <a:solidFill>
                        <a:srgbClr val="F7F4ED"/>
                      </a:solidFill>
                    </a:lnB>
                    <a:solidFill>
                      <a:srgbClr val="176E68"/>
                    </a:solidFill>
                  </a:tcPr>
                </a:tc>
                <a:tc>
                  <a:txBody>
                    <a:bodyPr/>
                    <a:lstStyle/>
                    <a:p>
                      <a:pPr indent="0">
                        <a:spcAft>
                          <a:spcPts val="0"/>
                        </a:spcAft>
                        <a:buNone/>
                      </a:pPr>
                      <a:r>
                        <a:rPr lang="vi-VN" sz="1900" b="1">
                          <a:solidFill>
                            <a:srgbClr val="FFFFFF"/>
                          </a:solidFill>
                          <a:latin typeface="Segoe UI" panose="020B0502040204020203" charset="0"/>
                          <a:cs typeface="Segoe UI" panose="020B0502040204020203" charset="0"/>
                        </a:rPr>
                        <a:t>Input và phương pháp</a:t>
                      </a:r>
                    </a:p>
                  </a:txBody>
                  <a:tcPr marL="152400" marR="127000" marT="88900" marB="88900" anchor="ctr">
                    <a:lnL w="12700" cmpd="sng">
                      <a:solidFill>
                        <a:srgbClr val="F7F4ED"/>
                      </a:solidFill>
                    </a:lnL>
                    <a:lnR w="12700" cmpd="sng">
                      <a:solidFill>
                        <a:srgbClr val="F7F4ED"/>
                      </a:solidFill>
                    </a:lnR>
                    <a:lnT w="12700" cmpd="sng">
                      <a:solidFill>
                        <a:srgbClr val="F7F4ED"/>
                      </a:solidFill>
                    </a:lnT>
                    <a:lnB w="38100" cmpd="sng">
                      <a:solidFill>
                        <a:srgbClr val="F7F4ED"/>
                      </a:solidFill>
                    </a:lnB>
                    <a:solidFill>
                      <a:srgbClr val="176E68"/>
                    </a:solidFill>
                  </a:tcPr>
                </a:tc>
                <a:tc>
                  <a:txBody>
                    <a:bodyPr/>
                    <a:lstStyle/>
                    <a:p>
                      <a:pPr indent="0">
                        <a:spcAft>
                          <a:spcPts val="0"/>
                        </a:spcAft>
                        <a:buNone/>
                      </a:pPr>
                      <a:r>
                        <a:rPr lang="vi-VN" sz="1900" b="1">
                          <a:solidFill>
                            <a:srgbClr val="FFFFFF"/>
                          </a:solidFill>
                          <a:latin typeface="Segoe UI" panose="020B0502040204020203" charset="0"/>
                          <a:cs typeface="Segoe UI" panose="020B0502040204020203" charset="0"/>
                        </a:rPr>
                        <a:t>Output</a:t>
                      </a:r>
                    </a:p>
                  </a:txBody>
                  <a:tcPr marL="152400" marR="127000" marT="88900" marB="88900" anchor="ctr">
                    <a:lnL w="12700" cmpd="sng">
                      <a:solidFill>
                        <a:srgbClr val="F7F4ED"/>
                      </a:solidFill>
                    </a:lnL>
                    <a:lnR w="12700" cmpd="sng">
                      <a:solidFill>
                        <a:srgbClr val="F7F4ED"/>
                      </a:solidFill>
                    </a:lnR>
                    <a:lnT w="12700" cmpd="sng">
                      <a:solidFill>
                        <a:srgbClr val="F7F4ED"/>
                      </a:solidFill>
                    </a:lnT>
                    <a:lnB w="38100" cmpd="sng">
                      <a:solidFill>
                        <a:srgbClr val="F7F4ED"/>
                      </a:solidFill>
                    </a:lnB>
                    <a:solidFill>
                      <a:srgbClr val="176E68"/>
                    </a:solidFill>
                  </a:tcPr>
                </a:tc>
                <a:extLst>
                  <a:ext uri="{0D108BD9-81ED-4DB2-BD59-A6C34878D82A}">
                    <a16:rowId xmlns:a16="http://schemas.microsoft.com/office/drawing/2014/main" val="10000"/>
                  </a:ext>
                </a:extLst>
              </a:tr>
              <a:tr h="558800">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Quality</a:t>
                      </a:r>
                    </a:p>
                  </a:txBody>
                  <a:tcPr marL="152400" marR="127000" marT="88900" marB="88900" anchor="ctr">
                    <a:lnL w="12700" cmpd="sng">
                      <a:solidFill>
                        <a:srgbClr val="F7F4ED"/>
                      </a:solidFill>
                    </a:lnL>
                    <a:lnR w="12700" cmpd="sng">
                      <a:solidFill>
                        <a:srgbClr val="F7F4ED"/>
                      </a:solidFill>
                    </a:lnR>
                    <a:lnT w="38100" cmpd="sng">
                      <a:solidFill>
                        <a:srgbClr val="F7F4ED"/>
                      </a:solidFill>
                    </a:lnT>
                    <a:lnB w="12700" cmpd="sng">
                      <a:solidFill>
                        <a:srgbClr val="F7F4ED"/>
                      </a:solidFill>
                    </a:lnB>
                    <a:solidFill>
                      <a:srgbClr val="E4EEEA"/>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PSI trên brightness, blur, RMS, silence…</a:t>
                      </a:r>
                    </a:p>
                  </a:txBody>
                  <a:tcPr marL="152400" marR="127000" marT="88900" marB="88900" anchor="ctr">
                    <a:lnL w="12700" cmpd="sng">
                      <a:solidFill>
                        <a:srgbClr val="F7F4ED"/>
                      </a:solidFill>
                    </a:lnL>
                    <a:lnR w="12700" cmpd="sng">
                      <a:solidFill>
                        <a:srgbClr val="F7F4ED"/>
                      </a:solidFill>
                    </a:lnR>
                    <a:lnT w="38100" cmpd="sng">
                      <a:solidFill>
                        <a:srgbClr val="F7F4ED"/>
                      </a:solidFill>
                    </a:lnT>
                    <a:lnB w="12700" cmpd="sng">
                      <a:solidFill>
                        <a:srgbClr val="F7F4ED"/>
                      </a:solidFill>
                    </a:lnB>
                    <a:solidFill>
                      <a:srgbClr val="E4EEEA"/>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Feature PSI và input drift</a:t>
                      </a:r>
                    </a:p>
                  </a:txBody>
                  <a:tcPr marL="152400" marR="127000" marT="88900" marB="88900" anchor="ctr">
                    <a:lnL w="12700" cmpd="sng">
                      <a:solidFill>
                        <a:srgbClr val="F7F4ED"/>
                      </a:solidFill>
                    </a:lnL>
                    <a:lnR w="12700" cmpd="sng">
                      <a:solidFill>
                        <a:srgbClr val="F7F4ED"/>
                      </a:solidFill>
                    </a:lnR>
                    <a:lnT w="38100" cmpd="sng">
                      <a:solidFill>
                        <a:srgbClr val="F7F4ED"/>
                      </a:solidFill>
                    </a:lnT>
                    <a:lnB w="12700" cmpd="sng">
                      <a:solidFill>
                        <a:srgbClr val="F7F4ED"/>
                      </a:solidFill>
                    </a:lnB>
                    <a:solidFill>
                      <a:srgbClr val="E4EEEA"/>
                    </a:solidFill>
                  </a:tcPr>
                </a:tc>
                <a:extLst>
                  <a:ext uri="{0D108BD9-81ED-4DB2-BD59-A6C34878D82A}">
                    <a16:rowId xmlns:a16="http://schemas.microsoft.com/office/drawing/2014/main" val="10001"/>
                  </a:ext>
                </a:extLst>
              </a:tr>
              <a:tr h="558800">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Embedding</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F7F4ED"/>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RBF MMD² trên cả vector chuẩn hóa</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F7F4ED"/>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Khoảng cách phân phối</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F7F4ED"/>
                    </a:solidFill>
                  </a:tcPr>
                </a:tc>
                <a:extLst>
                  <a:ext uri="{0D108BD9-81ED-4DB2-BD59-A6C34878D82A}">
                    <a16:rowId xmlns:a16="http://schemas.microsoft.com/office/drawing/2014/main" val="10002"/>
                  </a:ext>
                </a:extLst>
              </a:tr>
              <a:tr h="558800">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Score</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E4EEEA"/>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PSI genuine / impostor có nhãn</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E4EEEA"/>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Shift, margin và separation</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E4EEEA"/>
                    </a:solidFill>
                  </a:tcPr>
                </a:tc>
                <a:extLst>
                  <a:ext uri="{0D108BD9-81ED-4DB2-BD59-A6C34878D82A}">
                    <a16:rowId xmlns:a16="http://schemas.microsoft.com/office/drawing/2014/main" val="10003"/>
                  </a:ext>
                </a:extLst>
              </a:tr>
              <a:tr h="558800">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Performance</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F7F4ED"/>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Nhãn review tin cậy</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F7F4ED"/>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FMR, FNMR, EER, TAR@FAR</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F7F4ED"/>
                    </a:solidFill>
                  </a:tcPr>
                </a:tc>
                <a:extLst>
                  <a:ext uri="{0D108BD9-81ED-4DB2-BD59-A6C34878D82A}">
                    <a16:rowId xmlns:a16="http://schemas.microsoft.com/office/drawing/2014/main" val="10004"/>
                  </a:ext>
                </a:extLst>
              </a:tr>
              <a:tr h="558800">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Template age</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E4EEEA"/>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Nhóm tuổi mẫu ghi danh</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E4EEEA"/>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Sai số theo cohort tuổi</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E4EEEA"/>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4ED"/>
        </a:solidFill>
        <a:effectLst/>
      </p:bgPr>
    </p:bg>
    <p:spTree>
      <p:nvGrpSpPr>
        <p:cNvPr id="1" name=""/>
        <p:cNvGrpSpPr/>
        <p:nvPr/>
      </p:nvGrpSpPr>
      <p:grpSpPr>
        <a:xfrm>
          <a:off x="0" y="0"/>
          <a:ext cx="0" cy="0"/>
          <a:chOff x="0" y="0"/>
          <a:chExt cx="0" cy="0"/>
        </a:xfrm>
      </p:grpSpPr>
      <p:sp>
        <p:nvSpPr>
          <p:cNvPr id="2" name="Rectangle 1"/>
          <p:cNvSpPr/>
          <p:nvPr/>
        </p:nvSpPr>
        <p:spPr>
          <a:xfrm>
            <a:off x="584200" y="317500"/>
            <a:ext cx="660400" cy="63500"/>
          </a:xfrm>
          <a:prstGeom prst="rect">
            <a:avLst/>
          </a:prstGeom>
          <a:solidFill>
            <a:srgbClr val="BB542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3" name="Text Box 2"/>
          <p:cNvSpPr txBox="1"/>
          <p:nvPr/>
        </p:nvSpPr>
        <p:spPr>
          <a:xfrm>
            <a:off x="584200" y="546100"/>
            <a:ext cx="11023600" cy="276860"/>
          </a:xfrm>
          <a:prstGeom prst="rect">
            <a:avLst/>
          </a:prstGeom>
          <a:noFill/>
        </p:spPr>
        <p:txBody>
          <a:bodyPr wrap="square" lIns="0" tIns="0" rIns="0" bIns="0" rtlCol="0" anchor="t">
            <a:noAutofit/>
          </a:bodyPr>
          <a:lstStyle/>
          <a:p>
            <a:pPr indent="0">
              <a:spcAft>
                <a:spcPts val="700"/>
              </a:spcAft>
              <a:buNone/>
            </a:pPr>
            <a:r>
              <a:rPr lang="vi-VN" sz="2600" b="1">
                <a:solidFill>
                  <a:srgbClr val="172F3C"/>
                </a:solidFill>
                <a:latin typeface="Segoe UI" panose="020B0502040204020203" charset="0"/>
                <a:cs typeface="Segoe UI" panose="020B0502040204020203" charset="0"/>
              </a:rPr>
              <a:t>DECISION ENGINE QUYẾT ĐỊNH HÀNH ĐỘNG THEO BẰNG CHỨNG</a:t>
            </a:r>
          </a:p>
        </p:txBody>
      </p:sp>
      <p:sp>
        <p:nvSpPr>
          <p:cNvPr id="4" name="Text Box 3"/>
          <p:cNvSpPr txBox="1"/>
          <p:nvPr/>
        </p:nvSpPr>
        <p:spPr>
          <a:xfrm>
            <a:off x="11404600" y="6477000"/>
            <a:ext cx="330200" cy="276860"/>
          </a:xfrm>
          <a:prstGeom prst="rect">
            <a:avLst/>
          </a:prstGeom>
          <a:noFill/>
        </p:spPr>
        <p:txBody>
          <a:bodyPr wrap="square" lIns="0" tIns="0" rIns="0" bIns="0" rtlCol="0" anchor="t">
            <a:noAutofit/>
          </a:bodyPr>
          <a:lstStyle/>
          <a:p>
            <a:pPr indent="0">
              <a:spcAft>
                <a:spcPts val="700"/>
              </a:spcAft>
              <a:buNone/>
            </a:pPr>
            <a:r>
              <a:rPr lang="vi-VN" sz="1000">
                <a:solidFill>
                  <a:srgbClr val="526673"/>
                </a:solidFill>
                <a:latin typeface="Segoe UI" panose="020B0502040204020203" charset="0"/>
                <a:cs typeface="Segoe UI" panose="020B0502040204020203" charset="0"/>
              </a:rPr>
              <a:t>12</a:t>
            </a:r>
          </a:p>
        </p:txBody>
      </p:sp>
      <p:sp>
        <p:nvSpPr>
          <p:cNvPr id="5" name="Text Box 4"/>
          <p:cNvSpPr txBox="1"/>
          <p:nvPr/>
        </p:nvSpPr>
        <p:spPr>
          <a:xfrm>
            <a:off x="584200" y="6121400"/>
            <a:ext cx="10541000" cy="276860"/>
          </a:xfrm>
          <a:prstGeom prst="rect">
            <a:avLst/>
          </a:prstGeom>
          <a:noFill/>
        </p:spPr>
        <p:txBody>
          <a:bodyPr wrap="square" lIns="0" tIns="0" rIns="0" bIns="0" rtlCol="0" anchor="t">
            <a:noAutofit/>
          </a:bodyPr>
          <a:lstStyle/>
          <a:p>
            <a:pPr indent="0">
              <a:spcAft>
                <a:spcPts val="700"/>
              </a:spcAft>
              <a:buNone/>
            </a:pPr>
            <a:r>
              <a:rPr lang="vi-VN" sz="1200">
                <a:solidFill>
                  <a:srgbClr val="526673"/>
                </a:solidFill>
                <a:latin typeface="Segoe UI" panose="020B0502040204020203" charset="0"/>
                <a:cs typeface="Segoe UI" panose="020B0502040204020203" charset="0"/>
              </a:rPr>
              <a:t>Mặc định: 3 cửa sổ mới, 100 mẫu/cửa sổ, tối thiểu 20 nhãn mỗi lớp</a:t>
            </a:r>
          </a:p>
        </p:txBody>
      </p:sp>
      <p:graphicFrame>
        <p:nvGraphicFramePr>
          <p:cNvPr id="6" name="Table 5"/>
          <p:cNvGraphicFramePr/>
          <p:nvPr/>
        </p:nvGraphicFramePr>
        <p:xfrm>
          <a:off x="584200" y="1879600"/>
          <a:ext cx="11023600" cy="4023360"/>
        </p:xfrm>
        <a:graphic>
          <a:graphicData uri="http://schemas.openxmlformats.org/drawingml/2006/table">
            <a:tbl>
              <a:tblPr firstRow="1" bandRow="1">
                <a:tableStyleId>{5C22544A-7EE6-4342-B048-85BDC9FD1C3A}</a:tableStyleId>
              </a:tblPr>
              <a:tblGrid>
                <a:gridCol w="2921000">
                  <a:extLst>
                    <a:ext uri="{9D8B030D-6E8A-4147-A177-3AD203B41FA5}">
                      <a16:colId xmlns:a16="http://schemas.microsoft.com/office/drawing/2014/main" val="20000"/>
                    </a:ext>
                  </a:extLst>
                </a:gridCol>
                <a:gridCol w="4038600">
                  <a:extLst>
                    <a:ext uri="{9D8B030D-6E8A-4147-A177-3AD203B41FA5}">
                      <a16:colId xmlns:a16="http://schemas.microsoft.com/office/drawing/2014/main" val="20001"/>
                    </a:ext>
                  </a:extLst>
                </a:gridCol>
                <a:gridCol w="4064000">
                  <a:extLst>
                    <a:ext uri="{9D8B030D-6E8A-4147-A177-3AD203B41FA5}">
                      <a16:colId xmlns:a16="http://schemas.microsoft.com/office/drawing/2014/main" val="20002"/>
                    </a:ext>
                  </a:extLst>
                </a:gridCol>
              </a:tblGrid>
              <a:tr h="558800">
                <a:tc>
                  <a:txBody>
                    <a:bodyPr/>
                    <a:lstStyle/>
                    <a:p>
                      <a:pPr indent="0">
                        <a:spcAft>
                          <a:spcPts val="0"/>
                        </a:spcAft>
                        <a:buNone/>
                      </a:pPr>
                      <a:r>
                        <a:rPr lang="vi-VN" sz="1900" b="1">
                          <a:solidFill>
                            <a:srgbClr val="FFFFFF"/>
                          </a:solidFill>
                          <a:latin typeface="Segoe UI" panose="020B0502040204020203" charset="0"/>
                          <a:cs typeface="Segoe UI" panose="020B0502040204020203" charset="0"/>
                        </a:rPr>
                        <a:t>Bằng chứng</a:t>
                      </a:r>
                    </a:p>
                  </a:txBody>
                  <a:tcPr marL="152400" marR="127000" marT="88900" marB="88900" anchor="ctr">
                    <a:lnL w="12700" cmpd="sng">
                      <a:solidFill>
                        <a:srgbClr val="F7F4ED"/>
                      </a:solidFill>
                    </a:lnL>
                    <a:lnR w="12700" cmpd="sng">
                      <a:solidFill>
                        <a:srgbClr val="F7F4ED"/>
                      </a:solidFill>
                    </a:lnR>
                    <a:lnT w="12700" cmpd="sng">
                      <a:solidFill>
                        <a:srgbClr val="F7F4ED"/>
                      </a:solidFill>
                    </a:lnT>
                    <a:lnB w="38100" cmpd="sng">
                      <a:solidFill>
                        <a:srgbClr val="F7F4ED"/>
                      </a:solidFill>
                    </a:lnB>
                    <a:solidFill>
                      <a:srgbClr val="176E68"/>
                    </a:solidFill>
                  </a:tcPr>
                </a:tc>
                <a:tc>
                  <a:txBody>
                    <a:bodyPr/>
                    <a:lstStyle/>
                    <a:p>
                      <a:pPr indent="0">
                        <a:spcAft>
                          <a:spcPts val="0"/>
                        </a:spcAft>
                        <a:buNone/>
                      </a:pPr>
                      <a:r>
                        <a:rPr lang="vi-VN" sz="1900" b="1">
                          <a:solidFill>
                            <a:srgbClr val="FFFFFF"/>
                          </a:solidFill>
                          <a:latin typeface="Segoe UI" panose="020B0502040204020203" charset="0"/>
                          <a:cs typeface="Segoe UI" panose="020B0502040204020203" charset="0"/>
                        </a:rPr>
                        <a:t>Trạng thái</a:t>
                      </a:r>
                    </a:p>
                  </a:txBody>
                  <a:tcPr marL="152400" marR="127000" marT="88900" marB="88900" anchor="ctr">
                    <a:lnL w="12700" cmpd="sng">
                      <a:solidFill>
                        <a:srgbClr val="F7F4ED"/>
                      </a:solidFill>
                    </a:lnL>
                    <a:lnR w="12700" cmpd="sng">
                      <a:solidFill>
                        <a:srgbClr val="F7F4ED"/>
                      </a:solidFill>
                    </a:lnR>
                    <a:lnT w="12700" cmpd="sng">
                      <a:solidFill>
                        <a:srgbClr val="F7F4ED"/>
                      </a:solidFill>
                    </a:lnT>
                    <a:lnB w="38100" cmpd="sng">
                      <a:solidFill>
                        <a:srgbClr val="F7F4ED"/>
                      </a:solidFill>
                    </a:lnB>
                    <a:solidFill>
                      <a:srgbClr val="176E68"/>
                    </a:solidFill>
                  </a:tcPr>
                </a:tc>
                <a:tc>
                  <a:txBody>
                    <a:bodyPr/>
                    <a:lstStyle/>
                    <a:p>
                      <a:pPr indent="0">
                        <a:spcAft>
                          <a:spcPts val="0"/>
                        </a:spcAft>
                        <a:buNone/>
                      </a:pPr>
                      <a:r>
                        <a:rPr lang="vi-VN" sz="1900" b="1">
                          <a:solidFill>
                            <a:srgbClr val="FFFFFF"/>
                          </a:solidFill>
                          <a:latin typeface="Segoe UI" panose="020B0502040204020203" charset="0"/>
                          <a:cs typeface="Segoe UI" panose="020B0502040204020203" charset="0"/>
                        </a:rPr>
                        <a:t>Hành động</a:t>
                      </a:r>
                    </a:p>
                  </a:txBody>
                  <a:tcPr marL="152400" marR="127000" marT="88900" marB="88900" anchor="ctr">
                    <a:lnL w="12700" cmpd="sng">
                      <a:solidFill>
                        <a:srgbClr val="F7F4ED"/>
                      </a:solidFill>
                    </a:lnL>
                    <a:lnR w="12700" cmpd="sng">
                      <a:solidFill>
                        <a:srgbClr val="F7F4ED"/>
                      </a:solidFill>
                    </a:lnR>
                    <a:lnT w="12700" cmpd="sng">
                      <a:solidFill>
                        <a:srgbClr val="F7F4ED"/>
                      </a:solidFill>
                    </a:lnT>
                    <a:lnB w="38100" cmpd="sng">
                      <a:solidFill>
                        <a:srgbClr val="F7F4ED"/>
                      </a:solidFill>
                    </a:lnB>
                    <a:solidFill>
                      <a:srgbClr val="176E68"/>
                    </a:solidFill>
                  </a:tcPr>
                </a:tc>
                <a:extLst>
                  <a:ext uri="{0D108BD9-81ED-4DB2-BD59-A6C34878D82A}">
                    <a16:rowId xmlns:a16="http://schemas.microsoft.com/office/drawing/2014/main" val="10000"/>
                  </a:ext>
                </a:extLst>
              </a:tr>
              <a:tr h="558800">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Chất lượng capture thay đổi</a:t>
                      </a:r>
                    </a:p>
                  </a:txBody>
                  <a:tcPr marL="152400" marR="127000" marT="88900" marB="88900" anchor="ctr">
                    <a:lnL w="12700" cmpd="sng">
                      <a:solidFill>
                        <a:srgbClr val="F7F4ED"/>
                      </a:solidFill>
                    </a:lnL>
                    <a:lnR w="12700" cmpd="sng">
                      <a:solidFill>
                        <a:srgbClr val="F7F4ED"/>
                      </a:solidFill>
                    </a:lnR>
                    <a:lnT w="38100" cmpd="sng">
                      <a:solidFill>
                        <a:srgbClr val="F7F4ED"/>
                      </a:solidFill>
                    </a:lnT>
                    <a:lnB w="12700" cmpd="sng">
                      <a:solidFill>
                        <a:srgbClr val="F7F4ED"/>
                      </a:solidFill>
                    </a:lnB>
                    <a:solidFill>
                      <a:srgbClr val="E4EEEA"/>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INPUT_DRIFT</a:t>
                      </a:r>
                    </a:p>
                  </a:txBody>
                  <a:tcPr marL="152400" marR="127000" marT="88900" marB="88900" anchor="ctr">
                    <a:lnL w="12700" cmpd="sng">
                      <a:solidFill>
                        <a:srgbClr val="F7F4ED"/>
                      </a:solidFill>
                    </a:lnL>
                    <a:lnR w="12700" cmpd="sng">
                      <a:solidFill>
                        <a:srgbClr val="F7F4ED"/>
                      </a:solidFill>
                    </a:lnR>
                    <a:lnT w="38100" cmpd="sng">
                      <a:solidFill>
                        <a:srgbClr val="F7F4ED"/>
                      </a:solidFill>
                    </a:lnT>
                    <a:lnB w="12700" cmpd="sng">
                      <a:solidFill>
                        <a:srgbClr val="F7F4ED"/>
                      </a:solidFill>
                    </a:lnB>
                    <a:solidFill>
                      <a:srgbClr val="E4EEEA"/>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Điều tra đầu vào</a:t>
                      </a:r>
                    </a:p>
                  </a:txBody>
                  <a:tcPr marL="152400" marR="127000" marT="88900" marB="88900" anchor="ctr">
                    <a:lnL w="12700" cmpd="sng">
                      <a:solidFill>
                        <a:srgbClr val="F7F4ED"/>
                      </a:solidFill>
                    </a:lnL>
                    <a:lnR w="12700" cmpd="sng">
                      <a:solidFill>
                        <a:srgbClr val="F7F4ED"/>
                      </a:solidFill>
                    </a:lnR>
                    <a:lnT w="38100" cmpd="sng">
                      <a:solidFill>
                        <a:srgbClr val="F7F4ED"/>
                      </a:solidFill>
                    </a:lnT>
                    <a:lnB w="12700" cmpd="sng">
                      <a:solidFill>
                        <a:srgbClr val="F7F4ED"/>
                      </a:solidFill>
                    </a:lnB>
                    <a:solidFill>
                      <a:srgbClr val="E4EEEA"/>
                    </a:solidFill>
                  </a:tcPr>
                </a:tc>
                <a:extLst>
                  <a:ext uri="{0D108BD9-81ED-4DB2-BD59-A6C34878D82A}">
                    <a16:rowId xmlns:a16="http://schemas.microsoft.com/office/drawing/2014/main" val="10001"/>
                  </a:ext>
                </a:extLst>
              </a:tr>
              <a:tr h="558800">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Embedding / score drift, sai số ổn</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F7F4ED"/>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MONITOR / drift state</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F7F4ED"/>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Tiếp tục theo dõi</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F7F4ED"/>
                    </a:solidFill>
                  </a:tcPr>
                </a:tc>
                <a:extLst>
                  <a:ext uri="{0D108BD9-81ED-4DB2-BD59-A6C34878D82A}">
                    <a16:rowId xmlns:a16="http://schemas.microsoft.com/office/drawing/2014/main" val="10002"/>
                  </a:ext>
                </a:extLst>
              </a:tr>
              <a:tr h="558800">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Chỉ template cũ suy giảm</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E4EEEA"/>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TEMPLATE_UPDATE_REQUIRED</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E4EEEA"/>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Qua gate cập nhật template</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E4EEEA"/>
                    </a:solidFill>
                  </a:tcPr>
                </a:tc>
                <a:extLst>
                  <a:ext uri="{0D108BD9-81ED-4DB2-BD59-A6C34878D82A}">
                    <a16:rowId xmlns:a16="http://schemas.microsoft.com/office/drawing/2014/main" val="10003"/>
                  </a:ext>
                </a:extLst>
              </a:tr>
              <a:tr h="558800">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Drift kéo dài + reviewed error tăng</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F7F4ED"/>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RETRAIN_REQUIRED</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F7F4ED"/>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Yêu cầu Airflow hiệu chỉnh</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F7F4ED"/>
                    </a:solidFill>
                  </a:tcPr>
                </a:tc>
                <a:extLst>
                  <a:ext uri="{0D108BD9-81ED-4DB2-BD59-A6C34878D82A}">
                    <a16:rowId xmlns:a16="http://schemas.microsoft.com/office/drawing/2014/main" val="10004"/>
                  </a:ext>
                </a:extLst>
              </a:tr>
              <a:tr h="558800">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Thiếu vector hoặc trusted labels</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E4EEEA"/>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INSUFFICIENT_DATA</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E4EEEA"/>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Thu thêm bằng chứng</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E4EEEA"/>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4ED"/>
        </a:solidFill>
        <a:effectLst/>
      </p:bgPr>
    </p:bg>
    <p:spTree>
      <p:nvGrpSpPr>
        <p:cNvPr id="1" name=""/>
        <p:cNvGrpSpPr/>
        <p:nvPr/>
      </p:nvGrpSpPr>
      <p:grpSpPr>
        <a:xfrm>
          <a:off x="0" y="0"/>
          <a:ext cx="0" cy="0"/>
          <a:chOff x="0" y="0"/>
          <a:chExt cx="0" cy="0"/>
        </a:xfrm>
      </p:grpSpPr>
      <p:sp>
        <p:nvSpPr>
          <p:cNvPr id="2" name="Rectangle 1"/>
          <p:cNvSpPr/>
          <p:nvPr/>
        </p:nvSpPr>
        <p:spPr>
          <a:xfrm>
            <a:off x="584200" y="317500"/>
            <a:ext cx="660400" cy="63500"/>
          </a:xfrm>
          <a:prstGeom prst="rect">
            <a:avLst/>
          </a:prstGeom>
          <a:solidFill>
            <a:srgbClr val="BB542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3" name="Text Box 2"/>
          <p:cNvSpPr txBox="1"/>
          <p:nvPr/>
        </p:nvSpPr>
        <p:spPr>
          <a:xfrm>
            <a:off x="584200" y="546100"/>
            <a:ext cx="11023600" cy="276860"/>
          </a:xfrm>
          <a:prstGeom prst="rect">
            <a:avLst/>
          </a:prstGeom>
          <a:noFill/>
        </p:spPr>
        <p:txBody>
          <a:bodyPr wrap="square" lIns="0" tIns="0" rIns="0" bIns="0" rtlCol="0" anchor="t">
            <a:noAutofit/>
          </a:bodyPr>
          <a:lstStyle/>
          <a:p>
            <a:pPr indent="0">
              <a:spcAft>
                <a:spcPts val="700"/>
              </a:spcAft>
              <a:buNone/>
            </a:pPr>
            <a:r>
              <a:rPr lang="vi-VN" sz="2800" b="1">
                <a:solidFill>
                  <a:srgbClr val="172F3C"/>
                </a:solidFill>
                <a:latin typeface="Segoe UI" panose="020B0502040204020203" charset="0"/>
                <a:cs typeface="Segoe UI" panose="020B0502040204020203" charset="0"/>
              </a:rPr>
              <a:t>CẬP NHẬT TEMPLATE VÀ RETRAIN CÓ HAI ĐƯỜNG KIỂM SOÁT</a:t>
            </a:r>
          </a:p>
        </p:txBody>
      </p:sp>
      <p:sp>
        <p:nvSpPr>
          <p:cNvPr id="4" name="Text Box 3"/>
          <p:cNvSpPr txBox="1"/>
          <p:nvPr/>
        </p:nvSpPr>
        <p:spPr>
          <a:xfrm>
            <a:off x="11404600" y="6477000"/>
            <a:ext cx="330200" cy="276860"/>
          </a:xfrm>
          <a:prstGeom prst="rect">
            <a:avLst/>
          </a:prstGeom>
          <a:noFill/>
        </p:spPr>
        <p:txBody>
          <a:bodyPr wrap="square" lIns="0" tIns="0" rIns="0" bIns="0" rtlCol="0" anchor="t">
            <a:noAutofit/>
          </a:bodyPr>
          <a:lstStyle/>
          <a:p>
            <a:pPr indent="0">
              <a:spcAft>
                <a:spcPts val="700"/>
              </a:spcAft>
              <a:buNone/>
            </a:pPr>
            <a:r>
              <a:rPr lang="vi-VN" sz="1000">
                <a:solidFill>
                  <a:srgbClr val="526673"/>
                </a:solidFill>
                <a:latin typeface="Segoe UI" panose="020B0502040204020203" charset="0"/>
                <a:cs typeface="Segoe UI" panose="020B0502040204020203" charset="0"/>
              </a:rPr>
              <a:t>13</a:t>
            </a:r>
          </a:p>
        </p:txBody>
      </p:sp>
      <p:sp>
        <p:nvSpPr>
          <p:cNvPr id="5" name="Text Box 4"/>
          <p:cNvSpPr txBox="1"/>
          <p:nvPr/>
        </p:nvSpPr>
        <p:spPr>
          <a:xfrm>
            <a:off x="584200" y="6121400"/>
            <a:ext cx="10541000" cy="276860"/>
          </a:xfrm>
          <a:prstGeom prst="rect">
            <a:avLst/>
          </a:prstGeom>
          <a:noFill/>
        </p:spPr>
        <p:txBody>
          <a:bodyPr wrap="square" lIns="0" tIns="0" rIns="0" bIns="0" rtlCol="0" anchor="t">
            <a:noAutofit/>
          </a:bodyPr>
          <a:lstStyle/>
          <a:p>
            <a:pPr indent="0">
              <a:spcAft>
                <a:spcPts val="700"/>
              </a:spcAft>
              <a:buNone/>
            </a:pPr>
            <a:r>
              <a:rPr lang="vi-VN" sz="1200">
                <a:solidFill>
                  <a:srgbClr val="526673"/>
                </a:solidFill>
                <a:latin typeface="Segoe UI" panose="020B0502040204020203" charset="0"/>
                <a:cs typeface="Segoe UI" panose="020B0502040204020203" charset="0"/>
              </a:rPr>
              <a:t>Không lấy một lần xác minh thành công làm ground truth để thay template</a:t>
            </a:r>
          </a:p>
        </p:txBody>
      </p:sp>
      <p:cxnSp>
        <p:nvCxnSpPr>
          <p:cNvPr id="6" name="Straight Connector 5"/>
          <p:cNvCxnSpPr/>
          <p:nvPr/>
        </p:nvCxnSpPr>
        <p:spPr>
          <a:xfrm>
            <a:off x="6057900" y="2006600"/>
            <a:ext cx="635" cy="3619500"/>
          </a:xfrm>
          <a:prstGeom prst="line">
            <a:avLst/>
          </a:prstGeom>
          <a:ln>
            <a:solidFill>
              <a:srgbClr val="CCD6D1"/>
            </a:solidFill>
          </a:ln>
        </p:spPr>
        <p:style>
          <a:lnRef idx="2">
            <a:schemeClr val="accent1"/>
          </a:lnRef>
          <a:fillRef idx="0">
            <a:srgbClr val="FFFFFF"/>
          </a:fillRef>
          <a:effectRef idx="0">
            <a:srgbClr val="FFFFFF"/>
          </a:effectRef>
          <a:fontRef idx="minor">
            <a:schemeClr val="tx1"/>
          </a:fontRef>
        </p:style>
      </p:cxnSp>
      <p:sp>
        <p:nvSpPr>
          <p:cNvPr id="7" name="Text Box 6"/>
          <p:cNvSpPr txBox="1"/>
          <p:nvPr/>
        </p:nvSpPr>
        <p:spPr>
          <a:xfrm>
            <a:off x="584200" y="2146300"/>
            <a:ext cx="5067300" cy="276860"/>
          </a:xfrm>
          <a:prstGeom prst="rect">
            <a:avLst/>
          </a:prstGeom>
          <a:noFill/>
        </p:spPr>
        <p:txBody>
          <a:bodyPr wrap="square" lIns="0" tIns="0" rIns="0" bIns="0" rtlCol="0" anchor="t">
            <a:noAutofit/>
          </a:bodyPr>
          <a:lstStyle/>
          <a:p>
            <a:pPr indent="0">
              <a:spcAft>
                <a:spcPts val="700"/>
              </a:spcAft>
              <a:buNone/>
            </a:pPr>
            <a:r>
              <a:rPr lang="vi-VN" sz="2800" b="1">
                <a:solidFill>
                  <a:srgbClr val="176E68"/>
                </a:solidFill>
                <a:latin typeface="Segoe UI" panose="020B0502040204020203" charset="0"/>
                <a:cs typeface="Segoe UI" panose="020B0502040204020203" charset="0"/>
              </a:rPr>
              <a:t>Template update</a:t>
            </a:r>
          </a:p>
        </p:txBody>
      </p:sp>
      <p:sp>
        <p:nvSpPr>
          <p:cNvPr id="8" name="Text Box 7"/>
          <p:cNvSpPr txBox="1"/>
          <p:nvPr/>
        </p:nvSpPr>
        <p:spPr>
          <a:xfrm>
            <a:off x="584200" y="3225800"/>
            <a:ext cx="4991100" cy="276860"/>
          </a:xfrm>
          <a:prstGeom prst="rect">
            <a:avLst/>
          </a:prstGeom>
          <a:noFill/>
        </p:spPr>
        <p:txBody>
          <a:bodyPr wrap="square" lIns="0" tIns="0" rIns="0" bIns="0" rtlCol="0" anchor="t">
            <a:noAutofit/>
          </a:bodyPr>
          <a:lstStyle/>
          <a:p>
            <a:pPr indent="0">
              <a:spcAft>
                <a:spcPts val="700"/>
              </a:spcAft>
              <a:buNone/>
            </a:pPr>
            <a:r>
              <a:rPr lang="vi-VN" sz="2500">
                <a:solidFill>
                  <a:srgbClr val="172F3C"/>
                </a:solidFill>
                <a:latin typeface="Segoe UI" panose="020B0502040204020203" charset="0"/>
                <a:cs typeface="Segoe UI" panose="020B0502040204020203" charset="0"/>
              </a:rPr>
              <a:t>Nhiều quan sát trusted, chất lượng cao
Tạo centroid và đánh giá holdout riêng
Version mới, giữ template trước</a:t>
            </a:r>
          </a:p>
        </p:txBody>
      </p:sp>
      <p:sp>
        <p:nvSpPr>
          <p:cNvPr id="9" name="Text Box 8"/>
          <p:cNvSpPr txBox="1"/>
          <p:nvPr/>
        </p:nvSpPr>
        <p:spPr>
          <a:xfrm>
            <a:off x="6464300" y="2146300"/>
            <a:ext cx="5067300" cy="276860"/>
          </a:xfrm>
          <a:prstGeom prst="rect">
            <a:avLst/>
          </a:prstGeom>
          <a:noFill/>
        </p:spPr>
        <p:txBody>
          <a:bodyPr wrap="square" lIns="0" tIns="0" rIns="0" bIns="0" rtlCol="0" anchor="t">
            <a:noAutofit/>
          </a:bodyPr>
          <a:lstStyle/>
          <a:p>
            <a:pPr indent="0">
              <a:spcAft>
                <a:spcPts val="700"/>
              </a:spcAft>
              <a:buNone/>
            </a:pPr>
            <a:r>
              <a:rPr lang="vi-VN" sz="2800" b="1">
                <a:solidFill>
                  <a:srgbClr val="176E68"/>
                </a:solidFill>
                <a:latin typeface="Segoe UI" panose="020B0502040204020203" charset="0"/>
                <a:cs typeface="Segoe UI" panose="020B0502040204020203" charset="0"/>
              </a:rPr>
              <a:t>Threshold retrain</a:t>
            </a:r>
          </a:p>
        </p:txBody>
      </p:sp>
      <p:sp>
        <p:nvSpPr>
          <p:cNvPr id="10" name="Text Box 9"/>
          <p:cNvSpPr txBox="1"/>
          <p:nvPr/>
        </p:nvSpPr>
        <p:spPr>
          <a:xfrm>
            <a:off x="6464300" y="3225800"/>
            <a:ext cx="4991100" cy="276860"/>
          </a:xfrm>
          <a:prstGeom prst="rect">
            <a:avLst/>
          </a:prstGeom>
          <a:noFill/>
        </p:spPr>
        <p:txBody>
          <a:bodyPr wrap="square" lIns="0" tIns="0" rIns="0" bIns="0" rtlCol="0" anchor="t">
            <a:noAutofit/>
          </a:bodyPr>
          <a:lstStyle/>
          <a:p>
            <a:pPr indent="0">
              <a:spcAft>
                <a:spcPts val="700"/>
              </a:spcAft>
              <a:buNone/>
            </a:pPr>
            <a:r>
              <a:rPr lang="vi-VN" sz="2500">
                <a:solidFill>
                  <a:srgbClr val="172F3C"/>
                </a:solidFill>
                <a:latin typeface="Segoe UI" panose="020B0502040204020203" charset="0"/>
                <a:cs typeface="Segoe UI" panose="020B0502040204020203" charset="0"/>
              </a:rPr>
              <a:t>Airflow nhận intent theo modality
Snapshot cố định, identity CV / holdout
Candidate phải so với champion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4ED"/>
        </a:solidFill>
        <a:effectLst/>
      </p:bgPr>
    </p:bg>
    <p:spTree>
      <p:nvGrpSpPr>
        <p:cNvPr id="1" name=""/>
        <p:cNvGrpSpPr/>
        <p:nvPr/>
      </p:nvGrpSpPr>
      <p:grpSpPr>
        <a:xfrm>
          <a:off x="0" y="0"/>
          <a:ext cx="0" cy="0"/>
          <a:chOff x="0" y="0"/>
          <a:chExt cx="0" cy="0"/>
        </a:xfrm>
      </p:grpSpPr>
      <p:sp>
        <p:nvSpPr>
          <p:cNvPr id="2" name="Rectangle 1"/>
          <p:cNvSpPr/>
          <p:nvPr/>
        </p:nvSpPr>
        <p:spPr>
          <a:xfrm>
            <a:off x="584200" y="317500"/>
            <a:ext cx="660400" cy="63500"/>
          </a:xfrm>
          <a:prstGeom prst="rect">
            <a:avLst/>
          </a:prstGeom>
          <a:solidFill>
            <a:srgbClr val="BB542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3" name="Text Box 2"/>
          <p:cNvSpPr txBox="1"/>
          <p:nvPr/>
        </p:nvSpPr>
        <p:spPr>
          <a:xfrm>
            <a:off x="584200" y="546100"/>
            <a:ext cx="11023600" cy="276860"/>
          </a:xfrm>
          <a:prstGeom prst="rect">
            <a:avLst/>
          </a:prstGeom>
          <a:noFill/>
        </p:spPr>
        <p:txBody>
          <a:bodyPr wrap="square" lIns="0" tIns="0" rIns="0" bIns="0" rtlCol="0" anchor="t">
            <a:noAutofit/>
          </a:bodyPr>
          <a:lstStyle/>
          <a:p>
            <a:pPr indent="0">
              <a:spcAft>
                <a:spcPts val="700"/>
              </a:spcAft>
              <a:buNone/>
            </a:pPr>
            <a:r>
              <a:rPr lang="vi-VN" sz="2800" b="1">
                <a:solidFill>
                  <a:srgbClr val="172F3C"/>
                </a:solidFill>
                <a:latin typeface="Segoe UI" panose="020B0502040204020203" charset="0"/>
                <a:cs typeface="Segoe UI" panose="020B0502040204020203" charset="0"/>
              </a:rPr>
              <a:t>MODEL MỚI PHẢI VƯỢT QUA CẢ OFFLINE VÀ TRAFFIC GATE</a:t>
            </a:r>
          </a:p>
        </p:txBody>
      </p:sp>
      <p:sp>
        <p:nvSpPr>
          <p:cNvPr id="4" name="Text Box 3"/>
          <p:cNvSpPr txBox="1"/>
          <p:nvPr/>
        </p:nvSpPr>
        <p:spPr>
          <a:xfrm>
            <a:off x="11404600" y="6477000"/>
            <a:ext cx="330200" cy="276860"/>
          </a:xfrm>
          <a:prstGeom prst="rect">
            <a:avLst/>
          </a:prstGeom>
          <a:noFill/>
        </p:spPr>
        <p:txBody>
          <a:bodyPr wrap="square" lIns="0" tIns="0" rIns="0" bIns="0" rtlCol="0" anchor="t">
            <a:noAutofit/>
          </a:bodyPr>
          <a:lstStyle/>
          <a:p>
            <a:pPr indent="0">
              <a:spcAft>
                <a:spcPts val="700"/>
              </a:spcAft>
              <a:buNone/>
            </a:pPr>
            <a:r>
              <a:rPr lang="vi-VN" sz="1000">
                <a:solidFill>
                  <a:srgbClr val="526673"/>
                </a:solidFill>
                <a:latin typeface="Segoe UI" panose="020B0502040204020203" charset="0"/>
                <a:cs typeface="Segoe UI" panose="020B0502040204020203" charset="0"/>
              </a:rPr>
              <a:t>14</a:t>
            </a:r>
          </a:p>
        </p:txBody>
      </p:sp>
      <p:sp>
        <p:nvSpPr>
          <p:cNvPr id="5" name="Text Box 4"/>
          <p:cNvSpPr txBox="1"/>
          <p:nvPr/>
        </p:nvSpPr>
        <p:spPr>
          <a:xfrm>
            <a:off x="584200" y="6121400"/>
            <a:ext cx="10541000" cy="276860"/>
          </a:xfrm>
          <a:prstGeom prst="rect">
            <a:avLst/>
          </a:prstGeom>
          <a:noFill/>
        </p:spPr>
        <p:txBody>
          <a:bodyPr wrap="square" lIns="0" tIns="0" rIns="0" bIns="0" rtlCol="0" anchor="t">
            <a:noAutofit/>
          </a:bodyPr>
          <a:lstStyle/>
          <a:p>
            <a:pPr indent="0">
              <a:spcAft>
                <a:spcPts val="700"/>
              </a:spcAft>
              <a:buNone/>
            </a:pPr>
            <a:r>
              <a:rPr lang="vi-VN" sz="1200">
                <a:solidFill>
                  <a:srgbClr val="526673"/>
                </a:solidFill>
                <a:latin typeface="Segoe UI" panose="020B0502040204020203" charset="0"/>
                <a:cs typeface="Segoe UI" panose="020B0502040204020203" charset="0"/>
              </a:rPr>
              <a:t>Face và Voice có model name, alias, lifecycle state và routing độc lập</a:t>
            </a:r>
          </a:p>
        </p:txBody>
      </p:sp>
      <p:sp>
        <p:nvSpPr>
          <p:cNvPr id="6" name="Text Box 5"/>
          <p:cNvSpPr txBox="1"/>
          <p:nvPr/>
        </p:nvSpPr>
        <p:spPr>
          <a:xfrm>
            <a:off x="584200" y="2349500"/>
            <a:ext cx="1739900" cy="276860"/>
          </a:xfrm>
          <a:prstGeom prst="rect">
            <a:avLst/>
          </a:prstGeom>
          <a:noFill/>
        </p:spPr>
        <p:txBody>
          <a:bodyPr wrap="square" lIns="0" tIns="0" rIns="0" bIns="0" rtlCol="0" anchor="t">
            <a:noAutofit/>
          </a:bodyPr>
          <a:lstStyle/>
          <a:p>
            <a:pPr indent="0">
              <a:spcAft>
                <a:spcPts val="700"/>
              </a:spcAft>
              <a:buNone/>
            </a:pPr>
            <a:r>
              <a:rPr lang="vi-VN" sz="2200" b="1">
                <a:solidFill>
                  <a:srgbClr val="176E68"/>
                </a:solidFill>
                <a:latin typeface="Segoe UI" panose="020B0502040204020203" charset="0"/>
                <a:cs typeface="Segoe UI" panose="020B0502040204020203" charset="0"/>
              </a:rPr>
              <a:t>Candidate</a:t>
            </a:r>
          </a:p>
        </p:txBody>
      </p:sp>
      <p:sp>
        <p:nvSpPr>
          <p:cNvPr id="7" name="Rectangle 6"/>
          <p:cNvSpPr/>
          <p:nvPr/>
        </p:nvSpPr>
        <p:spPr>
          <a:xfrm>
            <a:off x="584200" y="3225800"/>
            <a:ext cx="1587500" cy="63500"/>
          </a:xfrm>
          <a:prstGeom prst="rect">
            <a:avLst/>
          </a:prstGeom>
          <a:solidFill>
            <a:srgbClr val="176E68"/>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8" name="Text Box 7"/>
          <p:cNvSpPr txBox="1"/>
          <p:nvPr/>
        </p:nvSpPr>
        <p:spPr>
          <a:xfrm>
            <a:off x="584200" y="3581400"/>
            <a:ext cx="1689100" cy="276860"/>
          </a:xfrm>
          <a:prstGeom prst="rect">
            <a:avLst/>
          </a:prstGeom>
          <a:noFill/>
        </p:spPr>
        <p:txBody>
          <a:bodyPr wrap="square" lIns="0" tIns="0" rIns="0" bIns="0" rtlCol="0" anchor="t">
            <a:noAutofit/>
          </a:bodyPr>
          <a:lstStyle/>
          <a:p>
            <a:pPr indent="0">
              <a:spcAft>
                <a:spcPts val="700"/>
              </a:spcAft>
              <a:buNone/>
            </a:pPr>
            <a:r>
              <a:rPr lang="vi-VN" sz="1900">
                <a:solidFill>
                  <a:srgbClr val="172F3C"/>
                </a:solidFill>
                <a:latin typeface="Segoe UI" panose="020B0502040204020203" charset="0"/>
                <a:cs typeface="Segoe UI" panose="020B0502040204020203" charset="0"/>
              </a:rPr>
              <a:t>Hiệu chỉnh ngưỡng</a:t>
            </a:r>
          </a:p>
        </p:txBody>
      </p:sp>
      <p:cxnSp>
        <p:nvCxnSpPr>
          <p:cNvPr id="9" name="Straight Connector 8"/>
          <p:cNvCxnSpPr/>
          <p:nvPr/>
        </p:nvCxnSpPr>
        <p:spPr>
          <a:xfrm>
            <a:off x="2171700" y="3251200"/>
            <a:ext cx="203200" cy="635"/>
          </a:xfrm>
          <a:prstGeom prst="line">
            <a:avLst/>
          </a:prstGeom>
          <a:ln w="25400">
            <a:solidFill>
              <a:srgbClr val="176E68"/>
            </a:solidFill>
            <a:tailEnd type="arrow"/>
          </a:ln>
        </p:spPr>
        <p:style>
          <a:lnRef idx="2">
            <a:schemeClr val="accent1"/>
          </a:lnRef>
          <a:fillRef idx="0">
            <a:srgbClr val="FFFFFF"/>
          </a:fillRef>
          <a:effectRef idx="0">
            <a:srgbClr val="FFFFFF"/>
          </a:effectRef>
          <a:fontRef idx="minor">
            <a:schemeClr val="tx1"/>
          </a:fontRef>
        </p:style>
      </p:cxnSp>
      <p:sp>
        <p:nvSpPr>
          <p:cNvPr id="10" name="Text Box 9"/>
          <p:cNvSpPr txBox="1"/>
          <p:nvPr/>
        </p:nvSpPr>
        <p:spPr>
          <a:xfrm>
            <a:off x="2451100" y="2349500"/>
            <a:ext cx="1739900" cy="276860"/>
          </a:xfrm>
          <a:prstGeom prst="rect">
            <a:avLst/>
          </a:prstGeom>
          <a:noFill/>
        </p:spPr>
        <p:txBody>
          <a:bodyPr wrap="square" lIns="0" tIns="0" rIns="0" bIns="0" rtlCol="0" anchor="t">
            <a:noAutofit/>
          </a:bodyPr>
          <a:lstStyle/>
          <a:p>
            <a:pPr indent="0">
              <a:spcAft>
                <a:spcPts val="700"/>
              </a:spcAft>
              <a:buNone/>
            </a:pPr>
            <a:r>
              <a:rPr lang="vi-VN" sz="2200" b="1">
                <a:solidFill>
                  <a:srgbClr val="176E68"/>
                </a:solidFill>
                <a:latin typeface="Segoe UI" panose="020B0502040204020203" charset="0"/>
                <a:cs typeface="Segoe UI" panose="020B0502040204020203" charset="0"/>
              </a:rPr>
              <a:t>Offline</a:t>
            </a:r>
          </a:p>
        </p:txBody>
      </p:sp>
      <p:sp>
        <p:nvSpPr>
          <p:cNvPr id="11" name="Rectangle 10"/>
          <p:cNvSpPr/>
          <p:nvPr/>
        </p:nvSpPr>
        <p:spPr>
          <a:xfrm>
            <a:off x="2451100" y="3225800"/>
            <a:ext cx="1587500" cy="63500"/>
          </a:xfrm>
          <a:prstGeom prst="rect">
            <a:avLst/>
          </a:prstGeom>
          <a:solidFill>
            <a:srgbClr val="176E68"/>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2" name="Text Box 11"/>
          <p:cNvSpPr txBox="1"/>
          <p:nvPr/>
        </p:nvSpPr>
        <p:spPr>
          <a:xfrm>
            <a:off x="2451100" y="3581400"/>
            <a:ext cx="1689100" cy="276860"/>
          </a:xfrm>
          <a:prstGeom prst="rect">
            <a:avLst/>
          </a:prstGeom>
          <a:noFill/>
        </p:spPr>
        <p:txBody>
          <a:bodyPr wrap="square" lIns="0" tIns="0" rIns="0" bIns="0" rtlCol="0" anchor="t">
            <a:noAutofit/>
          </a:bodyPr>
          <a:lstStyle/>
          <a:p>
            <a:pPr indent="0">
              <a:spcAft>
                <a:spcPts val="700"/>
              </a:spcAft>
              <a:buNone/>
            </a:pPr>
            <a:r>
              <a:rPr lang="vi-VN" sz="1900">
                <a:solidFill>
                  <a:srgbClr val="172F3C"/>
                </a:solidFill>
                <a:latin typeface="Segoe UI" panose="020B0502040204020203" charset="0"/>
                <a:cs typeface="Segoe UI" panose="020B0502040204020203" charset="0"/>
              </a:rPr>
              <a:t>Cùng holdout</a:t>
            </a:r>
          </a:p>
        </p:txBody>
      </p:sp>
      <p:cxnSp>
        <p:nvCxnSpPr>
          <p:cNvPr id="13" name="Straight Connector 12"/>
          <p:cNvCxnSpPr/>
          <p:nvPr/>
        </p:nvCxnSpPr>
        <p:spPr>
          <a:xfrm>
            <a:off x="4038600" y="3251200"/>
            <a:ext cx="203200" cy="635"/>
          </a:xfrm>
          <a:prstGeom prst="line">
            <a:avLst/>
          </a:prstGeom>
          <a:ln w="25400">
            <a:solidFill>
              <a:srgbClr val="176E68"/>
            </a:solidFill>
            <a:tailEnd type="arrow"/>
          </a:ln>
        </p:spPr>
        <p:style>
          <a:lnRef idx="2">
            <a:schemeClr val="accent1"/>
          </a:lnRef>
          <a:fillRef idx="0">
            <a:srgbClr val="FFFFFF"/>
          </a:fillRef>
          <a:effectRef idx="0">
            <a:srgbClr val="FFFFFF"/>
          </a:effectRef>
          <a:fontRef idx="minor">
            <a:schemeClr val="tx1"/>
          </a:fontRef>
        </p:style>
      </p:cxnSp>
      <p:sp>
        <p:nvSpPr>
          <p:cNvPr id="14" name="Text Box 13"/>
          <p:cNvSpPr txBox="1"/>
          <p:nvPr/>
        </p:nvSpPr>
        <p:spPr>
          <a:xfrm>
            <a:off x="4318000" y="2349500"/>
            <a:ext cx="1739900" cy="276860"/>
          </a:xfrm>
          <a:prstGeom prst="rect">
            <a:avLst/>
          </a:prstGeom>
          <a:noFill/>
        </p:spPr>
        <p:txBody>
          <a:bodyPr wrap="square" lIns="0" tIns="0" rIns="0" bIns="0" rtlCol="0" anchor="t">
            <a:noAutofit/>
          </a:bodyPr>
          <a:lstStyle/>
          <a:p>
            <a:pPr indent="0">
              <a:spcAft>
                <a:spcPts val="700"/>
              </a:spcAft>
              <a:buNone/>
            </a:pPr>
            <a:r>
              <a:rPr lang="vi-VN" sz="2200" b="1">
                <a:solidFill>
                  <a:srgbClr val="176E68"/>
                </a:solidFill>
                <a:latin typeface="Segoe UI" panose="020B0502040204020203" charset="0"/>
                <a:cs typeface="Segoe UI" panose="020B0502040204020203" charset="0"/>
              </a:rPr>
              <a:t>Challenger</a:t>
            </a:r>
          </a:p>
        </p:txBody>
      </p:sp>
      <p:sp>
        <p:nvSpPr>
          <p:cNvPr id="15" name="Rectangle 14"/>
          <p:cNvSpPr/>
          <p:nvPr/>
        </p:nvSpPr>
        <p:spPr>
          <a:xfrm>
            <a:off x="4318000" y="3225800"/>
            <a:ext cx="1587500" cy="63500"/>
          </a:xfrm>
          <a:prstGeom prst="rect">
            <a:avLst/>
          </a:prstGeom>
          <a:solidFill>
            <a:srgbClr val="176E68"/>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6" name="Text Box 15"/>
          <p:cNvSpPr txBox="1"/>
          <p:nvPr/>
        </p:nvSpPr>
        <p:spPr>
          <a:xfrm>
            <a:off x="4318000" y="3581400"/>
            <a:ext cx="1689100" cy="276860"/>
          </a:xfrm>
          <a:prstGeom prst="rect">
            <a:avLst/>
          </a:prstGeom>
          <a:noFill/>
        </p:spPr>
        <p:txBody>
          <a:bodyPr wrap="square" lIns="0" tIns="0" rIns="0" bIns="0" rtlCol="0" anchor="t">
            <a:noAutofit/>
          </a:bodyPr>
          <a:lstStyle/>
          <a:p>
            <a:pPr indent="0">
              <a:spcAft>
                <a:spcPts val="700"/>
              </a:spcAft>
              <a:buNone/>
            </a:pPr>
            <a:r>
              <a:rPr lang="vi-VN" sz="1900">
                <a:solidFill>
                  <a:srgbClr val="172F3C"/>
                </a:solidFill>
                <a:latin typeface="Segoe UI" panose="020B0502040204020203" charset="0"/>
                <a:cs typeface="Segoe UI" panose="020B0502040204020203" charset="0"/>
              </a:rPr>
              <a:t>Đủ điều kiện thử</a:t>
            </a:r>
          </a:p>
        </p:txBody>
      </p:sp>
      <p:cxnSp>
        <p:nvCxnSpPr>
          <p:cNvPr id="17" name="Straight Connector 16"/>
          <p:cNvCxnSpPr/>
          <p:nvPr/>
        </p:nvCxnSpPr>
        <p:spPr>
          <a:xfrm>
            <a:off x="5905500" y="3251200"/>
            <a:ext cx="203200" cy="635"/>
          </a:xfrm>
          <a:prstGeom prst="line">
            <a:avLst/>
          </a:prstGeom>
          <a:ln w="25400">
            <a:solidFill>
              <a:srgbClr val="176E68"/>
            </a:solidFill>
            <a:tailEnd type="arrow"/>
          </a:ln>
        </p:spPr>
        <p:style>
          <a:lnRef idx="2">
            <a:schemeClr val="accent1"/>
          </a:lnRef>
          <a:fillRef idx="0">
            <a:srgbClr val="FFFFFF"/>
          </a:fillRef>
          <a:effectRef idx="0">
            <a:srgbClr val="FFFFFF"/>
          </a:effectRef>
          <a:fontRef idx="minor">
            <a:schemeClr val="tx1"/>
          </a:fontRef>
        </p:style>
      </p:cxnSp>
      <p:sp>
        <p:nvSpPr>
          <p:cNvPr id="18" name="Text Box 17"/>
          <p:cNvSpPr txBox="1"/>
          <p:nvPr/>
        </p:nvSpPr>
        <p:spPr>
          <a:xfrm>
            <a:off x="6184900" y="2349500"/>
            <a:ext cx="1739900" cy="276860"/>
          </a:xfrm>
          <a:prstGeom prst="rect">
            <a:avLst/>
          </a:prstGeom>
          <a:noFill/>
        </p:spPr>
        <p:txBody>
          <a:bodyPr wrap="square" lIns="0" tIns="0" rIns="0" bIns="0" rtlCol="0" anchor="t">
            <a:noAutofit/>
          </a:bodyPr>
          <a:lstStyle/>
          <a:p>
            <a:pPr indent="0">
              <a:spcAft>
                <a:spcPts val="700"/>
              </a:spcAft>
              <a:buNone/>
            </a:pPr>
            <a:r>
              <a:rPr lang="vi-VN" sz="2200" b="1">
                <a:solidFill>
                  <a:srgbClr val="176E68"/>
                </a:solidFill>
                <a:latin typeface="Segoe UI" panose="020B0502040204020203" charset="0"/>
                <a:cs typeface="Segoe UI" panose="020B0502040204020203" charset="0"/>
              </a:rPr>
              <a:t>Shadow</a:t>
            </a:r>
          </a:p>
        </p:txBody>
      </p:sp>
      <p:sp>
        <p:nvSpPr>
          <p:cNvPr id="19" name="Rectangle 18"/>
          <p:cNvSpPr/>
          <p:nvPr/>
        </p:nvSpPr>
        <p:spPr>
          <a:xfrm>
            <a:off x="6184900" y="3225800"/>
            <a:ext cx="1587500" cy="63500"/>
          </a:xfrm>
          <a:prstGeom prst="rect">
            <a:avLst/>
          </a:prstGeom>
          <a:solidFill>
            <a:srgbClr val="176E68"/>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20" name="Text Box 19"/>
          <p:cNvSpPr txBox="1"/>
          <p:nvPr/>
        </p:nvSpPr>
        <p:spPr>
          <a:xfrm>
            <a:off x="6184900" y="3581400"/>
            <a:ext cx="1689100" cy="276860"/>
          </a:xfrm>
          <a:prstGeom prst="rect">
            <a:avLst/>
          </a:prstGeom>
          <a:noFill/>
        </p:spPr>
        <p:txBody>
          <a:bodyPr wrap="square" lIns="0" tIns="0" rIns="0" bIns="0" rtlCol="0" anchor="t">
            <a:noAutofit/>
          </a:bodyPr>
          <a:lstStyle/>
          <a:p>
            <a:pPr indent="0">
              <a:spcAft>
                <a:spcPts val="700"/>
              </a:spcAft>
              <a:buNone/>
            </a:pPr>
            <a:r>
              <a:rPr lang="vi-VN" sz="1900">
                <a:solidFill>
                  <a:srgbClr val="172F3C"/>
                </a:solidFill>
                <a:latin typeface="Segoe UI" panose="020B0502040204020203" charset="0"/>
                <a:cs typeface="Segoe UI" panose="020B0502040204020203" charset="0"/>
              </a:rPr>
              <a:t>Champion trả lời</a:t>
            </a:r>
          </a:p>
        </p:txBody>
      </p:sp>
      <p:cxnSp>
        <p:nvCxnSpPr>
          <p:cNvPr id="21" name="Straight Connector 20"/>
          <p:cNvCxnSpPr/>
          <p:nvPr/>
        </p:nvCxnSpPr>
        <p:spPr>
          <a:xfrm>
            <a:off x="7772400" y="3251200"/>
            <a:ext cx="203200" cy="635"/>
          </a:xfrm>
          <a:prstGeom prst="line">
            <a:avLst/>
          </a:prstGeom>
          <a:ln w="25400">
            <a:solidFill>
              <a:srgbClr val="176E68"/>
            </a:solidFill>
            <a:tailEnd type="arrow"/>
          </a:ln>
        </p:spPr>
        <p:style>
          <a:lnRef idx="2">
            <a:schemeClr val="accent1"/>
          </a:lnRef>
          <a:fillRef idx="0">
            <a:srgbClr val="FFFFFF"/>
          </a:fillRef>
          <a:effectRef idx="0">
            <a:srgbClr val="FFFFFF"/>
          </a:effectRef>
          <a:fontRef idx="minor">
            <a:schemeClr val="tx1"/>
          </a:fontRef>
        </p:style>
      </p:cxnSp>
      <p:sp>
        <p:nvSpPr>
          <p:cNvPr id="22" name="Text Box 21"/>
          <p:cNvSpPr txBox="1"/>
          <p:nvPr/>
        </p:nvSpPr>
        <p:spPr>
          <a:xfrm>
            <a:off x="8051800" y="2349500"/>
            <a:ext cx="1739900" cy="276860"/>
          </a:xfrm>
          <a:prstGeom prst="rect">
            <a:avLst/>
          </a:prstGeom>
          <a:noFill/>
        </p:spPr>
        <p:txBody>
          <a:bodyPr wrap="square" lIns="0" tIns="0" rIns="0" bIns="0" rtlCol="0" anchor="t">
            <a:noAutofit/>
          </a:bodyPr>
          <a:lstStyle/>
          <a:p>
            <a:pPr indent="0">
              <a:spcAft>
                <a:spcPts val="700"/>
              </a:spcAft>
              <a:buNone/>
            </a:pPr>
            <a:r>
              <a:rPr lang="vi-VN" sz="2200" b="1">
                <a:solidFill>
                  <a:srgbClr val="176E68"/>
                </a:solidFill>
                <a:latin typeface="Segoe UI" panose="020B0502040204020203" charset="0"/>
                <a:cs typeface="Segoe UI" panose="020B0502040204020203" charset="0"/>
              </a:rPr>
              <a:t>Canary</a:t>
            </a:r>
          </a:p>
        </p:txBody>
      </p:sp>
      <p:sp>
        <p:nvSpPr>
          <p:cNvPr id="23" name="Rectangle 22"/>
          <p:cNvSpPr/>
          <p:nvPr/>
        </p:nvSpPr>
        <p:spPr>
          <a:xfrm>
            <a:off x="8051800" y="3225800"/>
            <a:ext cx="1587500" cy="63500"/>
          </a:xfrm>
          <a:prstGeom prst="rect">
            <a:avLst/>
          </a:prstGeom>
          <a:solidFill>
            <a:srgbClr val="176E68"/>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24" name="Text Box 23"/>
          <p:cNvSpPr txBox="1"/>
          <p:nvPr/>
        </p:nvSpPr>
        <p:spPr>
          <a:xfrm>
            <a:off x="8051800" y="3581400"/>
            <a:ext cx="1689100" cy="276860"/>
          </a:xfrm>
          <a:prstGeom prst="rect">
            <a:avLst/>
          </a:prstGeom>
          <a:noFill/>
        </p:spPr>
        <p:txBody>
          <a:bodyPr wrap="square" lIns="0" tIns="0" rIns="0" bIns="0" rtlCol="0" anchor="t">
            <a:noAutofit/>
          </a:bodyPr>
          <a:lstStyle/>
          <a:p>
            <a:pPr indent="0">
              <a:spcAft>
                <a:spcPts val="700"/>
              </a:spcAft>
              <a:buNone/>
            </a:pPr>
            <a:r>
              <a:rPr lang="vi-VN" sz="1900">
                <a:solidFill>
                  <a:srgbClr val="172F3C"/>
                </a:solidFill>
                <a:latin typeface="Segoe UI" panose="020B0502040204020203" charset="0"/>
                <a:cs typeface="Segoe UI" panose="020B0502040204020203" charset="0"/>
              </a:rPr>
              <a:t>Traffic tăng dần</a:t>
            </a:r>
          </a:p>
        </p:txBody>
      </p:sp>
      <p:cxnSp>
        <p:nvCxnSpPr>
          <p:cNvPr id="25" name="Straight Connector 24"/>
          <p:cNvCxnSpPr/>
          <p:nvPr/>
        </p:nvCxnSpPr>
        <p:spPr>
          <a:xfrm>
            <a:off x="9639300" y="3251200"/>
            <a:ext cx="203200" cy="635"/>
          </a:xfrm>
          <a:prstGeom prst="line">
            <a:avLst/>
          </a:prstGeom>
          <a:ln w="25400">
            <a:solidFill>
              <a:srgbClr val="176E68"/>
            </a:solidFill>
            <a:tailEnd type="arrow"/>
          </a:ln>
        </p:spPr>
        <p:style>
          <a:lnRef idx="2">
            <a:schemeClr val="accent1"/>
          </a:lnRef>
          <a:fillRef idx="0">
            <a:srgbClr val="FFFFFF"/>
          </a:fillRef>
          <a:effectRef idx="0">
            <a:srgbClr val="FFFFFF"/>
          </a:effectRef>
          <a:fontRef idx="minor">
            <a:schemeClr val="tx1"/>
          </a:fontRef>
        </p:style>
      </p:cxnSp>
      <p:sp>
        <p:nvSpPr>
          <p:cNvPr id="26" name="Text Box 25"/>
          <p:cNvSpPr txBox="1"/>
          <p:nvPr/>
        </p:nvSpPr>
        <p:spPr>
          <a:xfrm>
            <a:off x="9918700" y="2349500"/>
            <a:ext cx="1739900" cy="276860"/>
          </a:xfrm>
          <a:prstGeom prst="rect">
            <a:avLst/>
          </a:prstGeom>
          <a:noFill/>
        </p:spPr>
        <p:txBody>
          <a:bodyPr wrap="square" lIns="0" tIns="0" rIns="0" bIns="0" rtlCol="0" anchor="t">
            <a:noAutofit/>
          </a:bodyPr>
          <a:lstStyle/>
          <a:p>
            <a:pPr indent="0">
              <a:spcAft>
                <a:spcPts val="700"/>
              </a:spcAft>
              <a:buNone/>
            </a:pPr>
            <a:r>
              <a:rPr lang="vi-VN" sz="2200" b="1">
                <a:solidFill>
                  <a:srgbClr val="176E68"/>
                </a:solidFill>
                <a:latin typeface="Segoe UI" panose="020B0502040204020203" charset="0"/>
                <a:cs typeface="Segoe UI" panose="020B0502040204020203" charset="0"/>
              </a:rPr>
              <a:t>Champion</a:t>
            </a:r>
          </a:p>
        </p:txBody>
      </p:sp>
      <p:sp>
        <p:nvSpPr>
          <p:cNvPr id="27" name="Rectangle 26"/>
          <p:cNvSpPr/>
          <p:nvPr/>
        </p:nvSpPr>
        <p:spPr>
          <a:xfrm>
            <a:off x="9918700" y="3225800"/>
            <a:ext cx="1587500" cy="63500"/>
          </a:xfrm>
          <a:prstGeom prst="rect">
            <a:avLst/>
          </a:prstGeom>
          <a:solidFill>
            <a:srgbClr val="176E68"/>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28" name="Text Box 27"/>
          <p:cNvSpPr txBox="1"/>
          <p:nvPr/>
        </p:nvSpPr>
        <p:spPr>
          <a:xfrm>
            <a:off x="9918700" y="3581400"/>
            <a:ext cx="1689100" cy="276860"/>
          </a:xfrm>
          <a:prstGeom prst="rect">
            <a:avLst/>
          </a:prstGeom>
          <a:noFill/>
        </p:spPr>
        <p:txBody>
          <a:bodyPr wrap="square" lIns="0" tIns="0" rIns="0" bIns="0" rtlCol="0" anchor="t">
            <a:noAutofit/>
          </a:bodyPr>
          <a:lstStyle/>
          <a:p>
            <a:pPr indent="0">
              <a:spcAft>
                <a:spcPts val="700"/>
              </a:spcAft>
              <a:buNone/>
            </a:pPr>
            <a:r>
              <a:rPr lang="vi-VN" sz="1900">
                <a:solidFill>
                  <a:srgbClr val="172F3C"/>
                </a:solidFill>
                <a:latin typeface="Segoe UI" panose="020B0502040204020203" charset="0"/>
                <a:cs typeface="Segoe UI" panose="020B0502040204020203" charset="0"/>
              </a:rPr>
              <a:t>Giữ bản trước</a:t>
            </a:r>
          </a:p>
        </p:txBody>
      </p:sp>
      <p:sp>
        <p:nvSpPr>
          <p:cNvPr id="29" name="Rectangle 28"/>
          <p:cNvSpPr/>
          <p:nvPr/>
        </p:nvSpPr>
        <p:spPr>
          <a:xfrm>
            <a:off x="584200" y="4978400"/>
            <a:ext cx="11023600" cy="698500"/>
          </a:xfrm>
          <a:prstGeom prst="rect">
            <a:avLst/>
          </a:prstGeom>
          <a:solidFill>
            <a:srgbClr val="F2DFD1"/>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30" name="Text Box 29"/>
          <p:cNvSpPr txBox="1"/>
          <p:nvPr/>
        </p:nvSpPr>
        <p:spPr>
          <a:xfrm>
            <a:off x="787400" y="5105400"/>
            <a:ext cx="10617200" cy="276860"/>
          </a:xfrm>
          <a:prstGeom prst="rect">
            <a:avLst/>
          </a:prstGeom>
          <a:noFill/>
        </p:spPr>
        <p:txBody>
          <a:bodyPr wrap="square" lIns="0" tIns="0" rIns="0" bIns="0" rtlCol="0" anchor="t">
            <a:noAutofit/>
          </a:bodyPr>
          <a:lstStyle/>
          <a:p>
            <a:pPr indent="0">
              <a:spcAft>
                <a:spcPts val="700"/>
              </a:spcAft>
              <a:buNone/>
            </a:pPr>
            <a:r>
              <a:rPr lang="vi-VN" sz="2300" b="1">
                <a:solidFill>
                  <a:srgbClr val="BB542A"/>
                </a:solidFill>
                <a:latin typeface="Segoe UI" panose="020B0502040204020203" charset="0"/>
                <a:cs typeface="Segoe UI" panose="020B0502040204020203" charset="0"/>
              </a:rPr>
              <a:t>Gate fail: dừng challenger, giữ hoặc phục hồi champion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4ED"/>
        </a:solidFill>
        <a:effectLst/>
      </p:bgPr>
    </p:bg>
    <p:spTree>
      <p:nvGrpSpPr>
        <p:cNvPr id="1" name=""/>
        <p:cNvGrpSpPr/>
        <p:nvPr/>
      </p:nvGrpSpPr>
      <p:grpSpPr>
        <a:xfrm>
          <a:off x="0" y="0"/>
          <a:ext cx="0" cy="0"/>
          <a:chOff x="0" y="0"/>
          <a:chExt cx="0" cy="0"/>
        </a:xfrm>
      </p:grpSpPr>
      <p:sp>
        <p:nvSpPr>
          <p:cNvPr id="2" name="Rectangle 1"/>
          <p:cNvSpPr/>
          <p:nvPr/>
        </p:nvSpPr>
        <p:spPr>
          <a:xfrm>
            <a:off x="584200" y="317500"/>
            <a:ext cx="660400" cy="63500"/>
          </a:xfrm>
          <a:prstGeom prst="rect">
            <a:avLst/>
          </a:prstGeom>
          <a:solidFill>
            <a:srgbClr val="BB542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3" name="Text Box 2"/>
          <p:cNvSpPr txBox="1"/>
          <p:nvPr/>
        </p:nvSpPr>
        <p:spPr>
          <a:xfrm>
            <a:off x="584200" y="546100"/>
            <a:ext cx="11023600" cy="276860"/>
          </a:xfrm>
          <a:prstGeom prst="rect">
            <a:avLst/>
          </a:prstGeom>
          <a:noFill/>
        </p:spPr>
        <p:txBody>
          <a:bodyPr wrap="square" lIns="0" tIns="0" rIns="0" bIns="0" rtlCol="0" anchor="t">
            <a:noAutofit/>
          </a:bodyPr>
          <a:lstStyle/>
          <a:p>
            <a:pPr indent="0">
              <a:spcAft>
                <a:spcPts val="700"/>
              </a:spcAft>
              <a:buNone/>
            </a:pPr>
            <a:r>
              <a:rPr lang="vi-VN" sz="2800" b="1">
                <a:solidFill>
                  <a:srgbClr val="172F3C"/>
                </a:solidFill>
                <a:latin typeface="Segoe UI" panose="020B0502040204020203" charset="0"/>
                <a:cs typeface="Segoe UI" panose="020B0502040204020203" charset="0"/>
              </a:rPr>
              <a:t>MỖI CANARY STAGE ĐỀU CẦN ĐỦ MẪU, THỜI GIAN VÀ NHÃN</a:t>
            </a:r>
          </a:p>
        </p:txBody>
      </p:sp>
      <p:sp>
        <p:nvSpPr>
          <p:cNvPr id="4" name="Text Box 3"/>
          <p:cNvSpPr txBox="1"/>
          <p:nvPr/>
        </p:nvSpPr>
        <p:spPr>
          <a:xfrm>
            <a:off x="11404600" y="6477000"/>
            <a:ext cx="330200" cy="276860"/>
          </a:xfrm>
          <a:prstGeom prst="rect">
            <a:avLst/>
          </a:prstGeom>
          <a:noFill/>
        </p:spPr>
        <p:txBody>
          <a:bodyPr wrap="square" lIns="0" tIns="0" rIns="0" bIns="0" rtlCol="0" anchor="t">
            <a:noAutofit/>
          </a:bodyPr>
          <a:lstStyle/>
          <a:p>
            <a:pPr indent="0">
              <a:spcAft>
                <a:spcPts val="700"/>
              </a:spcAft>
              <a:buNone/>
            </a:pPr>
            <a:r>
              <a:rPr lang="vi-VN" sz="1000">
                <a:solidFill>
                  <a:srgbClr val="526673"/>
                </a:solidFill>
                <a:latin typeface="Segoe UI" panose="020B0502040204020203" charset="0"/>
                <a:cs typeface="Segoe UI" panose="020B0502040204020203" charset="0"/>
              </a:rPr>
              <a:t>15</a:t>
            </a:r>
          </a:p>
        </p:txBody>
      </p:sp>
      <p:sp>
        <p:nvSpPr>
          <p:cNvPr id="5" name="Text Box 4"/>
          <p:cNvSpPr txBox="1"/>
          <p:nvPr/>
        </p:nvSpPr>
        <p:spPr>
          <a:xfrm>
            <a:off x="584200" y="6121400"/>
            <a:ext cx="10541000" cy="276860"/>
          </a:xfrm>
          <a:prstGeom prst="rect">
            <a:avLst/>
          </a:prstGeom>
          <a:noFill/>
        </p:spPr>
        <p:txBody>
          <a:bodyPr wrap="square" lIns="0" tIns="0" rIns="0" bIns="0" rtlCol="0" anchor="t">
            <a:noAutofit/>
          </a:bodyPr>
          <a:lstStyle/>
          <a:p>
            <a:pPr indent="0">
              <a:spcAft>
                <a:spcPts val="700"/>
              </a:spcAft>
              <a:buNone/>
            </a:pPr>
            <a:r>
              <a:rPr lang="vi-VN" sz="1200">
                <a:solidFill>
                  <a:srgbClr val="526673"/>
                </a:solidFill>
                <a:latin typeface="Segoe UI" panose="020B0502040204020203" charset="0"/>
                <a:cs typeface="Segoe UI" panose="020B0502040204020203" charset="0"/>
              </a:rPr>
              <a:t>Đây là cấu hình pilot hiện tại. Simulation dùng cấu hình rút ngắn riêng</a:t>
            </a:r>
          </a:p>
        </p:txBody>
      </p:sp>
      <p:sp>
        <p:nvSpPr>
          <p:cNvPr id="6" name="Text Box 5"/>
          <p:cNvSpPr txBox="1"/>
          <p:nvPr/>
        </p:nvSpPr>
        <p:spPr>
          <a:xfrm>
            <a:off x="584200" y="1905000"/>
            <a:ext cx="11023600" cy="276860"/>
          </a:xfrm>
          <a:prstGeom prst="rect">
            <a:avLst/>
          </a:prstGeom>
          <a:noFill/>
        </p:spPr>
        <p:txBody>
          <a:bodyPr wrap="square" lIns="0" tIns="0" rIns="0" bIns="0" rtlCol="0" anchor="t">
            <a:noAutofit/>
          </a:bodyPr>
          <a:lstStyle/>
          <a:p>
            <a:pPr indent="0">
              <a:spcAft>
                <a:spcPts val="700"/>
              </a:spcAft>
              <a:buNone/>
            </a:pPr>
            <a:r>
              <a:rPr lang="vi-VN" sz="4200" b="1">
                <a:solidFill>
                  <a:srgbClr val="176E68"/>
                </a:solidFill>
                <a:latin typeface="Segoe UI" panose="020B0502040204020203" charset="0"/>
                <a:cs typeface="Segoe UI" panose="020B0502040204020203" charset="0"/>
              </a:rPr>
              <a:t>5%     10%     25%     50%     100%</a:t>
            </a:r>
          </a:p>
        </p:txBody>
      </p:sp>
      <p:sp>
        <p:nvSpPr>
          <p:cNvPr id="7" name="Rectangle 6"/>
          <p:cNvSpPr/>
          <p:nvPr/>
        </p:nvSpPr>
        <p:spPr>
          <a:xfrm>
            <a:off x="609600" y="3098800"/>
            <a:ext cx="76200" cy="317500"/>
          </a:xfrm>
          <a:prstGeom prst="rect">
            <a:avLst/>
          </a:prstGeom>
          <a:solidFill>
            <a:srgbClr val="BB542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8" name="Text Box 7"/>
          <p:cNvSpPr txBox="1"/>
          <p:nvPr/>
        </p:nvSpPr>
        <p:spPr>
          <a:xfrm>
            <a:off x="939800" y="3035300"/>
            <a:ext cx="10528300" cy="276860"/>
          </a:xfrm>
          <a:prstGeom prst="rect">
            <a:avLst/>
          </a:prstGeom>
          <a:noFill/>
        </p:spPr>
        <p:txBody>
          <a:bodyPr wrap="square" lIns="0" tIns="0" rIns="0" bIns="0" rtlCol="0" anchor="t">
            <a:noAutofit/>
          </a:bodyPr>
          <a:lstStyle/>
          <a:p>
            <a:pPr indent="0">
              <a:spcAft>
                <a:spcPts val="700"/>
              </a:spcAft>
              <a:buNone/>
            </a:pPr>
            <a:r>
              <a:rPr lang="vi-VN" sz="2400">
                <a:solidFill>
                  <a:srgbClr val="172F3C"/>
                </a:solidFill>
                <a:latin typeface="Segoe UI" panose="020B0502040204020203" charset="0"/>
                <a:cs typeface="Segoe UI" panose="020B0502040204020203" charset="0"/>
              </a:rPr>
              <a:t>FMR ≤ 1% và không tăng so với champion</a:t>
            </a:r>
          </a:p>
        </p:txBody>
      </p:sp>
      <p:sp>
        <p:nvSpPr>
          <p:cNvPr id="9" name="Rectangle 8"/>
          <p:cNvSpPr/>
          <p:nvPr/>
        </p:nvSpPr>
        <p:spPr>
          <a:xfrm>
            <a:off x="609600" y="3771900"/>
            <a:ext cx="76200" cy="317500"/>
          </a:xfrm>
          <a:prstGeom prst="rect">
            <a:avLst/>
          </a:prstGeom>
          <a:solidFill>
            <a:srgbClr val="BB542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0" name="Text Box 9"/>
          <p:cNvSpPr txBox="1"/>
          <p:nvPr/>
        </p:nvSpPr>
        <p:spPr>
          <a:xfrm>
            <a:off x="939800" y="3708400"/>
            <a:ext cx="10528300" cy="276860"/>
          </a:xfrm>
          <a:prstGeom prst="rect">
            <a:avLst/>
          </a:prstGeom>
          <a:noFill/>
        </p:spPr>
        <p:txBody>
          <a:bodyPr wrap="square" lIns="0" tIns="0" rIns="0" bIns="0" rtlCol="0" anchor="t">
            <a:noAutofit/>
          </a:bodyPr>
          <a:lstStyle/>
          <a:p>
            <a:pPr indent="0">
              <a:spcAft>
                <a:spcPts val="700"/>
              </a:spcAft>
              <a:buNone/>
            </a:pPr>
            <a:r>
              <a:rPr lang="vi-VN" sz="2400">
                <a:solidFill>
                  <a:srgbClr val="172F3C"/>
                </a:solidFill>
                <a:latin typeface="Segoe UI" panose="020B0502040204020203" charset="0"/>
                <a:cs typeface="Segoe UI" panose="020B0502040204020203" charset="0"/>
              </a:rPr>
              <a:t>FNMR ≤ 5%, tăng tối đa 0,5 điểm phần trăm</a:t>
            </a:r>
          </a:p>
        </p:txBody>
      </p:sp>
      <p:sp>
        <p:nvSpPr>
          <p:cNvPr id="11" name="Rectangle 10"/>
          <p:cNvSpPr/>
          <p:nvPr/>
        </p:nvSpPr>
        <p:spPr>
          <a:xfrm>
            <a:off x="609600" y="4445000"/>
            <a:ext cx="76200" cy="317500"/>
          </a:xfrm>
          <a:prstGeom prst="rect">
            <a:avLst/>
          </a:prstGeom>
          <a:solidFill>
            <a:srgbClr val="BB542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2" name="Text Box 11"/>
          <p:cNvSpPr txBox="1"/>
          <p:nvPr/>
        </p:nvSpPr>
        <p:spPr>
          <a:xfrm>
            <a:off x="939800" y="4381500"/>
            <a:ext cx="10528300" cy="276860"/>
          </a:xfrm>
          <a:prstGeom prst="rect">
            <a:avLst/>
          </a:prstGeom>
          <a:noFill/>
        </p:spPr>
        <p:txBody>
          <a:bodyPr wrap="square" lIns="0" tIns="0" rIns="0" bIns="0" rtlCol="0" anchor="t">
            <a:noAutofit/>
          </a:bodyPr>
          <a:lstStyle/>
          <a:p>
            <a:pPr indent="0">
              <a:spcAft>
                <a:spcPts val="700"/>
              </a:spcAft>
              <a:buNone/>
            </a:pPr>
            <a:r>
              <a:rPr lang="vi-VN" sz="2400">
                <a:solidFill>
                  <a:srgbClr val="172F3C"/>
                </a:solidFill>
                <a:latin typeface="Segoe UI" panose="020B0502040204020203" charset="0"/>
                <a:cs typeface="Segoe UI" panose="020B0502040204020203" charset="0"/>
              </a:rPr>
              <a:t>Mỗi stage: ≥ 1.000 mẫu và ≥ 3.600 giây</a:t>
            </a:r>
          </a:p>
        </p:txBody>
      </p:sp>
      <p:sp>
        <p:nvSpPr>
          <p:cNvPr id="13" name="Rectangle 12"/>
          <p:cNvSpPr/>
          <p:nvPr/>
        </p:nvSpPr>
        <p:spPr>
          <a:xfrm>
            <a:off x="609600" y="5118100"/>
            <a:ext cx="76200" cy="317500"/>
          </a:xfrm>
          <a:prstGeom prst="rect">
            <a:avLst/>
          </a:prstGeom>
          <a:solidFill>
            <a:srgbClr val="BB542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4" name="Text Box 13"/>
          <p:cNvSpPr txBox="1"/>
          <p:nvPr/>
        </p:nvSpPr>
        <p:spPr>
          <a:xfrm>
            <a:off x="939800" y="5054600"/>
            <a:ext cx="10528300" cy="276860"/>
          </a:xfrm>
          <a:prstGeom prst="rect">
            <a:avLst/>
          </a:prstGeom>
          <a:noFill/>
        </p:spPr>
        <p:txBody>
          <a:bodyPr wrap="square" lIns="0" tIns="0" rIns="0" bIns="0" rtlCol="0" anchor="t">
            <a:noAutofit/>
          </a:bodyPr>
          <a:lstStyle/>
          <a:p>
            <a:pPr indent="0">
              <a:spcAft>
                <a:spcPts val="700"/>
              </a:spcAft>
              <a:buNone/>
            </a:pPr>
            <a:r>
              <a:rPr lang="vi-VN" sz="2400">
                <a:solidFill>
                  <a:srgbClr val="172F3C"/>
                </a:solidFill>
                <a:latin typeface="Segoe UI" panose="020B0502040204020203" charset="0"/>
                <a:cs typeface="Segoe UI" panose="020B0502040204020203" charset="0"/>
              </a:rPr>
              <a:t>Thiếu nhãn: chờ. Gate fail: traffic về champion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4ED"/>
        </a:solidFill>
        <a:effectLst/>
      </p:bgPr>
    </p:bg>
    <p:spTree>
      <p:nvGrpSpPr>
        <p:cNvPr id="1" name=""/>
        <p:cNvGrpSpPr/>
        <p:nvPr/>
      </p:nvGrpSpPr>
      <p:grpSpPr>
        <a:xfrm>
          <a:off x="0" y="0"/>
          <a:ext cx="0" cy="0"/>
          <a:chOff x="0" y="0"/>
          <a:chExt cx="0" cy="0"/>
        </a:xfrm>
      </p:grpSpPr>
      <p:sp>
        <p:nvSpPr>
          <p:cNvPr id="2" name="Rectangle 1"/>
          <p:cNvSpPr/>
          <p:nvPr/>
        </p:nvSpPr>
        <p:spPr>
          <a:xfrm>
            <a:off x="584200" y="317500"/>
            <a:ext cx="660400" cy="63500"/>
          </a:xfrm>
          <a:prstGeom prst="rect">
            <a:avLst/>
          </a:prstGeom>
          <a:solidFill>
            <a:srgbClr val="BB542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3" name="Text Box 2"/>
          <p:cNvSpPr txBox="1"/>
          <p:nvPr/>
        </p:nvSpPr>
        <p:spPr>
          <a:xfrm>
            <a:off x="584200" y="546100"/>
            <a:ext cx="11023600" cy="276860"/>
          </a:xfrm>
          <a:prstGeom prst="rect">
            <a:avLst/>
          </a:prstGeom>
          <a:noFill/>
        </p:spPr>
        <p:txBody>
          <a:bodyPr wrap="square" lIns="0" tIns="0" rIns="0" bIns="0" rtlCol="0" anchor="t">
            <a:noAutofit/>
          </a:bodyPr>
          <a:lstStyle/>
          <a:p>
            <a:pPr indent="0">
              <a:spcAft>
                <a:spcPts val="700"/>
              </a:spcAft>
              <a:buNone/>
            </a:pPr>
            <a:r>
              <a:rPr lang="vi-VN" sz="2800" b="1">
                <a:solidFill>
                  <a:srgbClr val="172F3C"/>
                </a:solidFill>
                <a:latin typeface="Segoe UI" panose="020B0502040204020203" charset="0"/>
                <a:cs typeface="Segoe UI" panose="020B0502040204020203" charset="0"/>
              </a:rPr>
              <a:t>CI/CD CẬP NHẬT ỨNG DỤNG, LIFECYCLE CẬP NHẬT POLICY</a:t>
            </a:r>
          </a:p>
        </p:txBody>
      </p:sp>
      <p:sp>
        <p:nvSpPr>
          <p:cNvPr id="4" name="Text Box 3"/>
          <p:cNvSpPr txBox="1"/>
          <p:nvPr/>
        </p:nvSpPr>
        <p:spPr>
          <a:xfrm>
            <a:off x="11404600" y="6477000"/>
            <a:ext cx="330200" cy="276860"/>
          </a:xfrm>
          <a:prstGeom prst="rect">
            <a:avLst/>
          </a:prstGeom>
          <a:noFill/>
        </p:spPr>
        <p:txBody>
          <a:bodyPr wrap="square" lIns="0" tIns="0" rIns="0" bIns="0" rtlCol="0" anchor="t">
            <a:noAutofit/>
          </a:bodyPr>
          <a:lstStyle/>
          <a:p>
            <a:pPr indent="0">
              <a:spcAft>
                <a:spcPts val="700"/>
              </a:spcAft>
              <a:buNone/>
            </a:pPr>
            <a:r>
              <a:rPr lang="vi-VN" sz="1000">
                <a:solidFill>
                  <a:srgbClr val="526673"/>
                </a:solidFill>
                <a:latin typeface="Segoe UI" panose="020B0502040204020203" charset="0"/>
                <a:cs typeface="Segoe UI" panose="020B0502040204020203" charset="0"/>
              </a:rPr>
              <a:t>16</a:t>
            </a:r>
          </a:p>
        </p:txBody>
      </p:sp>
      <p:sp>
        <p:nvSpPr>
          <p:cNvPr id="5" name="Text Box 4"/>
          <p:cNvSpPr txBox="1"/>
          <p:nvPr/>
        </p:nvSpPr>
        <p:spPr>
          <a:xfrm>
            <a:off x="584200" y="6121400"/>
            <a:ext cx="10541000" cy="276860"/>
          </a:xfrm>
          <a:prstGeom prst="rect">
            <a:avLst/>
          </a:prstGeom>
          <a:noFill/>
        </p:spPr>
        <p:txBody>
          <a:bodyPr wrap="square" lIns="0" tIns="0" rIns="0" bIns="0" rtlCol="0" anchor="t">
            <a:noAutofit/>
          </a:bodyPr>
          <a:lstStyle/>
          <a:p>
            <a:pPr indent="0">
              <a:spcAft>
                <a:spcPts val="700"/>
              </a:spcAft>
              <a:buNone/>
            </a:pPr>
            <a:r>
              <a:rPr lang="vi-VN" sz="1200">
                <a:solidFill>
                  <a:srgbClr val="526673"/>
                </a:solidFill>
                <a:latin typeface="Segoe UI" panose="020B0502040204020203" charset="0"/>
                <a:cs typeface="Segoe UI" panose="020B0502040204020203" charset="0"/>
              </a:rPr>
              <a:t>Ứng dụng đang deploy trên một máy Docker Desktop, chưa phải cloud hoặc application canary</a:t>
            </a:r>
          </a:p>
        </p:txBody>
      </p:sp>
      <p:cxnSp>
        <p:nvCxnSpPr>
          <p:cNvPr id="6" name="Straight Connector 5"/>
          <p:cNvCxnSpPr/>
          <p:nvPr/>
        </p:nvCxnSpPr>
        <p:spPr>
          <a:xfrm>
            <a:off x="6057900" y="2006600"/>
            <a:ext cx="635" cy="3619500"/>
          </a:xfrm>
          <a:prstGeom prst="line">
            <a:avLst/>
          </a:prstGeom>
          <a:ln>
            <a:solidFill>
              <a:srgbClr val="CCD6D1"/>
            </a:solidFill>
          </a:ln>
        </p:spPr>
        <p:style>
          <a:lnRef idx="2">
            <a:schemeClr val="accent1"/>
          </a:lnRef>
          <a:fillRef idx="0">
            <a:srgbClr val="FFFFFF"/>
          </a:fillRef>
          <a:effectRef idx="0">
            <a:srgbClr val="FFFFFF"/>
          </a:effectRef>
          <a:fontRef idx="minor">
            <a:schemeClr val="tx1"/>
          </a:fontRef>
        </p:style>
      </p:cxnSp>
      <p:sp>
        <p:nvSpPr>
          <p:cNvPr id="7" name="Text Box 6"/>
          <p:cNvSpPr txBox="1"/>
          <p:nvPr/>
        </p:nvSpPr>
        <p:spPr>
          <a:xfrm>
            <a:off x="584200" y="2146300"/>
            <a:ext cx="5067300" cy="276860"/>
          </a:xfrm>
          <a:prstGeom prst="rect">
            <a:avLst/>
          </a:prstGeom>
          <a:noFill/>
        </p:spPr>
        <p:txBody>
          <a:bodyPr wrap="square" lIns="0" tIns="0" rIns="0" bIns="0" rtlCol="0" anchor="t">
            <a:noAutofit/>
          </a:bodyPr>
          <a:lstStyle/>
          <a:p>
            <a:pPr indent="0">
              <a:spcAft>
                <a:spcPts val="700"/>
              </a:spcAft>
              <a:buNone/>
            </a:pPr>
            <a:r>
              <a:rPr lang="vi-VN" sz="2800" b="1">
                <a:solidFill>
                  <a:srgbClr val="176E68"/>
                </a:solidFill>
                <a:latin typeface="Segoe UI" panose="020B0502040204020203" charset="0"/>
                <a:cs typeface="Segoe UI" panose="020B0502040204020203" charset="0"/>
              </a:rPr>
              <a:t>Ứng dụng</a:t>
            </a:r>
          </a:p>
        </p:txBody>
      </p:sp>
      <p:sp>
        <p:nvSpPr>
          <p:cNvPr id="8" name="Text Box 7"/>
          <p:cNvSpPr txBox="1"/>
          <p:nvPr/>
        </p:nvSpPr>
        <p:spPr>
          <a:xfrm>
            <a:off x="584200" y="3225800"/>
            <a:ext cx="4991100" cy="276860"/>
          </a:xfrm>
          <a:prstGeom prst="rect">
            <a:avLst/>
          </a:prstGeom>
          <a:noFill/>
        </p:spPr>
        <p:txBody>
          <a:bodyPr wrap="square" lIns="0" tIns="0" rIns="0" bIns="0" rtlCol="0" anchor="t">
            <a:noAutofit/>
          </a:bodyPr>
          <a:lstStyle/>
          <a:p>
            <a:pPr indent="0">
              <a:spcAft>
                <a:spcPts val="700"/>
              </a:spcAft>
              <a:buNone/>
            </a:pPr>
            <a:r>
              <a:rPr lang="vi-VN" sz="2500">
                <a:solidFill>
                  <a:srgbClr val="172F3C"/>
                </a:solidFill>
                <a:latin typeface="Segoe UI" panose="020B0502040204020203" charset="0"/>
                <a:cs typeface="Segoe UI" panose="020B0502040204020203" charset="0"/>
              </a:rPr>
              <a:t>Ubuntu quality + Windows preflight
Build images, Linux WSL runner
PowerShell và Docker Compose rollout</a:t>
            </a:r>
          </a:p>
        </p:txBody>
      </p:sp>
      <p:sp>
        <p:nvSpPr>
          <p:cNvPr id="9" name="Text Box 8"/>
          <p:cNvSpPr txBox="1"/>
          <p:nvPr/>
        </p:nvSpPr>
        <p:spPr>
          <a:xfrm>
            <a:off x="6464300" y="2146300"/>
            <a:ext cx="5067300" cy="276860"/>
          </a:xfrm>
          <a:prstGeom prst="rect">
            <a:avLst/>
          </a:prstGeom>
          <a:noFill/>
        </p:spPr>
        <p:txBody>
          <a:bodyPr wrap="square" lIns="0" tIns="0" rIns="0" bIns="0" rtlCol="0" anchor="t">
            <a:noAutofit/>
          </a:bodyPr>
          <a:lstStyle/>
          <a:p>
            <a:pPr indent="0">
              <a:spcAft>
                <a:spcPts val="700"/>
              </a:spcAft>
              <a:buNone/>
            </a:pPr>
            <a:r>
              <a:rPr lang="vi-VN" sz="2800" b="1">
                <a:solidFill>
                  <a:srgbClr val="176E68"/>
                </a:solidFill>
                <a:latin typeface="Segoe UI" panose="020B0502040204020203" charset="0"/>
                <a:cs typeface="Segoe UI" panose="020B0502040204020203" charset="0"/>
              </a:rPr>
              <a:t>Policy Face / Voice</a:t>
            </a:r>
          </a:p>
        </p:txBody>
      </p:sp>
      <p:sp>
        <p:nvSpPr>
          <p:cNvPr id="10" name="Text Box 9"/>
          <p:cNvSpPr txBox="1"/>
          <p:nvPr/>
        </p:nvSpPr>
        <p:spPr>
          <a:xfrm>
            <a:off x="6464300" y="3225800"/>
            <a:ext cx="4991100" cy="276860"/>
          </a:xfrm>
          <a:prstGeom prst="rect">
            <a:avLst/>
          </a:prstGeom>
          <a:noFill/>
        </p:spPr>
        <p:txBody>
          <a:bodyPr wrap="square" lIns="0" tIns="0" rIns="0" bIns="0" rtlCol="0" anchor="t">
            <a:noAutofit/>
          </a:bodyPr>
          <a:lstStyle/>
          <a:p>
            <a:pPr indent="0">
              <a:spcAft>
                <a:spcPts val="700"/>
              </a:spcAft>
              <a:buNone/>
            </a:pPr>
            <a:r>
              <a:rPr lang="vi-VN" sz="2500">
                <a:solidFill>
                  <a:srgbClr val="172F3C"/>
                </a:solidFill>
                <a:latin typeface="Segoe UI" panose="020B0502040204020203" charset="0"/>
                <a:cs typeface="Segoe UI" panose="020B0502040204020203" charset="0"/>
              </a:rPr>
              <a:t>MLflow và trạng thái PostgreSQL
Shadow, canary và rollback
Prometheus / Grafana theo dõi</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4ED"/>
        </a:solidFill>
        <a:effectLst/>
      </p:bgPr>
    </p:bg>
    <p:spTree>
      <p:nvGrpSpPr>
        <p:cNvPr id="1" name=""/>
        <p:cNvGrpSpPr/>
        <p:nvPr/>
      </p:nvGrpSpPr>
      <p:grpSpPr>
        <a:xfrm>
          <a:off x="0" y="0"/>
          <a:ext cx="0" cy="0"/>
          <a:chOff x="0" y="0"/>
          <a:chExt cx="0" cy="0"/>
        </a:xfrm>
      </p:grpSpPr>
      <p:sp>
        <p:nvSpPr>
          <p:cNvPr id="2" name="Rectangle 1"/>
          <p:cNvSpPr/>
          <p:nvPr/>
        </p:nvSpPr>
        <p:spPr>
          <a:xfrm>
            <a:off x="584200" y="317500"/>
            <a:ext cx="660400" cy="63500"/>
          </a:xfrm>
          <a:prstGeom prst="rect">
            <a:avLst/>
          </a:prstGeom>
          <a:solidFill>
            <a:srgbClr val="BB542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3" name="Text Box 2"/>
          <p:cNvSpPr txBox="1"/>
          <p:nvPr/>
        </p:nvSpPr>
        <p:spPr>
          <a:xfrm>
            <a:off x="584200" y="546100"/>
            <a:ext cx="11023600" cy="276860"/>
          </a:xfrm>
          <a:prstGeom prst="rect">
            <a:avLst/>
          </a:prstGeom>
          <a:noFill/>
        </p:spPr>
        <p:txBody>
          <a:bodyPr wrap="square" lIns="0" tIns="0" rIns="0" bIns="0" rtlCol="0" anchor="t">
            <a:noAutofit/>
          </a:bodyPr>
          <a:lstStyle/>
          <a:p>
            <a:pPr indent="0">
              <a:spcAft>
                <a:spcPts val="700"/>
              </a:spcAft>
              <a:buNone/>
            </a:pPr>
            <a:r>
              <a:rPr lang="vi-VN" sz="2800" b="1">
                <a:solidFill>
                  <a:srgbClr val="172F3C"/>
                </a:solidFill>
                <a:latin typeface="Segoe UI" panose="020B0502040204020203" charset="0"/>
                <a:cs typeface="Segoe UI" panose="020B0502040204020203" charset="0"/>
              </a:rPr>
              <a:t>KIỂM CHỨNG TRƯỚC KHI TRIỂN KHAI</a:t>
            </a:r>
          </a:p>
        </p:txBody>
      </p:sp>
      <p:sp>
        <p:nvSpPr>
          <p:cNvPr id="4" name="Text Box 3"/>
          <p:cNvSpPr txBox="1"/>
          <p:nvPr/>
        </p:nvSpPr>
        <p:spPr>
          <a:xfrm>
            <a:off x="11404600" y="6477000"/>
            <a:ext cx="330200" cy="276860"/>
          </a:xfrm>
          <a:prstGeom prst="rect">
            <a:avLst/>
          </a:prstGeom>
          <a:noFill/>
        </p:spPr>
        <p:txBody>
          <a:bodyPr wrap="square" lIns="0" tIns="0" rIns="0" bIns="0" rtlCol="0" anchor="t">
            <a:noAutofit/>
          </a:bodyPr>
          <a:lstStyle/>
          <a:p>
            <a:pPr indent="0">
              <a:spcAft>
                <a:spcPts val="700"/>
              </a:spcAft>
              <a:buNone/>
            </a:pPr>
            <a:r>
              <a:rPr lang="vi-VN" sz="1000">
                <a:solidFill>
                  <a:srgbClr val="526673"/>
                </a:solidFill>
                <a:latin typeface="Segoe UI" panose="020B0502040204020203" charset="0"/>
                <a:cs typeface="Segoe UI" panose="020B0502040204020203" charset="0"/>
              </a:rPr>
              <a:t>17</a:t>
            </a:r>
          </a:p>
        </p:txBody>
      </p:sp>
      <p:sp>
        <p:nvSpPr>
          <p:cNvPr id="5" name="Text Box 4"/>
          <p:cNvSpPr txBox="1"/>
          <p:nvPr/>
        </p:nvSpPr>
        <p:spPr>
          <a:xfrm>
            <a:off x="584200" y="6121400"/>
            <a:ext cx="10541000" cy="276860"/>
          </a:xfrm>
          <a:prstGeom prst="rect">
            <a:avLst/>
          </a:prstGeom>
          <a:noFill/>
        </p:spPr>
        <p:txBody>
          <a:bodyPr wrap="square" lIns="0" tIns="0" rIns="0" bIns="0" rtlCol="0" anchor="t">
            <a:noAutofit/>
          </a:bodyPr>
          <a:lstStyle/>
          <a:p>
            <a:pPr indent="0">
              <a:spcAft>
                <a:spcPts val="700"/>
              </a:spcAft>
              <a:buNone/>
            </a:pPr>
            <a:r>
              <a:rPr lang="vi-VN" sz="1200">
                <a:solidFill>
                  <a:srgbClr val="526673"/>
                </a:solidFill>
                <a:latin typeface="Segoe UI" panose="020B0502040204020203" charset="0"/>
                <a:cs typeface="Segoe UI" panose="020B0502040204020203" charset="0"/>
              </a:rPr>
              <a:t>Chưa tuyên bố production-ready, phát hiện mọi cheating hoặc đáp ứng tải 50.000 người</a:t>
            </a:r>
          </a:p>
        </p:txBody>
      </p:sp>
      <p:sp>
        <p:nvSpPr>
          <p:cNvPr id="6" name="Text Box 5"/>
          <p:cNvSpPr txBox="1"/>
          <p:nvPr/>
        </p:nvSpPr>
        <p:spPr>
          <a:xfrm>
            <a:off x="584200" y="1993900"/>
            <a:ext cx="3365500" cy="276860"/>
          </a:xfrm>
          <a:prstGeom prst="rect">
            <a:avLst/>
          </a:prstGeom>
          <a:noFill/>
        </p:spPr>
        <p:txBody>
          <a:bodyPr wrap="square" lIns="0" tIns="0" rIns="0" bIns="0" rtlCol="0" anchor="t">
            <a:noAutofit/>
          </a:bodyPr>
          <a:lstStyle/>
          <a:p>
            <a:pPr indent="0">
              <a:spcAft>
                <a:spcPts val="700"/>
              </a:spcAft>
              <a:buNone/>
            </a:pPr>
            <a:r>
              <a:rPr lang="vi-VN" sz="3800" b="1">
                <a:solidFill>
                  <a:srgbClr val="BB542A"/>
                </a:solidFill>
                <a:latin typeface="Segoe UI" panose="020B0502040204020203" charset="0"/>
                <a:cs typeface="Segoe UI" panose="020B0502040204020203" charset="0"/>
              </a:rPr>
              <a:t>01</a:t>
            </a:r>
          </a:p>
        </p:txBody>
      </p:sp>
      <p:sp>
        <p:nvSpPr>
          <p:cNvPr id="7" name="Text Box 6"/>
          <p:cNvSpPr txBox="1"/>
          <p:nvPr/>
        </p:nvSpPr>
        <p:spPr>
          <a:xfrm>
            <a:off x="584200" y="2870200"/>
            <a:ext cx="3365500" cy="276860"/>
          </a:xfrm>
          <a:prstGeom prst="rect">
            <a:avLst/>
          </a:prstGeom>
          <a:noFill/>
        </p:spPr>
        <p:txBody>
          <a:bodyPr wrap="square" lIns="0" tIns="0" rIns="0" bIns="0" rtlCol="0" anchor="t">
            <a:noAutofit/>
          </a:bodyPr>
          <a:lstStyle/>
          <a:p>
            <a:pPr indent="0">
              <a:spcAft>
                <a:spcPts val="700"/>
              </a:spcAft>
              <a:buNone/>
            </a:pPr>
            <a:r>
              <a:rPr lang="vi-VN" sz="2600" b="1">
                <a:solidFill>
                  <a:srgbClr val="176E68"/>
                </a:solidFill>
                <a:latin typeface="Segoe UI" panose="020B0502040204020203" charset="0"/>
                <a:cs typeface="Segoe UI" panose="020B0502040204020203" charset="0"/>
              </a:rPr>
              <a:t>Dữ liệu thật</a:t>
            </a:r>
          </a:p>
        </p:txBody>
      </p:sp>
      <p:sp>
        <p:nvSpPr>
          <p:cNvPr id="8" name="Text Box 7"/>
          <p:cNvSpPr txBox="1"/>
          <p:nvPr/>
        </p:nvSpPr>
        <p:spPr>
          <a:xfrm>
            <a:off x="584200" y="4140200"/>
            <a:ext cx="3365500" cy="276860"/>
          </a:xfrm>
          <a:prstGeom prst="rect">
            <a:avLst/>
          </a:prstGeom>
          <a:noFill/>
        </p:spPr>
        <p:txBody>
          <a:bodyPr wrap="square" lIns="0" tIns="0" rIns="0" bIns="0" rtlCol="0" anchor="t">
            <a:noAutofit/>
          </a:bodyPr>
          <a:lstStyle/>
          <a:p>
            <a:pPr indent="0">
              <a:spcAft>
                <a:spcPts val="700"/>
              </a:spcAft>
              <a:buNone/>
            </a:pPr>
            <a:r>
              <a:rPr lang="vi-VN" sz="2300">
                <a:solidFill>
                  <a:srgbClr val="172F3C"/>
                </a:solidFill>
                <a:latin typeface="Segoe UI" panose="020B0502040204020203" charset="0"/>
                <a:cs typeface="Segoe UI" panose="020B0502040204020203" charset="0"/>
              </a:rPr>
              <a:t>Consented data, trusted labels
Accuracy và fairness theo cohort</a:t>
            </a:r>
          </a:p>
        </p:txBody>
      </p:sp>
      <p:sp>
        <p:nvSpPr>
          <p:cNvPr id="9" name="Text Box 8"/>
          <p:cNvSpPr txBox="1"/>
          <p:nvPr/>
        </p:nvSpPr>
        <p:spPr>
          <a:xfrm>
            <a:off x="4381500" y="1993900"/>
            <a:ext cx="3365500" cy="276860"/>
          </a:xfrm>
          <a:prstGeom prst="rect">
            <a:avLst/>
          </a:prstGeom>
          <a:noFill/>
        </p:spPr>
        <p:txBody>
          <a:bodyPr wrap="square" lIns="0" tIns="0" rIns="0" bIns="0" rtlCol="0" anchor="t">
            <a:noAutofit/>
          </a:bodyPr>
          <a:lstStyle/>
          <a:p>
            <a:pPr indent="0">
              <a:spcAft>
                <a:spcPts val="700"/>
              </a:spcAft>
              <a:buNone/>
            </a:pPr>
            <a:r>
              <a:rPr lang="vi-VN" sz="3800" b="1">
                <a:solidFill>
                  <a:srgbClr val="BB542A"/>
                </a:solidFill>
                <a:latin typeface="Segoe UI" panose="020B0502040204020203" charset="0"/>
                <a:cs typeface="Segoe UI" panose="020B0502040204020203" charset="0"/>
              </a:rPr>
              <a:t>02</a:t>
            </a:r>
          </a:p>
        </p:txBody>
      </p:sp>
      <p:sp>
        <p:nvSpPr>
          <p:cNvPr id="10" name="Text Box 9"/>
          <p:cNvSpPr txBox="1"/>
          <p:nvPr/>
        </p:nvSpPr>
        <p:spPr>
          <a:xfrm>
            <a:off x="4381500" y="2870200"/>
            <a:ext cx="3365500" cy="276860"/>
          </a:xfrm>
          <a:prstGeom prst="rect">
            <a:avLst/>
          </a:prstGeom>
          <a:noFill/>
        </p:spPr>
        <p:txBody>
          <a:bodyPr wrap="square" lIns="0" tIns="0" rIns="0" bIns="0" rtlCol="0" anchor="t">
            <a:noAutofit/>
          </a:bodyPr>
          <a:lstStyle/>
          <a:p>
            <a:pPr indent="0">
              <a:spcAft>
                <a:spcPts val="700"/>
              </a:spcAft>
              <a:buNone/>
            </a:pPr>
            <a:r>
              <a:rPr lang="vi-VN" sz="2600" b="1">
                <a:solidFill>
                  <a:srgbClr val="176E68"/>
                </a:solidFill>
                <a:latin typeface="Segoe UI" panose="020B0502040204020203" charset="0"/>
                <a:cs typeface="Segoe UI" panose="020B0502040204020203" charset="0"/>
              </a:rPr>
              <a:t>Tải và vận hành</a:t>
            </a:r>
          </a:p>
        </p:txBody>
      </p:sp>
      <p:sp>
        <p:nvSpPr>
          <p:cNvPr id="11" name="Text Box 10"/>
          <p:cNvSpPr txBox="1"/>
          <p:nvPr/>
        </p:nvSpPr>
        <p:spPr>
          <a:xfrm>
            <a:off x="4381500" y="4140200"/>
            <a:ext cx="3365500" cy="276860"/>
          </a:xfrm>
          <a:prstGeom prst="rect">
            <a:avLst/>
          </a:prstGeom>
          <a:noFill/>
        </p:spPr>
        <p:txBody>
          <a:bodyPr wrap="square" lIns="0" tIns="0" rIns="0" bIns="0" rtlCol="0" anchor="t">
            <a:noAutofit/>
          </a:bodyPr>
          <a:lstStyle/>
          <a:p>
            <a:pPr indent="0">
              <a:spcAft>
                <a:spcPts val="700"/>
              </a:spcAft>
              <a:buNone/>
            </a:pPr>
            <a:r>
              <a:rPr lang="vi-VN" sz="2300">
                <a:solidFill>
                  <a:srgbClr val="172F3C"/>
                </a:solidFill>
                <a:latin typeface="Segoe UI" panose="020B0502040204020203" charset="0"/>
                <a:cs typeface="Segoe UI" panose="020B0502040204020203" charset="0"/>
              </a:rPr>
              <a:t>Concurrency, latency và capacity
TLS, SSO, retention theo hợp đồng</a:t>
            </a:r>
          </a:p>
        </p:txBody>
      </p:sp>
      <p:sp>
        <p:nvSpPr>
          <p:cNvPr id="12" name="Text Box 11"/>
          <p:cNvSpPr txBox="1"/>
          <p:nvPr/>
        </p:nvSpPr>
        <p:spPr>
          <a:xfrm>
            <a:off x="8178800" y="1993900"/>
            <a:ext cx="3365500" cy="276860"/>
          </a:xfrm>
          <a:prstGeom prst="rect">
            <a:avLst/>
          </a:prstGeom>
          <a:noFill/>
        </p:spPr>
        <p:txBody>
          <a:bodyPr wrap="square" lIns="0" tIns="0" rIns="0" bIns="0" rtlCol="0" anchor="t">
            <a:noAutofit/>
          </a:bodyPr>
          <a:lstStyle/>
          <a:p>
            <a:pPr indent="0">
              <a:spcAft>
                <a:spcPts val="700"/>
              </a:spcAft>
              <a:buNone/>
            </a:pPr>
            <a:r>
              <a:rPr lang="vi-VN" sz="3800" b="1">
                <a:solidFill>
                  <a:srgbClr val="BB542A"/>
                </a:solidFill>
                <a:latin typeface="Segoe UI" panose="020B0502040204020203" charset="0"/>
                <a:cs typeface="Segoe UI" panose="020B0502040204020203" charset="0"/>
              </a:rPr>
              <a:t>03</a:t>
            </a:r>
          </a:p>
        </p:txBody>
      </p:sp>
      <p:sp>
        <p:nvSpPr>
          <p:cNvPr id="13" name="Text Box 12"/>
          <p:cNvSpPr txBox="1"/>
          <p:nvPr/>
        </p:nvSpPr>
        <p:spPr>
          <a:xfrm>
            <a:off x="8178800" y="2870200"/>
            <a:ext cx="3365500" cy="276860"/>
          </a:xfrm>
          <a:prstGeom prst="rect">
            <a:avLst/>
          </a:prstGeom>
          <a:noFill/>
        </p:spPr>
        <p:txBody>
          <a:bodyPr wrap="square" lIns="0" tIns="0" rIns="0" bIns="0" rtlCol="0" anchor="t">
            <a:noAutofit/>
          </a:bodyPr>
          <a:lstStyle/>
          <a:p>
            <a:pPr indent="0">
              <a:spcAft>
                <a:spcPts val="700"/>
              </a:spcAft>
              <a:buNone/>
            </a:pPr>
            <a:r>
              <a:rPr lang="vi-VN" sz="2600" b="1">
                <a:solidFill>
                  <a:srgbClr val="176E68"/>
                </a:solidFill>
                <a:latin typeface="Segoe UI" panose="020B0502040204020203" charset="0"/>
                <a:cs typeface="Segoe UI" panose="020B0502040204020203" charset="0"/>
              </a:rPr>
              <a:t>Gate và khởi tạo</a:t>
            </a:r>
          </a:p>
        </p:txBody>
      </p:sp>
      <p:sp>
        <p:nvSpPr>
          <p:cNvPr id="14" name="Text Box 13"/>
          <p:cNvSpPr txBox="1"/>
          <p:nvPr/>
        </p:nvSpPr>
        <p:spPr>
          <a:xfrm>
            <a:off x="8178800" y="4140200"/>
            <a:ext cx="3365500" cy="276860"/>
          </a:xfrm>
          <a:prstGeom prst="rect">
            <a:avLst/>
          </a:prstGeom>
          <a:noFill/>
        </p:spPr>
        <p:txBody>
          <a:bodyPr wrap="square" lIns="0" tIns="0" rIns="0" bIns="0" rtlCol="0" anchor="t">
            <a:noAutofit/>
          </a:bodyPr>
          <a:lstStyle/>
          <a:p>
            <a:pPr indent="0">
              <a:spcAft>
                <a:spcPts val="700"/>
              </a:spcAft>
              <a:buNone/>
            </a:pPr>
            <a:r>
              <a:rPr lang="vi-VN" sz="2300">
                <a:solidFill>
                  <a:srgbClr val="172F3C"/>
                </a:solidFill>
                <a:latin typeface="Segoe UI" panose="020B0502040204020203" charset="0"/>
                <a:cs typeface="Segoe UI" panose="020B0502040204020203" charset="0"/>
              </a:rPr>
              <a:t>Fairness gate ở lifecycle mới
Champion ban đầu cho registry rỗng</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4ED"/>
        </a:solidFill>
        <a:effectLst/>
      </p:bgPr>
    </p:bg>
    <p:spTree>
      <p:nvGrpSpPr>
        <p:cNvPr id="1" name=""/>
        <p:cNvGrpSpPr/>
        <p:nvPr/>
      </p:nvGrpSpPr>
      <p:grpSpPr>
        <a:xfrm>
          <a:off x="0" y="0"/>
          <a:ext cx="0" cy="0"/>
          <a:chOff x="0" y="0"/>
          <a:chExt cx="0" cy="0"/>
        </a:xfrm>
      </p:grpSpPr>
      <p:sp>
        <p:nvSpPr>
          <p:cNvPr id="2" name="Rectangle 1"/>
          <p:cNvSpPr/>
          <p:nvPr/>
        </p:nvSpPr>
        <p:spPr>
          <a:xfrm>
            <a:off x="584200" y="317500"/>
            <a:ext cx="660400" cy="63500"/>
          </a:xfrm>
          <a:prstGeom prst="rect">
            <a:avLst/>
          </a:prstGeom>
          <a:solidFill>
            <a:srgbClr val="BB542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3" name="Text Box 2"/>
          <p:cNvSpPr txBox="1"/>
          <p:nvPr/>
        </p:nvSpPr>
        <p:spPr>
          <a:xfrm>
            <a:off x="584200" y="546100"/>
            <a:ext cx="11023600" cy="276860"/>
          </a:xfrm>
          <a:prstGeom prst="rect">
            <a:avLst/>
          </a:prstGeom>
          <a:noFill/>
        </p:spPr>
        <p:txBody>
          <a:bodyPr wrap="square" lIns="0" tIns="0" rIns="0" bIns="0" rtlCol="0" anchor="t">
            <a:noAutofit/>
          </a:bodyPr>
          <a:lstStyle/>
          <a:p>
            <a:pPr indent="0">
              <a:spcAft>
                <a:spcPts val="700"/>
              </a:spcAft>
              <a:buNone/>
            </a:pPr>
            <a:r>
              <a:rPr lang="vi-VN" sz="2800" b="1">
                <a:solidFill>
                  <a:srgbClr val="172F3C"/>
                </a:solidFill>
                <a:latin typeface="Segoe UI" panose="020B0502040204020203" charset="0"/>
                <a:cs typeface="Segoe UI" panose="020B0502040204020203" charset="0"/>
              </a:rPr>
              <a:t>XÁC MINH DANH TÍNH VÀ KIỂM SOÁT THAY ĐỔI MODEL</a:t>
            </a:r>
          </a:p>
        </p:txBody>
      </p:sp>
      <p:sp>
        <p:nvSpPr>
          <p:cNvPr id="4" name="Text Box 3"/>
          <p:cNvSpPr txBox="1"/>
          <p:nvPr/>
        </p:nvSpPr>
        <p:spPr>
          <a:xfrm>
            <a:off x="11404600" y="6477000"/>
            <a:ext cx="330200" cy="276860"/>
          </a:xfrm>
          <a:prstGeom prst="rect">
            <a:avLst/>
          </a:prstGeom>
          <a:noFill/>
        </p:spPr>
        <p:txBody>
          <a:bodyPr wrap="square" lIns="0" tIns="0" rIns="0" bIns="0" rtlCol="0" anchor="t">
            <a:noAutofit/>
          </a:bodyPr>
          <a:lstStyle/>
          <a:p>
            <a:pPr indent="0">
              <a:spcAft>
                <a:spcPts val="700"/>
              </a:spcAft>
              <a:buNone/>
            </a:pPr>
            <a:r>
              <a:rPr lang="vi-VN" sz="1000">
                <a:solidFill>
                  <a:srgbClr val="526673"/>
                </a:solidFill>
                <a:latin typeface="Segoe UI" panose="020B0502040204020203" charset="0"/>
                <a:cs typeface="Segoe UI" panose="020B0502040204020203" charset="0"/>
              </a:rPr>
              <a:t>18</a:t>
            </a:r>
          </a:p>
        </p:txBody>
      </p:sp>
      <p:sp>
        <p:nvSpPr>
          <p:cNvPr id="5" name="Text Box 4"/>
          <p:cNvSpPr txBox="1"/>
          <p:nvPr/>
        </p:nvSpPr>
        <p:spPr>
          <a:xfrm>
            <a:off x="584200" y="6121400"/>
            <a:ext cx="10541000" cy="276860"/>
          </a:xfrm>
          <a:prstGeom prst="rect">
            <a:avLst/>
          </a:prstGeom>
          <a:noFill/>
        </p:spPr>
        <p:txBody>
          <a:bodyPr wrap="square" lIns="0" tIns="0" rIns="0" bIns="0" rtlCol="0" anchor="t">
            <a:noAutofit/>
          </a:bodyPr>
          <a:lstStyle/>
          <a:p>
            <a:pPr indent="0">
              <a:spcAft>
                <a:spcPts val="700"/>
              </a:spcAft>
              <a:buNone/>
            </a:pPr>
            <a:r>
              <a:rPr lang="vi-VN" sz="1200">
                <a:solidFill>
                  <a:srgbClr val="526673"/>
                </a:solidFill>
                <a:latin typeface="Segoe UI" panose="020B0502040204020203" charset="0"/>
                <a:cs typeface="Segoe UI" panose="020B0502040204020203" charset="0"/>
              </a:rPr>
              <a:t>Face + Voice Integrity     DDM501 / FSB-MSA36HN</a:t>
            </a:r>
          </a:p>
        </p:txBody>
      </p:sp>
      <p:sp>
        <p:nvSpPr>
          <p:cNvPr id="6" name="Text Box 5"/>
          <p:cNvSpPr txBox="1"/>
          <p:nvPr/>
        </p:nvSpPr>
        <p:spPr>
          <a:xfrm>
            <a:off x="596900" y="2362200"/>
            <a:ext cx="10820400" cy="276860"/>
          </a:xfrm>
          <a:prstGeom prst="rect">
            <a:avLst/>
          </a:prstGeom>
          <a:noFill/>
        </p:spPr>
        <p:txBody>
          <a:bodyPr wrap="square" lIns="0" tIns="0" rIns="0" bIns="0" rtlCol="0" anchor="t">
            <a:noAutofit/>
          </a:bodyPr>
          <a:lstStyle/>
          <a:p>
            <a:pPr indent="0">
              <a:spcAft>
                <a:spcPts val="700"/>
              </a:spcAft>
              <a:buNone/>
            </a:pPr>
            <a:r>
              <a:rPr lang="vi-VN" sz="3100">
                <a:solidFill>
                  <a:srgbClr val="176E68"/>
                </a:solidFill>
                <a:latin typeface="Segoe UI" panose="020B0502040204020203" charset="0"/>
                <a:cs typeface="Segoe UI" panose="020B0502040204020203" charset="0"/>
              </a:rPr>
              <a:t>Xác minh theo từng capture</a:t>
            </a:r>
          </a:p>
        </p:txBody>
      </p:sp>
      <p:sp>
        <p:nvSpPr>
          <p:cNvPr id="7" name="Text Box 6"/>
          <p:cNvSpPr txBox="1"/>
          <p:nvPr/>
        </p:nvSpPr>
        <p:spPr>
          <a:xfrm>
            <a:off x="596900" y="3429000"/>
            <a:ext cx="10820400" cy="276860"/>
          </a:xfrm>
          <a:prstGeom prst="rect">
            <a:avLst/>
          </a:prstGeom>
          <a:noFill/>
        </p:spPr>
        <p:txBody>
          <a:bodyPr wrap="square" lIns="0" tIns="0" rIns="0" bIns="0" rtlCol="0" anchor="t">
            <a:noAutofit/>
          </a:bodyPr>
          <a:lstStyle/>
          <a:p>
            <a:pPr indent="0">
              <a:spcAft>
                <a:spcPts val="700"/>
              </a:spcAft>
              <a:buNone/>
            </a:pPr>
            <a:r>
              <a:rPr lang="vi-VN" sz="3100">
                <a:solidFill>
                  <a:srgbClr val="176E68"/>
                </a:solidFill>
                <a:latin typeface="Segoe UI" panose="020B0502040204020203" charset="0"/>
                <a:cs typeface="Segoe UI" panose="020B0502040204020203" charset="0"/>
              </a:rPr>
              <a:t>Giải thích nghi vấn và giữ bằng chứng</a:t>
            </a:r>
          </a:p>
        </p:txBody>
      </p:sp>
      <p:sp>
        <p:nvSpPr>
          <p:cNvPr id="8" name="Text Box 7"/>
          <p:cNvSpPr txBox="1"/>
          <p:nvPr/>
        </p:nvSpPr>
        <p:spPr>
          <a:xfrm>
            <a:off x="596900" y="4495800"/>
            <a:ext cx="10820400" cy="276860"/>
          </a:xfrm>
          <a:prstGeom prst="rect">
            <a:avLst/>
          </a:prstGeom>
          <a:noFill/>
        </p:spPr>
        <p:txBody>
          <a:bodyPr wrap="square" lIns="0" tIns="0" rIns="0" bIns="0" rtlCol="0" anchor="t">
            <a:noAutofit/>
          </a:bodyPr>
          <a:lstStyle/>
          <a:p>
            <a:pPr indent="0">
              <a:spcAft>
                <a:spcPts val="700"/>
              </a:spcAft>
              <a:buNone/>
            </a:pPr>
            <a:r>
              <a:rPr lang="vi-VN" sz="3100" b="1">
                <a:solidFill>
                  <a:srgbClr val="176E68"/>
                </a:solidFill>
                <a:latin typeface="Segoe UI" panose="020B0502040204020203" charset="0"/>
                <a:cs typeface="Segoe UI" panose="020B0502040204020203" charset="0"/>
              </a:rPr>
              <a:t>Cập nhật policy có gate và đường quay lại</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4ED"/>
        </a:solidFill>
        <a:effectLst/>
      </p:bgPr>
    </p:bg>
    <p:spTree>
      <p:nvGrpSpPr>
        <p:cNvPr id="1" name=""/>
        <p:cNvGrpSpPr/>
        <p:nvPr/>
      </p:nvGrpSpPr>
      <p:grpSpPr>
        <a:xfrm>
          <a:off x="0" y="0"/>
          <a:ext cx="0" cy="0"/>
          <a:chOff x="0" y="0"/>
          <a:chExt cx="0" cy="0"/>
        </a:xfrm>
      </p:grpSpPr>
      <p:sp>
        <p:nvSpPr>
          <p:cNvPr id="2" name="Rectangle 1"/>
          <p:cNvSpPr/>
          <p:nvPr/>
        </p:nvSpPr>
        <p:spPr>
          <a:xfrm>
            <a:off x="584200" y="317500"/>
            <a:ext cx="660400" cy="63500"/>
          </a:xfrm>
          <a:prstGeom prst="rect">
            <a:avLst/>
          </a:prstGeom>
          <a:solidFill>
            <a:srgbClr val="BB542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3" name="Text Box 2"/>
          <p:cNvSpPr txBox="1"/>
          <p:nvPr/>
        </p:nvSpPr>
        <p:spPr>
          <a:xfrm>
            <a:off x="584200" y="546100"/>
            <a:ext cx="11023600" cy="276860"/>
          </a:xfrm>
          <a:prstGeom prst="rect">
            <a:avLst/>
          </a:prstGeom>
          <a:noFill/>
        </p:spPr>
        <p:txBody>
          <a:bodyPr wrap="square" lIns="0" tIns="0" rIns="0" bIns="0" rtlCol="0" anchor="t">
            <a:noAutofit/>
          </a:bodyPr>
          <a:lstStyle/>
          <a:p>
            <a:pPr indent="0">
              <a:spcAft>
                <a:spcPts val="700"/>
              </a:spcAft>
              <a:buNone/>
            </a:pPr>
            <a:r>
              <a:rPr lang="vi-VN" sz="3200" b="1">
                <a:solidFill>
                  <a:srgbClr val="172F3C"/>
                </a:solidFill>
                <a:latin typeface="Segoe UI" panose="020B0502040204020203" charset="0"/>
                <a:cs typeface="Segoe UI" panose="020B0502040204020203" charset="0"/>
              </a:rPr>
              <a:t>Phụ lục: công thức và dữ liệu đầu vào</a:t>
            </a:r>
          </a:p>
        </p:txBody>
      </p:sp>
      <p:sp>
        <p:nvSpPr>
          <p:cNvPr id="4" name="Text Box 3"/>
          <p:cNvSpPr txBox="1"/>
          <p:nvPr/>
        </p:nvSpPr>
        <p:spPr>
          <a:xfrm>
            <a:off x="11404600" y="6477000"/>
            <a:ext cx="330200" cy="276860"/>
          </a:xfrm>
          <a:prstGeom prst="rect">
            <a:avLst/>
          </a:prstGeom>
          <a:noFill/>
        </p:spPr>
        <p:txBody>
          <a:bodyPr wrap="square" lIns="0" tIns="0" rIns="0" bIns="0" rtlCol="0" anchor="t">
            <a:noAutofit/>
          </a:bodyPr>
          <a:lstStyle/>
          <a:p>
            <a:pPr indent="0">
              <a:spcAft>
                <a:spcPts val="700"/>
              </a:spcAft>
              <a:buNone/>
            </a:pPr>
            <a:r>
              <a:rPr lang="vi-VN" sz="1000">
                <a:solidFill>
                  <a:srgbClr val="526673"/>
                </a:solidFill>
                <a:latin typeface="Segoe UI" panose="020B0502040204020203" charset="0"/>
                <a:cs typeface="Segoe UI" panose="020B0502040204020203" charset="0"/>
              </a:rPr>
              <a:t>28</a:t>
            </a:r>
          </a:p>
        </p:txBody>
      </p:sp>
      <p:sp>
        <p:nvSpPr>
          <p:cNvPr id="5" name="Text Box 4"/>
          <p:cNvSpPr txBox="1"/>
          <p:nvPr/>
        </p:nvSpPr>
        <p:spPr>
          <a:xfrm>
            <a:off x="584200" y="1905000"/>
            <a:ext cx="11023600" cy="276860"/>
          </a:xfrm>
          <a:prstGeom prst="rect">
            <a:avLst/>
          </a:prstGeom>
          <a:noFill/>
        </p:spPr>
        <p:txBody>
          <a:bodyPr wrap="square" lIns="0" tIns="0" rIns="0" bIns="0" rtlCol="0" anchor="t">
            <a:noAutofit/>
          </a:bodyPr>
          <a:lstStyle/>
          <a:p>
            <a:pPr indent="0">
              <a:spcAft>
                <a:spcPts val="700"/>
              </a:spcAft>
              <a:buNone/>
            </a:pPr>
            <a:r>
              <a:rPr lang="vi-VN" sz="2400">
                <a:solidFill>
                  <a:srgbClr val="172F3C"/>
                </a:solidFill>
                <a:latin typeface="Segoe UI" panose="020B0502040204020203" charset="0"/>
                <a:cs typeface="Segoe UI" panose="020B0502040204020203" charset="0"/>
              </a:rPr>
              <a:t>PSI = Σ (cᵢ − rᵢ) ln(cᵢ / rᵢ)</a:t>
            </a:r>
          </a:p>
        </p:txBody>
      </p:sp>
      <p:sp>
        <p:nvSpPr>
          <p:cNvPr id="6" name="Text Box 5"/>
          <p:cNvSpPr txBox="1"/>
          <p:nvPr/>
        </p:nvSpPr>
        <p:spPr>
          <a:xfrm>
            <a:off x="584200" y="2552700"/>
            <a:ext cx="11023600" cy="276860"/>
          </a:xfrm>
          <a:prstGeom prst="rect">
            <a:avLst/>
          </a:prstGeom>
          <a:noFill/>
        </p:spPr>
        <p:txBody>
          <a:bodyPr wrap="square" lIns="0" tIns="0" rIns="0" bIns="0" rtlCol="0" anchor="t">
            <a:noAutofit/>
          </a:bodyPr>
          <a:lstStyle/>
          <a:p>
            <a:pPr indent="0">
              <a:spcAft>
                <a:spcPts val="700"/>
              </a:spcAft>
              <a:buNone/>
            </a:pPr>
            <a:r>
              <a:rPr lang="vi-VN" sz="2000">
                <a:solidFill>
                  <a:srgbClr val="172F3C"/>
                </a:solidFill>
                <a:latin typeface="Segoe UI" panose="020B0502040204020203" charset="0"/>
                <a:cs typeface="Segoe UI" panose="020B0502040204020203" charset="0"/>
              </a:rPr>
              <a:t>10 bins theo quantile reference, clip xác suất ở 10⁻⁶</a:t>
            </a:r>
          </a:p>
        </p:txBody>
      </p:sp>
      <p:sp>
        <p:nvSpPr>
          <p:cNvPr id="7" name="Text Box 6"/>
          <p:cNvSpPr txBox="1"/>
          <p:nvPr/>
        </p:nvSpPr>
        <p:spPr>
          <a:xfrm>
            <a:off x="584200" y="3200400"/>
            <a:ext cx="11023600" cy="276860"/>
          </a:xfrm>
          <a:prstGeom prst="rect">
            <a:avLst/>
          </a:prstGeom>
          <a:noFill/>
        </p:spPr>
        <p:txBody>
          <a:bodyPr wrap="square" lIns="0" tIns="0" rIns="0" bIns="0" rtlCol="0" anchor="t">
            <a:noAutofit/>
          </a:bodyPr>
          <a:lstStyle/>
          <a:p>
            <a:pPr indent="0">
              <a:spcAft>
                <a:spcPts val="700"/>
              </a:spcAft>
              <a:buNone/>
            </a:pPr>
            <a:r>
              <a:rPr lang="vi-VN" sz="2400">
                <a:solidFill>
                  <a:srgbClr val="172F3C"/>
                </a:solidFill>
                <a:latin typeface="Segoe UI" panose="020B0502040204020203" charset="0"/>
                <a:cs typeface="Segoe UI" panose="020B0502040204020203" charset="0"/>
              </a:rPr>
              <a:t>MMD² = mean(Krr) + mean(Kcc) − 2 mean(Krc)</a:t>
            </a:r>
          </a:p>
        </p:txBody>
      </p:sp>
      <p:sp>
        <p:nvSpPr>
          <p:cNvPr id="8" name="Text Box 7"/>
          <p:cNvSpPr txBox="1"/>
          <p:nvPr/>
        </p:nvSpPr>
        <p:spPr>
          <a:xfrm>
            <a:off x="584200" y="3848100"/>
            <a:ext cx="11023600" cy="276860"/>
          </a:xfrm>
          <a:prstGeom prst="rect">
            <a:avLst/>
          </a:prstGeom>
          <a:noFill/>
        </p:spPr>
        <p:txBody>
          <a:bodyPr wrap="square" lIns="0" tIns="0" rIns="0" bIns="0" rtlCol="0" anchor="t">
            <a:noAutofit/>
          </a:bodyPr>
          <a:lstStyle/>
          <a:p>
            <a:pPr indent="0">
              <a:spcAft>
                <a:spcPts val="700"/>
              </a:spcAft>
              <a:buNone/>
            </a:pPr>
            <a:r>
              <a:rPr lang="vi-VN" sz="2000">
                <a:solidFill>
                  <a:srgbClr val="172F3C"/>
                </a:solidFill>
                <a:latin typeface="Segoe UI" panose="020B0502040204020203" charset="0"/>
                <a:cs typeface="Segoe UI" panose="020B0502040204020203" charset="0"/>
              </a:rPr>
              <a:t>RBF K(x,y) = exp(−‖x−y‖² / 2), vector chuẩn hóa</a:t>
            </a:r>
          </a:p>
        </p:txBody>
      </p:sp>
      <p:sp>
        <p:nvSpPr>
          <p:cNvPr id="9" name="Text Box 8"/>
          <p:cNvSpPr txBox="1"/>
          <p:nvPr/>
        </p:nvSpPr>
        <p:spPr>
          <a:xfrm>
            <a:off x="584200" y="4495800"/>
            <a:ext cx="11023600" cy="276860"/>
          </a:xfrm>
          <a:prstGeom prst="rect">
            <a:avLst/>
          </a:prstGeom>
          <a:noFill/>
        </p:spPr>
        <p:txBody>
          <a:bodyPr wrap="square" lIns="0" tIns="0" rIns="0" bIns="0" rtlCol="0" anchor="t">
            <a:noAutofit/>
          </a:bodyPr>
          <a:lstStyle/>
          <a:p>
            <a:pPr indent="0">
              <a:spcAft>
                <a:spcPts val="700"/>
              </a:spcAft>
              <a:buNone/>
            </a:pPr>
            <a:r>
              <a:rPr lang="vi-VN" sz="2400">
                <a:solidFill>
                  <a:srgbClr val="172F3C"/>
                </a:solidFill>
                <a:latin typeface="Segoe UI" panose="020B0502040204020203" charset="0"/>
                <a:cs typeface="Segoe UI" panose="020B0502040204020203" charset="0"/>
              </a:rPr>
              <a:t>FMR = false accepts / reviewed impostors</a:t>
            </a:r>
          </a:p>
        </p:txBody>
      </p:sp>
      <p:sp>
        <p:nvSpPr>
          <p:cNvPr id="10" name="Text Box 9"/>
          <p:cNvSpPr txBox="1"/>
          <p:nvPr/>
        </p:nvSpPr>
        <p:spPr>
          <a:xfrm>
            <a:off x="584200" y="5143500"/>
            <a:ext cx="11023600" cy="276860"/>
          </a:xfrm>
          <a:prstGeom prst="rect">
            <a:avLst/>
          </a:prstGeom>
          <a:noFill/>
        </p:spPr>
        <p:txBody>
          <a:bodyPr wrap="square" lIns="0" tIns="0" rIns="0" bIns="0" rtlCol="0" anchor="t">
            <a:noAutofit/>
          </a:bodyPr>
          <a:lstStyle/>
          <a:p>
            <a:pPr indent="0">
              <a:spcAft>
                <a:spcPts val="700"/>
              </a:spcAft>
              <a:buNone/>
            </a:pPr>
            <a:r>
              <a:rPr lang="vi-VN" sz="2000">
                <a:solidFill>
                  <a:srgbClr val="172F3C"/>
                </a:solidFill>
                <a:latin typeface="Segoe UI" panose="020B0502040204020203" charset="0"/>
                <a:cs typeface="Segoe UI" panose="020B0502040204020203" charset="0"/>
              </a:rPr>
              <a:t>FNMR = false rejects / reviewed genuine</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4ED"/>
        </a:solidFill>
        <a:effectLst/>
      </p:bgPr>
    </p:bg>
    <p:spTree>
      <p:nvGrpSpPr>
        <p:cNvPr id="1" name=""/>
        <p:cNvGrpSpPr/>
        <p:nvPr/>
      </p:nvGrpSpPr>
      <p:grpSpPr>
        <a:xfrm>
          <a:off x="0" y="0"/>
          <a:ext cx="0" cy="0"/>
          <a:chOff x="0" y="0"/>
          <a:chExt cx="0" cy="0"/>
        </a:xfrm>
      </p:grpSpPr>
      <p:sp>
        <p:nvSpPr>
          <p:cNvPr id="2" name="Rectangle 1"/>
          <p:cNvSpPr/>
          <p:nvPr/>
        </p:nvSpPr>
        <p:spPr>
          <a:xfrm>
            <a:off x="584200" y="317500"/>
            <a:ext cx="660400" cy="63500"/>
          </a:xfrm>
          <a:prstGeom prst="rect">
            <a:avLst/>
          </a:prstGeom>
          <a:solidFill>
            <a:srgbClr val="BB542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3" name="Text Box 2"/>
          <p:cNvSpPr txBox="1"/>
          <p:nvPr/>
        </p:nvSpPr>
        <p:spPr>
          <a:xfrm>
            <a:off x="584200" y="546100"/>
            <a:ext cx="11023600" cy="276860"/>
          </a:xfrm>
          <a:prstGeom prst="rect">
            <a:avLst/>
          </a:prstGeom>
          <a:noFill/>
        </p:spPr>
        <p:txBody>
          <a:bodyPr wrap="square" lIns="0" tIns="0" rIns="0" bIns="0" rtlCol="0" anchor="t">
            <a:noAutofit/>
          </a:bodyPr>
          <a:lstStyle/>
          <a:p>
            <a:pPr indent="0">
              <a:spcAft>
                <a:spcPts val="700"/>
              </a:spcAft>
              <a:buNone/>
            </a:pPr>
            <a:r>
              <a:rPr lang="vi-VN" sz="3200" b="1">
                <a:solidFill>
                  <a:srgbClr val="172F3C"/>
                </a:solidFill>
                <a:latin typeface="Segoe UI" panose="020B0502040204020203" charset="0"/>
                <a:cs typeface="Segoe UI" panose="020B0502040204020203" charset="0"/>
              </a:rPr>
              <a:t>Phụ lục: cấu hình thật và cấu hình simulation</a:t>
            </a:r>
          </a:p>
        </p:txBody>
      </p:sp>
      <p:sp>
        <p:nvSpPr>
          <p:cNvPr id="4" name="Text Box 3"/>
          <p:cNvSpPr txBox="1"/>
          <p:nvPr/>
        </p:nvSpPr>
        <p:spPr>
          <a:xfrm>
            <a:off x="11404600" y="6477000"/>
            <a:ext cx="330200" cy="276860"/>
          </a:xfrm>
          <a:prstGeom prst="rect">
            <a:avLst/>
          </a:prstGeom>
          <a:noFill/>
        </p:spPr>
        <p:txBody>
          <a:bodyPr wrap="square" lIns="0" tIns="0" rIns="0" bIns="0" rtlCol="0" anchor="t">
            <a:noAutofit/>
          </a:bodyPr>
          <a:lstStyle/>
          <a:p>
            <a:pPr indent="0">
              <a:spcAft>
                <a:spcPts val="700"/>
              </a:spcAft>
              <a:buNone/>
            </a:pPr>
            <a:r>
              <a:rPr lang="vi-VN" sz="1000">
                <a:solidFill>
                  <a:srgbClr val="526673"/>
                </a:solidFill>
                <a:latin typeface="Segoe UI" panose="020B0502040204020203" charset="0"/>
                <a:cs typeface="Segoe UI" panose="020B0502040204020203" charset="0"/>
              </a:rPr>
              <a:t>29</a:t>
            </a:r>
          </a:p>
        </p:txBody>
      </p:sp>
      <p:sp>
        <p:nvSpPr>
          <p:cNvPr id="5" name="Text Box 4"/>
          <p:cNvSpPr txBox="1"/>
          <p:nvPr/>
        </p:nvSpPr>
        <p:spPr>
          <a:xfrm>
            <a:off x="584200" y="6121400"/>
            <a:ext cx="10541000" cy="276860"/>
          </a:xfrm>
          <a:prstGeom prst="rect">
            <a:avLst/>
          </a:prstGeom>
          <a:noFill/>
        </p:spPr>
        <p:txBody>
          <a:bodyPr wrap="square" lIns="0" tIns="0" rIns="0" bIns="0" rtlCol="0" anchor="t">
            <a:noAutofit/>
          </a:bodyPr>
          <a:lstStyle/>
          <a:p>
            <a:pPr indent="0">
              <a:spcAft>
                <a:spcPts val="700"/>
              </a:spcAft>
              <a:buNone/>
            </a:pPr>
            <a:r>
              <a:rPr lang="vi-VN" sz="1200">
                <a:solidFill>
                  <a:srgbClr val="526673"/>
                </a:solidFill>
                <a:latin typeface="Segoe UI" panose="020B0502040204020203" charset="0"/>
                <a:cs typeface="Segoe UI" panose="020B0502040204020203" charset="0"/>
              </a:rPr>
              <a:t>FMR ≤1%, FNMR ≤5% và không hồi quy FMR vẫn được kiểm tra trong simulation</a:t>
            </a:r>
          </a:p>
        </p:txBody>
      </p:sp>
      <p:graphicFrame>
        <p:nvGraphicFramePr>
          <p:cNvPr id="6" name="Table 5"/>
          <p:cNvGraphicFramePr/>
          <p:nvPr/>
        </p:nvGraphicFramePr>
        <p:xfrm>
          <a:off x="584200" y="1879600"/>
          <a:ext cx="11023600" cy="3911600"/>
        </p:xfrm>
        <a:graphic>
          <a:graphicData uri="http://schemas.openxmlformats.org/drawingml/2006/table">
            <a:tbl>
              <a:tblPr firstRow="1" bandRow="1">
                <a:tableStyleId>{5C22544A-7EE6-4342-B048-85BDC9FD1C3A}</a:tableStyleId>
              </a:tblPr>
              <a:tblGrid>
                <a:gridCol w="2921000">
                  <a:extLst>
                    <a:ext uri="{9D8B030D-6E8A-4147-A177-3AD203B41FA5}">
                      <a16:colId xmlns:a16="http://schemas.microsoft.com/office/drawing/2014/main" val="20000"/>
                    </a:ext>
                  </a:extLst>
                </a:gridCol>
                <a:gridCol w="4038600">
                  <a:extLst>
                    <a:ext uri="{9D8B030D-6E8A-4147-A177-3AD203B41FA5}">
                      <a16:colId xmlns:a16="http://schemas.microsoft.com/office/drawing/2014/main" val="20001"/>
                    </a:ext>
                  </a:extLst>
                </a:gridCol>
                <a:gridCol w="4064000">
                  <a:extLst>
                    <a:ext uri="{9D8B030D-6E8A-4147-A177-3AD203B41FA5}">
                      <a16:colId xmlns:a16="http://schemas.microsoft.com/office/drawing/2014/main" val="20002"/>
                    </a:ext>
                  </a:extLst>
                </a:gridCol>
              </a:tblGrid>
              <a:tr h="558800">
                <a:tc>
                  <a:txBody>
                    <a:bodyPr/>
                    <a:lstStyle/>
                    <a:p>
                      <a:pPr indent="0">
                        <a:spcAft>
                          <a:spcPts val="0"/>
                        </a:spcAft>
                        <a:buNone/>
                      </a:pPr>
                      <a:r>
                        <a:rPr lang="vi-VN" sz="1900" b="1">
                          <a:solidFill>
                            <a:srgbClr val="FFFFFF"/>
                          </a:solidFill>
                          <a:latin typeface="Segoe UI" panose="020B0502040204020203" charset="0"/>
                          <a:cs typeface="Segoe UI" panose="020B0502040204020203" charset="0"/>
                        </a:rPr>
                        <a:t>Gate</a:t>
                      </a:r>
                    </a:p>
                  </a:txBody>
                  <a:tcPr marL="152400" marR="127000" marT="88900" marB="88900" anchor="ctr">
                    <a:lnL w="12700" cmpd="sng">
                      <a:solidFill>
                        <a:srgbClr val="F7F4ED"/>
                      </a:solidFill>
                    </a:lnL>
                    <a:lnR w="12700" cmpd="sng">
                      <a:solidFill>
                        <a:srgbClr val="F7F4ED"/>
                      </a:solidFill>
                    </a:lnR>
                    <a:lnT w="12700" cmpd="sng">
                      <a:solidFill>
                        <a:srgbClr val="F7F4ED"/>
                      </a:solidFill>
                    </a:lnT>
                    <a:lnB w="38100" cmpd="sng">
                      <a:solidFill>
                        <a:srgbClr val="F7F4ED"/>
                      </a:solidFill>
                    </a:lnB>
                    <a:solidFill>
                      <a:srgbClr val="176E68"/>
                    </a:solidFill>
                  </a:tcPr>
                </a:tc>
                <a:tc>
                  <a:txBody>
                    <a:bodyPr/>
                    <a:lstStyle/>
                    <a:p>
                      <a:pPr indent="0">
                        <a:spcAft>
                          <a:spcPts val="0"/>
                        </a:spcAft>
                        <a:buNone/>
                      </a:pPr>
                      <a:r>
                        <a:rPr lang="vi-VN" sz="1900" b="1">
                          <a:solidFill>
                            <a:srgbClr val="FFFFFF"/>
                          </a:solidFill>
                          <a:latin typeface="Segoe UI" panose="020B0502040204020203" charset="0"/>
                          <a:cs typeface="Segoe UI" panose="020B0502040204020203" charset="0"/>
                        </a:rPr>
                        <a:t>Lifecycle mặc định</a:t>
                      </a:r>
                    </a:p>
                  </a:txBody>
                  <a:tcPr marL="152400" marR="127000" marT="88900" marB="88900" anchor="ctr">
                    <a:lnL w="12700" cmpd="sng">
                      <a:solidFill>
                        <a:srgbClr val="F7F4ED"/>
                      </a:solidFill>
                    </a:lnL>
                    <a:lnR w="12700" cmpd="sng">
                      <a:solidFill>
                        <a:srgbClr val="F7F4ED"/>
                      </a:solidFill>
                    </a:lnR>
                    <a:lnT w="12700" cmpd="sng">
                      <a:solidFill>
                        <a:srgbClr val="F7F4ED"/>
                      </a:solidFill>
                    </a:lnT>
                    <a:lnB w="38100" cmpd="sng">
                      <a:solidFill>
                        <a:srgbClr val="F7F4ED"/>
                      </a:solidFill>
                    </a:lnB>
                    <a:solidFill>
                      <a:srgbClr val="176E68"/>
                    </a:solidFill>
                  </a:tcPr>
                </a:tc>
                <a:tc>
                  <a:txBody>
                    <a:bodyPr/>
                    <a:lstStyle/>
                    <a:p>
                      <a:pPr indent="0">
                        <a:spcAft>
                          <a:spcPts val="0"/>
                        </a:spcAft>
                        <a:buNone/>
                      </a:pPr>
                      <a:r>
                        <a:rPr lang="vi-VN" sz="1900" b="1">
                          <a:solidFill>
                            <a:srgbClr val="FFFFFF"/>
                          </a:solidFill>
                          <a:latin typeface="Segoe UI" panose="020B0502040204020203" charset="0"/>
                          <a:cs typeface="Segoe UI" panose="020B0502040204020203" charset="0"/>
                        </a:rPr>
                        <a:t>Simulation</a:t>
                      </a:r>
                    </a:p>
                  </a:txBody>
                  <a:tcPr marL="152400" marR="127000" marT="88900" marB="88900" anchor="ctr">
                    <a:lnL w="12700" cmpd="sng">
                      <a:solidFill>
                        <a:srgbClr val="F7F4ED"/>
                      </a:solidFill>
                    </a:lnL>
                    <a:lnR w="12700" cmpd="sng">
                      <a:solidFill>
                        <a:srgbClr val="F7F4ED"/>
                      </a:solidFill>
                    </a:lnR>
                    <a:lnT w="12700" cmpd="sng">
                      <a:solidFill>
                        <a:srgbClr val="F7F4ED"/>
                      </a:solidFill>
                    </a:lnT>
                    <a:lnB w="38100" cmpd="sng">
                      <a:solidFill>
                        <a:srgbClr val="F7F4ED"/>
                      </a:solidFill>
                    </a:lnB>
                    <a:solidFill>
                      <a:srgbClr val="176E68"/>
                    </a:solidFill>
                  </a:tcPr>
                </a:tc>
                <a:extLst>
                  <a:ext uri="{0D108BD9-81ED-4DB2-BD59-A6C34878D82A}">
                    <a16:rowId xmlns:a16="http://schemas.microsoft.com/office/drawing/2014/main" val="10000"/>
                  </a:ext>
                </a:extLst>
              </a:tr>
              <a:tr h="558800">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PSI / MMD²</a:t>
                      </a:r>
                    </a:p>
                  </a:txBody>
                  <a:tcPr marL="152400" marR="127000" marT="88900" marB="88900" anchor="ctr">
                    <a:lnL w="12700" cmpd="sng">
                      <a:solidFill>
                        <a:srgbClr val="F7F4ED"/>
                      </a:solidFill>
                    </a:lnL>
                    <a:lnR w="12700" cmpd="sng">
                      <a:solidFill>
                        <a:srgbClr val="F7F4ED"/>
                      </a:solidFill>
                    </a:lnR>
                    <a:lnT w="38100" cmpd="sng">
                      <a:solidFill>
                        <a:srgbClr val="F7F4ED"/>
                      </a:solidFill>
                    </a:lnT>
                    <a:lnB w="12700" cmpd="sng">
                      <a:solidFill>
                        <a:srgbClr val="F7F4ED"/>
                      </a:solidFill>
                    </a:lnB>
                    <a:solidFill>
                      <a:srgbClr val="E4EEEA"/>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0,2 / 0,02</a:t>
                      </a:r>
                    </a:p>
                  </a:txBody>
                  <a:tcPr marL="152400" marR="127000" marT="88900" marB="88900" anchor="ctr">
                    <a:lnL w="12700" cmpd="sng">
                      <a:solidFill>
                        <a:srgbClr val="F7F4ED"/>
                      </a:solidFill>
                    </a:lnL>
                    <a:lnR w="12700" cmpd="sng">
                      <a:solidFill>
                        <a:srgbClr val="F7F4ED"/>
                      </a:solidFill>
                    </a:lnR>
                    <a:lnT w="38100" cmpd="sng">
                      <a:solidFill>
                        <a:srgbClr val="F7F4ED"/>
                      </a:solidFill>
                    </a:lnT>
                    <a:lnB w="12700" cmpd="sng">
                      <a:solidFill>
                        <a:srgbClr val="F7F4ED"/>
                      </a:solidFill>
                    </a:lnB>
                    <a:solidFill>
                      <a:srgbClr val="E4EEEA"/>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0,2 / 0,02</a:t>
                      </a:r>
                    </a:p>
                  </a:txBody>
                  <a:tcPr marL="152400" marR="127000" marT="88900" marB="88900" anchor="ctr">
                    <a:lnL w="12700" cmpd="sng">
                      <a:solidFill>
                        <a:srgbClr val="F7F4ED"/>
                      </a:solidFill>
                    </a:lnL>
                    <a:lnR w="12700" cmpd="sng">
                      <a:solidFill>
                        <a:srgbClr val="F7F4ED"/>
                      </a:solidFill>
                    </a:lnR>
                    <a:lnT w="38100" cmpd="sng">
                      <a:solidFill>
                        <a:srgbClr val="F7F4ED"/>
                      </a:solidFill>
                    </a:lnT>
                    <a:lnB w="12700" cmpd="sng">
                      <a:solidFill>
                        <a:srgbClr val="F7F4ED"/>
                      </a:solidFill>
                    </a:lnB>
                    <a:solidFill>
                      <a:srgbClr val="E4EEEA"/>
                    </a:solidFill>
                  </a:tcPr>
                </a:tc>
                <a:extLst>
                  <a:ext uri="{0D108BD9-81ED-4DB2-BD59-A6C34878D82A}">
                    <a16:rowId xmlns:a16="http://schemas.microsoft.com/office/drawing/2014/main" val="10001"/>
                  </a:ext>
                </a:extLst>
              </a:tr>
              <a:tr h="558800">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Drift persistence</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F7F4ED"/>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3 cửa sổ mới</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F7F4ED"/>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3 cửa sổ synthetic</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F7F4ED"/>
                    </a:solidFill>
                  </a:tcPr>
                </a:tc>
                <a:extLst>
                  <a:ext uri="{0D108BD9-81ED-4DB2-BD59-A6C34878D82A}">
                    <a16:rowId xmlns:a16="http://schemas.microsoft.com/office/drawing/2014/main" val="10002"/>
                  </a:ext>
                </a:extLst>
              </a:tr>
              <a:tr h="558800">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Mẫu / stage</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E4EEEA"/>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≥1.000</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E4EEEA"/>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200 HTTP request</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E4EEEA"/>
                    </a:solidFill>
                  </a:tcPr>
                </a:tc>
                <a:extLst>
                  <a:ext uri="{0D108BD9-81ED-4DB2-BD59-A6C34878D82A}">
                    <a16:rowId xmlns:a16="http://schemas.microsoft.com/office/drawing/2014/main" val="10003"/>
                  </a:ext>
                </a:extLst>
              </a:tr>
              <a:tr h="558800">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Thời gian / stage</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F7F4ED"/>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≥3.600 giây</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F7F4ED"/>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≥5 giây</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F7F4ED"/>
                    </a:solidFill>
                  </a:tcPr>
                </a:tc>
                <a:extLst>
                  <a:ext uri="{0D108BD9-81ED-4DB2-BD59-A6C34878D82A}">
                    <a16:rowId xmlns:a16="http://schemas.microsoft.com/office/drawing/2014/main" val="10004"/>
                  </a:ext>
                </a:extLst>
              </a:tr>
              <a:tr h="558800">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Nhãn / class cho rollout</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E4EEEA"/>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30</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E4EEEA"/>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20</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E4EEEA"/>
                    </a:solidFill>
                  </a:tcPr>
                </a:tc>
                <a:extLst>
                  <a:ext uri="{0D108BD9-81ED-4DB2-BD59-A6C34878D82A}">
                    <a16:rowId xmlns:a16="http://schemas.microsoft.com/office/drawing/2014/main" val="10005"/>
                  </a:ext>
                </a:extLst>
              </a:tr>
              <a:tr h="558800">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Disagreement tối đa</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F7F4ED"/>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0,1</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F7F4ED"/>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0,6</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F7F4ED"/>
                    </a:solidFill>
                  </a:tcPr>
                </a:tc>
                <a:extLst>
                  <a:ext uri="{0D108BD9-81ED-4DB2-BD59-A6C34878D82A}">
                    <a16:rowId xmlns:a16="http://schemas.microsoft.com/office/drawing/2014/main" val="10006"/>
                  </a:ext>
                </a:extLst>
              </a:tr>
            </a:tbl>
          </a:graphicData>
        </a:graphic>
      </p:graphicFrame>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4ED"/>
        </a:solidFill>
        <a:effectLst/>
      </p:bgPr>
    </p:bg>
    <p:spTree>
      <p:nvGrpSpPr>
        <p:cNvPr id="1" name=""/>
        <p:cNvGrpSpPr/>
        <p:nvPr/>
      </p:nvGrpSpPr>
      <p:grpSpPr>
        <a:xfrm>
          <a:off x="0" y="0"/>
          <a:ext cx="0" cy="0"/>
          <a:chOff x="0" y="0"/>
          <a:chExt cx="0" cy="0"/>
        </a:xfrm>
      </p:grpSpPr>
      <p:sp>
        <p:nvSpPr>
          <p:cNvPr id="2" name="Rectangle 1"/>
          <p:cNvSpPr/>
          <p:nvPr/>
        </p:nvSpPr>
        <p:spPr>
          <a:xfrm>
            <a:off x="584200" y="317500"/>
            <a:ext cx="660400" cy="63500"/>
          </a:xfrm>
          <a:prstGeom prst="rect">
            <a:avLst/>
          </a:prstGeom>
          <a:solidFill>
            <a:srgbClr val="BB542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3" name="Text Box 2"/>
          <p:cNvSpPr txBox="1"/>
          <p:nvPr/>
        </p:nvSpPr>
        <p:spPr>
          <a:xfrm>
            <a:off x="584200" y="546100"/>
            <a:ext cx="11023600" cy="276860"/>
          </a:xfrm>
          <a:prstGeom prst="rect">
            <a:avLst/>
          </a:prstGeom>
          <a:noFill/>
        </p:spPr>
        <p:txBody>
          <a:bodyPr wrap="square" lIns="0" tIns="0" rIns="0" bIns="0" rtlCol="0" anchor="t">
            <a:noAutofit/>
          </a:bodyPr>
          <a:lstStyle/>
          <a:p>
            <a:pPr indent="0">
              <a:spcAft>
                <a:spcPts val="700"/>
              </a:spcAft>
              <a:buNone/>
            </a:pPr>
            <a:r>
              <a:rPr lang="vi-VN" sz="3200" b="1">
                <a:solidFill>
                  <a:srgbClr val="172F3C"/>
                </a:solidFill>
                <a:latin typeface="Segoe UI" panose="020B0502040204020203" charset="0"/>
                <a:cs typeface="Segoe UI" panose="020B0502040204020203" charset="0"/>
              </a:rPr>
              <a:t>Phụ lục: bốn câu hỏi dễ bị hiểu nhầm</a:t>
            </a:r>
          </a:p>
        </p:txBody>
      </p:sp>
      <p:sp>
        <p:nvSpPr>
          <p:cNvPr id="4" name="Text Box 3"/>
          <p:cNvSpPr txBox="1"/>
          <p:nvPr/>
        </p:nvSpPr>
        <p:spPr>
          <a:xfrm>
            <a:off x="11404600" y="6477000"/>
            <a:ext cx="330200" cy="276860"/>
          </a:xfrm>
          <a:prstGeom prst="rect">
            <a:avLst/>
          </a:prstGeom>
          <a:noFill/>
        </p:spPr>
        <p:txBody>
          <a:bodyPr wrap="square" lIns="0" tIns="0" rIns="0" bIns="0" rtlCol="0" anchor="t">
            <a:noAutofit/>
          </a:bodyPr>
          <a:lstStyle/>
          <a:p>
            <a:pPr indent="0">
              <a:spcAft>
                <a:spcPts val="700"/>
              </a:spcAft>
              <a:buNone/>
            </a:pPr>
            <a:r>
              <a:rPr lang="vi-VN" sz="1000">
                <a:solidFill>
                  <a:srgbClr val="526673"/>
                </a:solidFill>
                <a:latin typeface="Segoe UI" panose="020B0502040204020203" charset="0"/>
                <a:cs typeface="Segoe UI" panose="020B0502040204020203" charset="0"/>
              </a:rPr>
              <a:t>30</a:t>
            </a:r>
          </a:p>
        </p:txBody>
      </p:sp>
      <p:graphicFrame>
        <p:nvGraphicFramePr>
          <p:cNvPr id="5" name="Table 4"/>
          <p:cNvGraphicFramePr/>
          <p:nvPr/>
        </p:nvGraphicFramePr>
        <p:xfrm>
          <a:off x="584200" y="1879600"/>
          <a:ext cx="11023600" cy="2961640"/>
        </p:xfrm>
        <a:graphic>
          <a:graphicData uri="http://schemas.openxmlformats.org/drawingml/2006/table">
            <a:tbl>
              <a:tblPr firstRow="1" bandRow="1">
                <a:tableStyleId>{5C22544A-7EE6-4342-B048-85BDC9FD1C3A}</a:tableStyleId>
              </a:tblPr>
              <a:tblGrid>
                <a:gridCol w="4000500">
                  <a:extLst>
                    <a:ext uri="{9D8B030D-6E8A-4147-A177-3AD203B41FA5}">
                      <a16:colId xmlns:a16="http://schemas.microsoft.com/office/drawing/2014/main" val="20000"/>
                    </a:ext>
                  </a:extLst>
                </a:gridCol>
                <a:gridCol w="7023100">
                  <a:extLst>
                    <a:ext uri="{9D8B030D-6E8A-4147-A177-3AD203B41FA5}">
                      <a16:colId xmlns:a16="http://schemas.microsoft.com/office/drawing/2014/main" val="20001"/>
                    </a:ext>
                  </a:extLst>
                </a:gridCol>
              </a:tblGrid>
              <a:tr h="558800">
                <a:tc>
                  <a:txBody>
                    <a:bodyPr/>
                    <a:lstStyle/>
                    <a:p>
                      <a:pPr indent="0">
                        <a:spcAft>
                          <a:spcPts val="0"/>
                        </a:spcAft>
                        <a:buNone/>
                      </a:pPr>
                      <a:r>
                        <a:rPr lang="vi-VN" sz="1900" b="1">
                          <a:solidFill>
                            <a:srgbClr val="FFFFFF"/>
                          </a:solidFill>
                          <a:latin typeface="Segoe UI" panose="020B0502040204020203" charset="0"/>
                          <a:cs typeface="Segoe UI" panose="020B0502040204020203" charset="0"/>
                        </a:rPr>
                        <a:t>Câu hỏi</a:t>
                      </a:r>
                    </a:p>
                  </a:txBody>
                  <a:tcPr marL="152400" marR="127000" marT="88900" marB="88900" anchor="ctr">
                    <a:lnL w="12700" cmpd="sng">
                      <a:solidFill>
                        <a:srgbClr val="F7F4ED"/>
                      </a:solidFill>
                    </a:lnL>
                    <a:lnR w="12700" cmpd="sng">
                      <a:solidFill>
                        <a:srgbClr val="F7F4ED"/>
                      </a:solidFill>
                    </a:lnR>
                    <a:lnT w="12700" cmpd="sng">
                      <a:solidFill>
                        <a:srgbClr val="F7F4ED"/>
                      </a:solidFill>
                    </a:lnT>
                    <a:lnB w="38100" cmpd="sng">
                      <a:solidFill>
                        <a:srgbClr val="F7F4ED"/>
                      </a:solidFill>
                    </a:lnB>
                    <a:solidFill>
                      <a:srgbClr val="176E68"/>
                    </a:solidFill>
                  </a:tcPr>
                </a:tc>
                <a:tc>
                  <a:txBody>
                    <a:bodyPr/>
                    <a:lstStyle/>
                    <a:p>
                      <a:pPr indent="0">
                        <a:spcAft>
                          <a:spcPts val="0"/>
                        </a:spcAft>
                        <a:buNone/>
                      </a:pPr>
                      <a:r>
                        <a:rPr lang="vi-VN" sz="1900" b="1">
                          <a:solidFill>
                            <a:srgbClr val="FFFFFF"/>
                          </a:solidFill>
                          <a:latin typeface="Segoe UI" panose="020B0502040204020203" charset="0"/>
                          <a:cs typeface="Segoe UI" panose="020B0502040204020203" charset="0"/>
                        </a:rPr>
                        <a:t>Trả lời theo implementation</a:t>
                      </a:r>
                    </a:p>
                  </a:txBody>
                  <a:tcPr marL="152400" marR="127000" marT="88900" marB="88900" anchor="ctr">
                    <a:lnL w="12700" cmpd="sng">
                      <a:solidFill>
                        <a:srgbClr val="F7F4ED"/>
                      </a:solidFill>
                    </a:lnL>
                    <a:lnR w="12700" cmpd="sng">
                      <a:solidFill>
                        <a:srgbClr val="F7F4ED"/>
                      </a:solidFill>
                    </a:lnR>
                    <a:lnT w="12700" cmpd="sng">
                      <a:solidFill>
                        <a:srgbClr val="F7F4ED"/>
                      </a:solidFill>
                    </a:lnT>
                    <a:lnB w="38100" cmpd="sng">
                      <a:solidFill>
                        <a:srgbClr val="F7F4ED"/>
                      </a:solidFill>
                    </a:lnB>
                    <a:solidFill>
                      <a:srgbClr val="176E68"/>
                    </a:solidFill>
                  </a:tcPr>
                </a:tc>
                <a:extLst>
                  <a:ext uri="{0D108BD9-81ED-4DB2-BD59-A6C34878D82A}">
                    <a16:rowId xmlns:a16="http://schemas.microsoft.com/office/drawing/2014/main" val="10000"/>
                  </a:ext>
                </a:extLst>
              </a:tr>
              <a:tr h="558800">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Có retrain encoder không?</a:t>
                      </a:r>
                    </a:p>
                  </a:txBody>
                  <a:tcPr marL="152400" marR="127000" marT="88900" marB="88900" anchor="ctr">
                    <a:lnL w="12700" cmpd="sng">
                      <a:solidFill>
                        <a:srgbClr val="F7F4ED"/>
                      </a:solidFill>
                    </a:lnL>
                    <a:lnR w="12700" cmpd="sng">
                      <a:solidFill>
                        <a:srgbClr val="F7F4ED"/>
                      </a:solidFill>
                    </a:lnR>
                    <a:lnT w="38100" cmpd="sng">
                      <a:solidFill>
                        <a:srgbClr val="F7F4ED"/>
                      </a:solidFill>
                    </a:lnT>
                    <a:lnB w="12700" cmpd="sng">
                      <a:solidFill>
                        <a:srgbClr val="F7F4ED"/>
                      </a:solidFill>
                    </a:lnB>
                    <a:solidFill>
                      <a:srgbClr val="E4EEEA"/>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Chỉ hiệu chỉnh threshold policy Face / Voice</a:t>
                      </a:r>
                    </a:p>
                  </a:txBody>
                  <a:tcPr marL="152400" marR="127000" marT="88900" marB="88900" anchor="ctr">
                    <a:lnL w="12700" cmpd="sng">
                      <a:solidFill>
                        <a:srgbClr val="F7F4ED"/>
                      </a:solidFill>
                    </a:lnL>
                    <a:lnR w="12700" cmpd="sng">
                      <a:solidFill>
                        <a:srgbClr val="F7F4ED"/>
                      </a:solidFill>
                    </a:lnR>
                    <a:lnT w="38100" cmpd="sng">
                      <a:solidFill>
                        <a:srgbClr val="F7F4ED"/>
                      </a:solidFill>
                    </a:lnT>
                    <a:lnB w="12700" cmpd="sng">
                      <a:solidFill>
                        <a:srgbClr val="F7F4ED"/>
                      </a:solidFill>
                    </a:lnB>
                    <a:solidFill>
                      <a:srgbClr val="E4EEEA"/>
                    </a:solidFill>
                  </a:tcPr>
                </a:tc>
                <a:extLst>
                  <a:ext uri="{0D108BD9-81ED-4DB2-BD59-A6C34878D82A}">
                    <a16:rowId xmlns:a16="http://schemas.microsoft.com/office/drawing/2014/main" val="10001"/>
                  </a:ext>
                </a:extLst>
              </a:tr>
              <a:tr h="558800">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Có embedding DB không?</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F7F4ED"/>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Embedding JSON trong PostgreSQL, xác minh 1:1</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F7F4ED"/>
                    </a:solidFill>
                  </a:tcPr>
                </a:tc>
                <a:extLst>
                  <a:ext uri="{0D108BD9-81ED-4DB2-BD59-A6C34878D82A}">
                    <a16:rowId xmlns:a16="http://schemas.microsoft.com/office/drawing/2014/main" val="10002"/>
                  </a:ext>
                </a:extLst>
              </a:tr>
              <a:tr h="558800">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Deploy có phải canary không?</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E4EEEA"/>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Policy có canary. App dùng Compose replacement</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E4EEEA"/>
                    </a:solidFill>
                  </a:tcPr>
                </a:tc>
                <a:extLst>
                  <a:ext uri="{0D108BD9-81ED-4DB2-BD59-A6C34878D82A}">
                    <a16:rowId xmlns:a16="http://schemas.microsoft.com/office/drawing/2014/main" val="10003"/>
                  </a:ext>
                </a:extLst>
              </a:tr>
              <a:tr h="558800">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Simulation có dùng dữ liệu thật không?</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F7F4ED"/>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Vector / labels tổng hợp, DB / Registry riêng</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F7F4ED"/>
                    </a:solidFill>
                  </a:tcPr>
                </a:tc>
                <a:extLst>
                  <a:ext uri="{0D108BD9-81ED-4DB2-BD59-A6C34878D82A}">
                    <a16:rowId xmlns:a16="http://schemas.microsoft.com/office/drawing/2014/main" val="10004"/>
                  </a:ext>
                </a:extLst>
              </a:tr>
            </a:tbl>
          </a:graphicData>
        </a:graphic>
      </p:graphicFrame>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4ED"/>
        </a:solidFill>
        <a:effectLst/>
      </p:bgPr>
    </p:bg>
    <p:spTree>
      <p:nvGrpSpPr>
        <p:cNvPr id="1" name=""/>
        <p:cNvGrpSpPr/>
        <p:nvPr/>
      </p:nvGrpSpPr>
      <p:grpSpPr>
        <a:xfrm>
          <a:off x="0" y="0"/>
          <a:ext cx="0" cy="0"/>
          <a:chOff x="0" y="0"/>
          <a:chExt cx="0" cy="0"/>
        </a:xfrm>
      </p:grpSpPr>
      <p:sp>
        <p:nvSpPr>
          <p:cNvPr id="2" name="Rectangle 1"/>
          <p:cNvSpPr/>
          <p:nvPr/>
        </p:nvSpPr>
        <p:spPr>
          <a:xfrm>
            <a:off x="584200" y="317500"/>
            <a:ext cx="660400" cy="63500"/>
          </a:xfrm>
          <a:prstGeom prst="rect">
            <a:avLst/>
          </a:prstGeom>
          <a:solidFill>
            <a:srgbClr val="BB542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3" name="Text Box 2"/>
          <p:cNvSpPr txBox="1"/>
          <p:nvPr/>
        </p:nvSpPr>
        <p:spPr>
          <a:xfrm>
            <a:off x="584200" y="546100"/>
            <a:ext cx="11023600" cy="276860"/>
          </a:xfrm>
          <a:prstGeom prst="rect">
            <a:avLst/>
          </a:prstGeom>
          <a:noFill/>
        </p:spPr>
        <p:txBody>
          <a:bodyPr wrap="square" lIns="0" tIns="0" rIns="0" bIns="0" rtlCol="0" anchor="t">
            <a:noAutofit/>
          </a:bodyPr>
          <a:lstStyle/>
          <a:p>
            <a:pPr indent="0">
              <a:spcAft>
                <a:spcPts val="700"/>
              </a:spcAft>
              <a:buNone/>
            </a:pPr>
            <a:r>
              <a:rPr lang="vi-VN" sz="3200" b="1">
                <a:solidFill>
                  <a:srgbClr val="172F3C"/>
                </a:solidFill>
                <a:latin typeface="Segoe UI" panose="020B0502040204020203" charset="0"/>
                <a:cs typeface="Segoe UI" panose="020B0502040204020203" charset="0"/>
              </a:rPr>
              <a:t>Phụ lục: nguồn và cách đối chiếu bằng chứng</a:t>
            </a:r>
          </a:p>
        </p:txBody>
      </p:sp>
      <p:sp>
        <p:nvSpPr>
          <p:cNvPr id="4" name="Text Box 3"/>
          <p:cNvSpPr txBox="1"/>
          <p:nvPr/>
        </p:nvSpPr>
        <p:spPr>
          <a:xfrm>
            <a:off x="11404600" y="6477000"/>
            <a:ext cx="330200" cy="276860"/>
          </a:xfrm>
          <a:prstGeom prst="rect">
            <a:avLst/>
          </a:prstGeom>
          <a:noFill/>
        </p:spPr>
        <p:txBody>
          <a:bodyPr wrap="square" lIns="0" tIns="0" rIns="0" bIns="0" rtlCol="0" anchor="t">
            <a:noAutofit/>
          </a:bodyPr>
          <a:lstStyle/>
          <a:p>
            <a:pPr indent="0">
              <a:spcAft>
                <a:spcPts val="700"/>
              </a:spcAft>
              <a:buNone/>
            </a:pPr>
            <a:r>
              <a:rPr lang="vi-VN" sz="1000">
                <a:solidFill>
                  <a:srgbClr val="526673"/>
                </a:solidFill>
                <a:latin typeface="Segoe UI" panose="020B0502040204020203" charset="0"/>
                <a:cs typeface="Segoe UI" panose="020B0502040204020203" charset="0"/>
              </a:rPr>
              <a:t>33</a:t>
            </a:r>
          </a:p>
        </p:txBody>
      </p:sp>
      <p:sp>
        <p:nvSpPr>
          <p:cNvPr id="5" name="Text Box 4"/>
          <p:cNvSpPr txBox="1"/>
          <p:nvPr/>
        </p:nvSpPr>
        <p:spPr>
          <a:xfrm>
            <a:off x="584200" y="6121400"/>
            <a:ext cx="10541000" cy="276860"/>
          </a:xfrm>
          <a:prstGeom prst="rect">
            <a:avLst/>
          </a:prstGeom>
          <a:noFill/>
        </p:spPr>
        <p:txBody>
          <a:bodyPr wrap="square" lIns="0" tIns="0" rIns="0" bIns="0" rtlCol="0" anchor="t">
            <a:noAutofit/>
          </a:bodyPr>
          <a:lstStyle/>
          <a:p>
            <a:pPr indent="0">
              <a:spcAft>
                <a:spcPts val="700"/>
              </a:spcAft>
              <a:buNone/>
            </a:pPr>
            <a:r>
              <a:rPr lang="vi-VN" sz="1200">
                <a:solidFill>
                  <a:srgbClr val="526673"/>
                </a:solidFill>
                <a:latin typeface="Segoe UI" panose="020B0502040204020203" charset="0"/>
                <a:cs typeface="Segoe UI" panose="020B0502040204020203" charset="0"/>
              </a:rPr>
              <a:t>Câu chuyện mở đầu là tình huống giả định. Không sử dụng số liệu tỷ lệ cheating chưa có nguồn</a:t>
            </a:r>
          </a:p>
        </p:txBody>
      </p:sp>
      <p:sp>
        <p:nvSpPr>
          <p:cNvPr id="6" name="Text Box 5"/>
          <p:cNvSpPr txBox="1"/>
          <p:nvPr/>
        </p:nvSpPr>
        <p:spPr>
          <a:xfrm>
            <a:off x="584200" y="1917700"/>
            <a:ext cx="11023600" cy="276860"/>
          </a:xfrm>
          <a:prstGeom prst="rect">
            <a:avLst/>
          </a:prstGeom>
          <a:noFill/>
        </p:spPr>
        <p:txBody>
          <a:bodyPr wrap="square" lIns="0" tIns="0" rIns="0" bIns="0" rtlCol="0" anchor="t">
            <a:noAutofit/>
          </a:bodyPr>
          <a:lstStyle/>
          <a:p>
            <a:pPr indent="0">
              <a:spcAft>
                <a:spcPts val="700"/>
              </a:spcAft>
              <a:buNone/>
            </a:pPr>
            <a:r>
              <a:rPr lang="vi-VN" sz="2300">
                <a:solidFill>
                  <a:srgbClr val="172F3C"/>
                </a:solidFill>
                <a:latin typeface="Segoe UI" panose="020B0502040204020203" charset="0"/>
                <a:cs typeface="Segoe UI" panose="020B0502040204020203" charset="0"/>
              </a:rPr>
              <a:t>Repo: FSB-MSA36HN/DDM501-face-voice-proctoring</a:t>
            </a:r>
          </a:p>
        </p:txBody>
      </p:sp>
      <p:sp>
        <p:nvSpPr>
          <p:cNvPr id="7" name="Text Box 6"/>
          <p:cNvSpPr txBox="1"/>
          <p:nvPr/>
        </p:nvSpPr>
        <p:spPr>
          <a:xfrm>
            <a:off x="584200" y="2692400"/>
            <a:ext cx="11023600" cy="276860"/>
          </a:xfrm>
          <a:prstGeom prst="rect">
            <a:avLst/>
          </a:prstGeom>
          <a:noFill/>
        </p:spPr>
        <p:txBody>
          <a:bodyPr wrap="square" lIns="0" tIns="0" rIns="0" bIns="0" rtlCol="0" anchor="t">
            <a:noAutofit/>
          </a:bodyPr>
          <a:lstStyle/>
          <a:p>
            <a:pPr indent="0">
              <a:spcAft>
                <a:spcPts val="700"/>
              </a:spcAft>
              <a:buNone/>
            </a:pPr>
            <a:r>
              <a:rPr lang="vi-VN" sz="2300">
                <a:solidFill>
                  <a:srgbClr val="172F3C"/>
                </a:solidFill>
                <a:latin typeface="Segoe UI" panose="020B0502040204020203" charset="0"/>
                <a:cs typeface="Segoe UI" panose="020B0502040204020203" charset="0"/>
              </a:rPr>
              <a:t>README.md, ARCHITECTURE.md, CONTRIBUTING.md</a:t>
            </a:r>
          </a:p>
        </p:txBody>
      </p:sp>
      <p:sp>
        <p:nvSpPr>
          <p:cNvPr id="8" name="Text Box 7"/>
          <p:cNvSpPr txBox="1"/>
          <p:nvPr/>
        </p:nvSpPr>
        <p:spPr>
          <a:xfrm>
            <a:off x="584200" y="3467100"/>
            <a:ext cx="11023600" cy="276860"/>
          </a:xfrm>
          <a:prstGeom prst="rect">
            <a:avLst/>
          </a:prstGeom>
          <a:noFill/>
        </p:spPr>
        <p:txBody>
          <a:bodyPr wrap="square" lIns="0" tIns="0" rIns="0" bIns="0" rtlCol="0" anchor="t">
            <a:noAutofit/>
          </a:bodyPr>
          <a:lstStyle/>
          <a:p>
            <a:pPr indent="0">
              <a:spcAft>
                <a:spcPts val="700"/>
              </a:spcAft>
              <a:buNone/>
            </a:pPr>
            <a:r>
              <a:rPr lang="vi-VN" sz="2300">
                <a:solidFill>
                  <a:srgbClr val="172F3C"/>
                </a:solidFill>
                <a:latin typeface="Segoe UI" panose="020B0502040204020203" charset="0"/>
                <a:cs typeface="Segoe UI" panose="020B0502040204020203" charset="0"/>
              </a:rPr>
              <a:t>docs/MODALITY_LIFECYCLE.md và docs/SIMULATION.md</a:t>
            </a:r>
          </a:p>
        </p:txBody>
      </p:sp>
      <p:sp>
        <p:nvSpPr>
          <p:cNvPr id="9" name="Text Box 8"/>
          <p:cNvSpPr txBox="1"/>
          <p:nvPr/>
        </p:nvSpPr>
        <p:spPr>
          <a:xfrm>
            <a:off x="584200" y="4241800"/>
            <a:ext cx="11023600" cy="276860"/>
          </a:xfrm>
          <a:prstGeom prst="rect">
            <a:avLst/>
          </a:prstGeom>
          <a:noFill/>
        </p:spPr>
        <p:txBody>
          <a:bodyPr wrap="square" lIns="0" tIns="0" rIns="0" bIns="0" rtlCol="0" anchor="t">
            <a:noAutofit/>
          </a:bodyPr>
          <a:lstStyle/>
          <a:p>
            <a:pPr indent="0">
              <a:spcAft>
                <a:spcPts val="700"/>
              </a:spcAft>
              <a:buNone/>
            </a:pPr>
            <a:r>
              <a:rPr lang="vi-VN" sz="2300">
                <a:solidFill>
                  <a:srgbClr val="172F3C"/>
                </a:solidFill>
                <a:latin typeface="Segoe UI" panose="020B0502040204020203" charset="0"/>
                <a:cs typeface="Segoe UI" panose="020B0502040204020203" charset="0"/>
              </a:rPr>
              <a:t>VERIFICATION.md: mốc kiểm chứng local ngày 03/10/2026</a:t>
            </a:r>
          </a:p>
        </p:txBody>
      </p:sp>
      <p:sp>
        <p:nvSpPr>
          <p:cNvPr id="10" name="Text Box 9"/>
          <p:cNvSpPr txBox="1"/>
          <p:nvPr/>
        </p:nvSpPr>
        <p:spPr>
          <a:xfrm>
            <a:off x="584200" y="5016500"/>
            <a:ext cx="11023600" cy="276860"/>
          </a:xfrm>
          <a:prstGeom prst="rect">
            <a:avLst/>
          </a:prstGeom>
          <a:noFill/>
        </p:spPr>
        <p:txBody>
          <a:bodyPr wrap="square" lIns="0" tIns="0" rIns="0" bIns="0" rtlCol="0" anchor="t">
            <a:noAutofit/>
          </a:bodyPr>
          <a:lstStyle/>
          <a:p>
            <a:pPr indent="0">
              <a:spcAft>
                <a:spcPts val="700"/>
              </a:spcAft>
              <a:buNone/>
            </a:pPr>
            <a:r>
              <a:rPr lang="vi-VN" sz="2300">
                <a:solidFill>
                  <a:srgbClr val="172F3C"/>
                </a:solidFill>
                <a:latin typeface="Segoe UI" panose="020B0502040204020203" charset="0"/>
                <a:cs typeface="Segoe UI" panose="020B0502040204020203" charset="0"/>
              </a:rPr>
              <a:t>Source cụ thể và lời thoại nằm trong Notes của từng slide</a:t>
            </a: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show="0">
  <p:cSld>
    <p:bg>
      <p:bgPr>
        <a:solidFill>
          <a:srgbClr val="F7F4ED"/>
        </a:solidFill>
        <a:effectLst/>
      </p:bgPr>
    </p:bg>
    <p:spTree>
      <p:nvGrpSpPr>
        <p:cNvPr id="1" name=""/>
        <p:cNvGrpSpPr/>
        <p:nvPr/>
      </p:nvGrpSpPr>
      <p:grpSpPr>
        <a:xfrm>
          <a:off x="0" y="0"/>
          <a:ext cx="0" cy="0"/>
          <a:chOff x="0" y="0"/>
          <a:chExt cx="0" cy="0"/>
        </a:xfrm>
      </p:grpSpPr>
      <p:sp>
        <p:nvSpPr>
          <p:cNvPr id="2" name="Rectangle 1"/>
          <p:cNvSpPr/>
          <p:nvPr/>
        </p:nvSpPr>
        <p:spPr>
          <a:xfrm>
            <a:off x="584200" y="317500"/>
            <a:ext cx="660400" cy="63500"/>
          </a:xfrm>
          <a:prstGeom prst="rect">
            <a:avLst/>
          </a:prstGeom>
          <a:solidFill>
            <a:srgbClr val="BB542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3" name="Text Box 2"/>
          <p:cNvSpPr txBox="1"/>
          <p:nvPr/>
        </p:nvSpPr>
        <p:spPr>
          <a:xfrm>
            <a:off x="584200" y="546100"/>
            <a:ext cx="11023600" cy="276860"/>
          </a:xfrm>
          <a:prstGeom prst="rect">
            <a:avLst/>
          </a:prstGeom>
          <a:noFill/>
        </p:spPr>
        <p:txBody>
          <a:bodyPr wrap="square" lIns="0" tIns="0" rIns="0" bIns="0" rtlCol="0" anchor="t">
            <a:noAutofit/>
          </a:bodyPr>
          <a:lstStyle/>
          <a:p>
            <a:pPr indent="0">
              <a:spcAft>
                <a:spcPts val="700"/>
              </a:spcAft>
              <a:buNone/>
            </a:pPr>
            <a:r>
              <a:rPr lang="vi-VN" sz="3200" b="1">
                <a:solidFill>
                  <a:srgbClr val="172F3C"/>
                </a:solidFill>
                <a:latin typeface="Segoe UI" panose="020B0502040204020203" charset="0"/>
                <a:cs typeface="Segoe UI" panose="020B0502040204020203" charset="0"/>
              </a:rPr>
              <a:t>Demo sản phẩm: tạo nhân viên và ghi danh</a:t>
            </a:r>
          </a:p>
        </p:txBody>
      </p:sp>
      <p:sp>
        <p:nvSpPr>
          <p:cNvPr id="4" name="Text Box 3"/>
          <p:cNvSpPr txBox="1"/>
          <p:nvPr/>
        </p:nvSpPr>
        <p:spPr>
          <a:xfrm>
            <a:off x="11404600" y="6477000"/>
            <a:ext cx="330200" cy="276860"/>
          </a:xfrm>
          <a:prstGeom prst="rect">
            <a:avLst/>
          </a:prstGeom>
          <a:noFill/>
        </p:spPr>
        <p:txBody>
          <a:bodyPr wrap="square" lIns="0" tIns="0" rIns="0" bIns="0" rtlCol="0" anchor="t">
            <a:noAutofit/>
          </a:bodyPr>
          <a:lstStyle/>
          <a:p>
            <a:pPr indent="0">
              <a:spcAft>
                <a:spcPts val="700"/>
              </a:spcAft>
              <a:buNone/>
            </a:pPr>
            <a:r>
              <a:rPr lang="vi-VN" sz="1000">
                <a:solidFill>
                  <a:srgbClr val="526673"/>
                </a:solidFill>
                <a:latin typeface="Segoe UI" panose="020B0502040204020203" charset="0"/>
                <a:cs typeface="Segoe UI" panose="020B0502040204020203" charset="0"/>
              </a:rPr>
              <a:t>19</a:t>
            </a:r>
          </a:p>
        </p:txBody>
      </p:sp>
      <p:sp>
        <p:nvSpPr>
          <p:cNvPr id="5" name="Text Box 4"/>
          <p:cNvSpPr txBox="1"/>
          <p:nvPr/>
        </p:nvSpPr>
        <p:spPr>
          <a:xfrm>
            <a:off x="584200" y="6121400"/>
            <a:ext cx="10541000" cy="276860"/>
          </a:xfrm>
          <a:prstGeom prst="rect">
            <a:avLst/>
          </a:prstGeom>
          <a:noFill/>
        </p:spPr>
        <p:txBody>
          <a:bodyPr wrap="square" lIns="0" tIns="0" rIns="0" bIns="0" rtlCol="0" anchor="t">
            <a:noAutofit/>
          </a:bodyPr>
          <a:lstStyle/>
          <a:p>
            <a:pPr indent="0">
              <a:spcAft>
                <a:spcPts val="700"/>
              </a:spcAft>
              <a:buNone/>
            </a:pPr>
            <a:r>
              <a:rPr lang="vi-VN" sz="1200">
                <a:solidFill>
                  <a:srgbClr val="526673"/>
                </a:solidFill>
                <a:latin typeface="Segoe UI" panose="020B0502040204020203" charset="0"/>
                <a:cs typeface="Segoe UI" panose="020B0502040204020203" charset="0"/>
              </a:rPr>
              <a:t>Demo riêng 10–15 phút. Runbook thao tác chi tiết: DEMO_RUNBOOK.md</a:t>
            </a:r>
          </a:p>
        </p:txBody>
      </p:sp>
      <p:sp>
        <p:nvSpPr>
          <p:cNvPr id="6" name="Text Box 5"/>
          <p:cNvSpPr txBox="1"/>
          <p:nvPr/>
        </p:nvSpPr>
        <p:spPr>
          <a:xfrm>
            <a:off x="584200" y="1993900"/>
            <a:ext cx="965200" cy="276860"/>
          </a:xfrm>
          <a:prstGeom prst="rect">
            <a:avLst/>
          </a:prstGeom>
          <a:noFill/>
        </p:spPr>
        <p:txBody>
          <a:bodyPr wrap="square" lIns="0" tIns="0" rIns="0" bIns="0" rtlCol="0" anchor="t">
            <a:noAutofit/>
          </a:bodyPr>
          <a:lstStyle/>
          <a:p>
            <a:pPr indent="0">
              <a:spcAft>
                <a:spcPts val="700"/>
              </a:spcAft>
              <a:buNone/>
            </a:pPr>
            <a:r>
              <a:rPr lang="vi-VN" sz="3900" b="1">
                <a:solidFill>
                  <a:srgbClr val="BB542A"/>
                </a:solidFill>
                <a:latin typeface="Segoe UI" panose="020B0502040204020203" charset="0"/>
                <a:cs typeface="Segoe UI" panose="020B0502040204020203" charset="0"/>
              </a:rPr>
              <a:t>01</a:t>
            </a:r>
          </a:p>
        </p:txBody>
      </p:sp>
      <p:sp>
        <p:nvSpPr>
          <p:cNvPr id="7" name="Text Box 6"/>
          <p:cNvSpPr txBox="1"/>
          <p:nvPr/>
        </p:nvSpPr>
        <p:spPr>
          <a:xfrm>
            <a:off x="1816100" y="1993900"/>
            <a:ext cx="9728200" cy="276860"/>
          </a:xfrm>
          <a:prstGeom prst="rect">
            <a:avLst/>
          </a:prstGeom>
          <a:noFill/>
        </p:spPr>
        <p:txBody>
          <a:bodyPr wrap="square" lIns="0" tIns="0" rIns="0" bIns="0" rtlCol="0" anchor="t">
            <a:noAutofit/>
          </a:bodyPr>
          <a:lstStyle/>
          <a:p>
            <a:pPr indent="0">
              <a:spcAft>
                <a:spcPts val="700"/>
              </a:spcAft>
              <a:buNone/>
            </a:pPr>
            <a:r>
              <a:rPr lang="vi-VN" sz="2700" b="1">
                <a:solidFill>
                  <a:srgbClr val="176E68"/>
                </a:solidFill>
                <a:latin typeface="Segoe UI" panose="020B0502040204020203" charset="0"/>
                <a:cs typeface="Segoe UI" panose="020B0502040204020203" charset="0"/>
              </a:rPr>
              <a:t>Mở công ty demo A</a:t>
            </a:r>
          </a:p>
        </p:txBody>
      </p:sp>
      <p:sp>
        <p:nvSpPr>
          <p:cNvPr id="8" name="Text Box 7"/>
          <p:cNvSpPr txBox="1"/>
          <p:nvPr/>
        </p:nvSpPr>
        <p:spPr>
          <a:xfrm>
            <a:off x="1816100" y="2667000"/>
            <a:ext cx="9728200" cy="276860"/>
          </a:xfrm>
          <a:prstGeom prst="rect">
            <a:avLst/>
          </a:prstGeom>
          <a:noFill/>
        </p:spPr>
        <p:txBody>
          <a:bodyPr wrap="square" lIns="0" tIns="0" rIns="0" bIns="0" rtlCol="0" anchor="t">
            <a:noAutofit/>
          </a:bodyPr>
          <a:lstStyle/>
          <a:p>
            <a:pPr indent="0">
              <a:spcAft>
                <a:spcPts val="700"/>
              </a:spcAft>
              <a:buNone/>
            </a:pPr>
            <a:r>
              <a:rPr lang="vi-VN" sz="2000">
                <a:solidFill>
                  <a:srgbClr val="172F3C"/>
                </a:solidFill>
                <a:latin typeface="Segoe UI" panose="020B0502040204020203" charset="0"/>
                <a:cs typeface="Segoe UI" panose="020B0502040204020203" charset="0"/>
              </a:rPr>
              <a:t>Nhân viên mới, operator đã đăng nhập</a:t>
            </a:r>
          </a:p>
        </p:txBody>
      </p:sp>
      <p:sp>
        <p:nvSpPr>
          <p:cNvPr id="9" name="Text Box 8"/>
          <p:cNvSpPr txBox="1"/>
          <p:nvPr/>
        </p:nvSpPr>
        <p:spPr>
          <a:xfrm>
            <a:off x="584200" y="3289300"/>
            <a:ext cx="965200" cy="276860"/>
          </a:xfrm>
          <a:prstGeom prst="rect">
            <a:avLst/>
          </a:prstGeom>
          <a:noFill/>
        </p:spPr>
        <p:txBody>
          <a:bodyPr wrap="square" lIns="0" tIns="0" rIns="0" bIns="0" rtlCol="0" anchor="t">
            <a:noAutofit/>
          </a:bodyPr>
          <a:lstStyle/>
          <a:p>
            <a:pPr indent="0">
              <a:spcAft>
                <a:spcPts val="700"/>
              </a:spcAft>
              <a:buNone/>
            </a:pPr>
            <a:r>
              <a:rPr lang="vi-VN" sz="3900" b="1">
                <a:solidFill>
                  <a:srgbClr val="BB542A"/>
                </a:solidFill>
                <a:latin typeface="Segoe UI" panose="020B0502040204020203" charset="0"/>
                <a:cs typeface="Segoe UI" panose="020B0502040204020203" charset="0"/>
              </a:rPr>
              <a:t>02</a:t>
            </a:r>
          </a:p>
        </p:txBody>
      </p:sp>
      <p:sp>
        <p:nvSpPr>
          <p:cNvPr id="10" name="Text Box 9"/>
          <p:cNvSpPr txBox="1"/>
          <p:nvPr/>
        </p:nvSpPr>
        <p:spPr>
          <a:xfrm>
            <a:off x="1816100" y="3289300"/>
            <a:ext cx="9728200" cy="276860"/>
          </a:xfrm>
          <a:prstGeom prst="rect">
            <a:avLst/>
          </a:prstGeom>
          <a:noFill/>
        </p:spPr>
        <p:txBody>
          <a:bodyPr wrap="square" lIns="0" tIns="0" rIns="0" bIns="0" rtlCol="0" anchor="t">
            <a:noAutofit/>
          </a:bodyPr>
          <a:lstStyle/>
          <a:p>
            <a:pPr indent="0">
              <a:spcAft>
                <a:spcPts val="700"/>
              </a:spcAft>
              <a:buNone/>
            </a:pPr>
            <a:r>
              <a:rPr lang="vi-VN" sz="2700" b="1">
                <a:solidFill>
                  <a:srgbClr val="176E68"/>
                </a:solidFill>
                <a:latin typeface="Segoe UI" panose="020B0502040204020203" charset="0"/>
                <a:cs typeface="Segoe UI" panose="020B0502040204020203" charset="0"/>
              </a:rPr>
              <a:t>Ghi danh Face và Voice</a:t>
            </a:r>
          </a:p>
        </p:txBody>
      </p:sp>
      <p:sp>
        <p:nvSpPr>
          <p:cNvPr id="11" name="Text Box 10"/>
          <p:cNvSpPr txBox="1"/>
          <p:nvPr/>
        </p:nvSpPr>
        <p:spPr>
          <a:xfrm>
            <a:off x="1816100" y="3962400"/>
            <a:ext cx="9728200" cy="276860"/>
          </a:xfrm>
          <a:prstGeom prst="rect">
            <a:avLst/>
          </a:prstGeom>
          <a:noFill/>
        </p:spPr>
        <p:txBody>
          <a:bodyPr wrap="square" lIns="0" tIns="0" rIns="0" bIns="0" rtlCol="0" anchor="t">
            <a:noAutofit/>
          </a:bodyPr>
          <a:lstStyle/>
          <a:p>
            <a:pPr indent="0">
              <a:spcAft>
                <a:spcPts val="700"/>
              </a:spcAft>
              <a:buNone/>
            </a:pPr>
            <a:r>
              <a:rPr lang="vi-VN" sz="2000">
                <a:solidFill>
                  <a:srgbClr val="172F3C"/>
                </a:solidFill>
                <a:latin typeface="Segoe UI" panose="020B0502040204020203" charset="0"/>
                <a:cs typeface="Segoe UI" panose="020B0502040204020203" charset="0"/>
              </a:rPr>
              <a:t>Hai ảnh, hai WAV và xác nhận đồng ý hợp lệ</a:t>
            </a:r>
          </a:p>
        </p:txBody>
      </p:sp>
      <p:sp>
        <p:nvSpPr>
          <p:cNvPr id="12" name="Text Box 11"/>
          <p:cNvSpPr txBox="1"/>
          <p:nvPr/>
        </p:nvSpPr>
        <p:spPr>
          <a:xfrm>
            <a:off x="584200" y="4584700"/>
            <a:ext cx="965200" cy="276860"/>
          </a:xfrm>
          <a:prstGeom prst="rect">
            <a:avLst/>
          </a:prstGeom>
          <a:noFill/>
        </p:spPr>
        <p:txBody>
          <a:bodyPr wrap="square" lIns="0" tIns="0" rIns="0" bIns="0" rtlCol="0" anchor="t">
            <a:noAutofit/>
          </a:bodyPr>
          <a:lstStyle/>
          <a:p>
            <a:pPr indent="0">
              <a:spcAft>
                <a:spcPts val="700"/>
              </a:spcAft>
              <a:buNone/>
            </a:pPr>
            <a:r>
              <a:rPr lang="vi-VN" sz="3900" b="1">
                <a:solidFill>
                  <a:srgbClr val="BB542A"/>
                </a:solidFill>
                <a:latin typeface="Segoe UI" panose="020B0502040204020203" charset="0"/>
                <a:cs typeface="Segoe UI" panose="020B0502040204020203" charset="0"/>
              </a:rPr>
              <a:t>03</a:t>
            </a:r>
          </a:p>
        </p:txBody>
      </p:sp>
      <p:sp>
        <p:nvSpPr>
          <p:cNvPr id="13" name="Text Box 12"/>
          <p:cNvSpPr txBox="1"/>
          <p:nvPr/>
        </p:nvSpPr>
        <p:spPr>
          <a:xfrm>
            <a:off x="1816100" y="4584700"/>
            <a:ext cx="9728200" cy="276860"/>
          </a:xfrm>
          <a:prstGeom prst="rect">
            <a:avLst/>
          </a:prstGeom>
          <a:noFill/>
        </p:spPr>
        <p:txBody>
          <a:bodyPr wrap="square" lIns="0" tIns="0" rIns="0" bIns="0" rtlCol="0" anchor="t">
            <a:noAutofit/>
          </a:bodyPr>
          <a:lstStyle/>
          <a:p>
            <a:pPr indent="0">
              <a:spcAft>
                <a:spcPts val="700"/>
              </a:spcAft>
              <a:buNone/>
            </a:pPr>
            <a:r>
              <a:rPr lang="vi-VN" sz="2700" b="1">
                <a:solidFill>
                  <a:srgbClr val="176E68"/>
                </a:solidFill>
                <a:latin typeface="Segoe UI" panose="020B0502040204020203" charset="0"/>
                <a:cs typeface="Segoe UI" panose="020B0502040204020203" charset="0"/>
              </a:rPr>
              <a:t>Kiểm tra trạng thái đủ mẫu</a:t>
            </a:r>
          </a:p>
        </p:txBody>
      </p:sp>
      <p:sp>
        <p:nvSpPr>
          <p:cNvPr id="14" name="Text Box 13"/>
          <p:cNvSpPr txBox="1"/>
          <p:nvPr/>
        </p:nvSpPr>
        <p:spPr>
          <a:xfrm>
            <a:off x="1816100" y="5257800"/>
            <a:ext cx="9728200" cy="276860"/>
          </a:xfrm>
          <a:prstGeom prst="rect">
            <a:avLst/>
          </a:prstGeom>
          <a:noFill/>
        </p:spPr>
        <p:txBody>
          <a:bodyPr wrap="square" lIns="0" tIns="0" rIns="0" bIns="0" rtlCol="0" anchor="t">
            <a:noAutofit/>
          </a:bodyPr>
          <a:lstStyle/>
          <a:p>
            <a:pPr indent="0">
              <a:spcAft>
                <a:spcPts val="700"/>
              </a:spcAft>
              <a:buNone/>
            </a:pPr>
            <a:r>
              <a:rPr lang="vi-VN" sz="2000">
                <a:solidFill>
                  <a:srgbClr val="172F3C"/>
                </a:solidFill>
                <a:latin typeface="Segoe UI" panose="020B0502040204020203" charset="0"/>
                <a:cs typeface="Segoe UI" panose="020B0502040204020203" charset="0"/>
              </a:rPr>
              <a:t>Dùng upload đã chuẩn bị để giữ thời gian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bg>
      <p:bgPr>
        <a:solidFill>
          <a:srgbClr val="F7F4ED"/>
        </a:solidFill>
        <a:effectLst/>
      </p:bgPr>
    </p:bg>
    <p:spTree>
      <p:nvGrpSpPr>
        <p:cNvPr id="1" name=""/>
        <p:cNvGrpSpPr/>
        <p:nvPr/>
      </p:nvGrpSpPr>
      <p:grpSpPr>
        <a:xfrm>
          <a:off x="0" y="0"/>
          <a:ext cx="0" cy="0"/>
          <a:chOff x="0" y="0"/>
          <a:chExt cx="0" cy="0"/>
        </a:xfrm>
      </p:grpSpPr>
      <p:sp>
        <p:nvSpPr>
          <p:cNvPr id="2" name="Rectangle 1"/>
          <p:cNvSpPr/>
          <p:nvPr/>
        </p:nvSpPr>
        <p:spPr>
          <a:xfrm>
            <a:off x="584200" y="317500"/>
            <a:ext cx="660400" cy="63500"/>
          </a:xfrm>
          <a:prstGeom prst="rect">
            <a:avLst/>
          </a:prstGeom>
          <a:solidFill>
            <a:srgbClr val="BB542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3" name="Text Box 2"/>
          <p:cNvSpPr txBox="1"/>
          <p:nvPr/>
        </p:nvSpPr>
        <p:spPr>
          <a:xfrm>
            <a:off x="584200" y="546100"/>
            <a:ext cx="11023600" cy="276860"/>
          </a:xfrm>
          <a:prstGeom prst="rect">
            <a:avLst/>
          </a:prstGeom>
          <a:noFill/>
        </p:spPr>
        <p:txBody>
          <a:bodyPr wrap="square" lIns="0" tIns="0" rIns="0" bIns="0" rtlCol="0" anchor="t">
            <a:noAutofit/>
          </a:bodyPr>
          <a:lstStyle/>
          <a:p>
            <a:pPr indent="0">
              <a:spcAft>
                <a:spcPts val="700"/>
              </a:spcAft>
              <a:buNone/>
            </a:pPr>
            <a:r>
              <a:rPr lang="vi-VN" sz="3200" b="1">
                <a:solidFill>
                  <a:srgbClr val="172F3C"/>
                </a:solidFill>
                <a:latin typeface="Segoe UI" panose="020B0502040204020203" charset="0"/>
                <a:cs typeface="Segoe UI" panose="020B0502040204020203" charset="0"/>
              </a:rPr>
              <a:t>Demo xác minh: đúng người, nghi vấn và bằng chứng</a:t>
            </a:r>
          </a:p>
        </p:txBody>
      </p:sp>
      <p:sp>
        <p:nvSpPr>
          <p:cNvPr id="4" name="Text Box 3"/>
          <p:cNvSpPr txBox="1"/>
          <p:nvPr/>
        </p:nvSpPr>
        <p:spPr>
          <a:xfrm>
            <a:off x="11404600" y="6477000"/>
            <a:ext cx="330200" cy="276860"/>
          </a:xfrm>
          <a:prstGeom prst="rect">
            <a:avLst/>
          </a:prstGeom>
          <a:noFill/>
        </p:spPr>
        <p:txBody>
          <a:bodyPr wrap="square" lIns="0" tIns="0" rIns="0" bIns="0" rtlCol="0" anchor="t">
            <a:noAutofit/>
          </a:bodyPr>
          <a:lstStyle/>
          <a:p>
            <a:pPr indent="0">
              <a:spcAft>
                <a:spcPts val="700"/>
              </a:spcAft>
              <a:buNone/>
            </a:pPr>
            <a:r>
              <a:rPr lang="vi-VN" sz="1000">
                <a:solidFill>
                  <a:srgbClr val="526673"/>
                </a:solidFill>
                <a:latin typeface="Segoe UI" panose="020B0502040204020203" charset="0"/>
                <a:cs typeface="Segoe UI" panose="020B0502040204020203" charset="0"/>
              </a:rPr>
              <a:t>20</a:t>
            </a:r>
          </a:p>
        </p:txBody>
      </p:sp>
      <p:sp>
        <p:nvSpPr>
          <p:cNvPr id="5" name="Text Box 4"/>
          <p:cNvSpPr txBox="1"/>
          <p:nvPr/>
        </p:nvSpPr>
        <p:spPr>
          <a:xfrm>
            <a:off x="584200" y="6121400"/>
            <a:ext cx="10541000" cy="276860"/>
          </a:xfrm>
          <a:prstGeom prst="rect">
            <a:avLst/>
          </a:prstGeom>
          <a:noFill/>
        </p:spPr>
        <p:txBody>
          <a:bodyPr wrap="square" lIns="0" tIns="0" rIns="0" bIns="0" rtlCol="0" anchor="t">
            <a:noAutofit/>
          </a:bodyPr>
          <a:lstStyle/>
          <a:p>
            <a:pPr indent="0">
              <a:spcAft>
                <a:spcPts val="700"/>
              </a:spcAft>
              <a:buNone/>
            </a:pPr>
            <a:r>
              <a:rPr lang="vi-VN" sz="1200">
                <a:solidFill>
                  <a:srgbClr val="526673"/>
                </a:solidFill>
                <a:latin typeface="Segoe UI" panose="020B0502040204020203" charset="0"/>
                <a:cs typeface="Segoe UI" panose="020B0502040204020203" charset="0"/>
              </a:rPr>
              <a:t>Demo riêng 10–15 phút. Runbook thao tác chi tiết: DEMO_RUNBOOK.md</a:t>
            </a:r>
          </a:p>
        </p:txBody>
      </p:sp>
      <p:sp>
        <p:nvSpPr>
          <p:cNvPr id="6" name="Text Box 5"/>
          <p:cNvSpPr txBox="1"/>
          <p:nvPr/>
        </p:nvSpPr>
        <p:spPr>
          <a:xfrm>
            <a:off x="584200" y="1993900"/>
            <a:ext cx="965200" cy="276860"/>
          </a:xfrm>
          <a:prstGeom prst="rect">
            <a:avLst/>
          </a:prstGeom>
          <a:noFill/>
        </p:spPr>
        <p:txBody>
          <a:bodyPr wrap="square" lIns="0" tIns="0" rIns="0" bIns="0" rtlCol="0" anchor="t">
            <a:noAutofit/>
          </a:bodyPr>
          <a:lstStyle/>
          <a:p>
            <a:pPr indent="0">
              <a:spcAft>
                <a:spcPts val="700"/>
              </a:spcAft>
              <a:buNone/>
            </a:pPr>
            <a:r>
              <a:rPr lang="vi-VN" sz="3900" b="1">
                <a:solidFill>
                  <a:srgbClr val="BB542A"/>
                </a:solidFill>
                <a:latin typeface="Segoe UI" panose="020B0502040204020203" charset="0"/>
                <a:cs typeface="Segoe UI" panose="020B0502040204020203" charset="0"/>
              </a:rPr>
              <a:t>01</a:t>
            </a:r>
          </a:p>
        </p:txBody>
      </p:sp>
      <p:sp>
        <p:nvSpPr>
          <p:cNvPr id="7" name="Text Box 6"/>
          <p:cNvSpPr txBox="1"/>
          <p:nvPr/>
        </p:nvSpPr>
        <p:spPr>
          <a:xfrm>
            <a:off x="1816100" y="1993900"/>
            <a:ext cx="9728200" cy="276860"/>
          </a:xfrm>
          <a:prstGeom prst="rect">
            <a:avLst/>
          </a:prstGeom>
          <a:noFill/>
        </p:spPr>
        <p:txBody>
          <a:bodyPr wrap="square" lIns="0" tIns="0" rIns="0" bIns="0" rtlCol="0" anchor="t">
            <a:noAutofit/>
          </a:bodyPr>
          <a:lstStyle/>
          <a:p>
            <a:pPr indent="0">
              <a:spcAft>
                <a:spcPts val="700"/>
              </a:spcAft>
              <a:buNone/>
            </a:pPr>
            <a:r>
              <a:rPr lang="vi-VN" sz="2700" b="1">
                <a:solidFill>
                  <a:srgbClr val="176E68"/>
                </a:solidFill>
                <a:latin typeface="Segoe UI" panose="020B0502040204020203" charset="0"/>
                <a:cs typeface="Segoe UI" panose="020B0502040204020203" charset="0"/>
              </a:rPr>
              <a:t>Gửi capture của người A</a:t>
            </a:r>
          </a:p>
        </p:txBody>
      </p:sp>
      <p:sp>
        <p:nvSpPr>
          <p:cNvPr id="8" name="Text Box 7"/>
          <p:cNvSpPr txBox="1"/>
          <p:nvPr/>
        </p:nvSpPr>
        <p:spPr>
          <a:xfrm>
            <a:off x="1816100" y="2667000"/>
            <a:ext cx="9728200" cy="276860"/>
          </a:xfrm>
          <a:prstGeom prst="rect">
            <a:avLst/>
          </a:prstGeom>
          <a:noFill/>
        </p:spPr>
        <p:txBody>
          <a:bodyPr wrap="square" lIns="0" tIns="0" rIns="0" bIns="0" rtlCol="0" anchor="t">
            <a:noAutofit/>
          </a:bodyPr>
          <a:lstStyle/>
          <a:p>
            <a:pPr indent="0">
              <a:spcAft>
                <a:spcPts val="700"/>
              </a:spcAft>
              <a:buNone/>
            </a:pPr>
            <a:r>
              <a:rPr lang="vi-VN" sz="2000">
                <a:solidFill>
                  <a:srgbClr val="172F3C"/>
                </a:solidFill>
                <a:latin typeface="Segoe UI" panose="020B0502040204020203" charset="0"/>
                <a:cs typeface="Segoe UI" panose="020B0502040204020203" charset="0"/>
              </a:rPr>
              <a:t>Xem face/voice match, reason và policy versions</a:t>
            </a:r>
          </a:p>
        </p:txBody>
      </p:sp>
      <p:sp>
        <p:nvSpPr>
          <p:cNvPr id="9" name="Text Box 8"/>
          <p:cNvSpPr txBox="1"/>
          <p:nvPr/>
        </p:nvSpPr>
        <p:spPr>
          <a:xfrm>
            <a:off x="584200" y="3289300"/>
            <a:ext cx="965200" cy="276860"/>
          </a:xfrm>
          <a:prstGeom prst="rect">
            <a:avLst/>
          </a:prstGeom>
          <a:noFill/>
        </p:spPr>
        <p:txBody>
          <a:bodyPr wrap="square" lIns="0" tIns="0" rIns="0" bIns="0" rtlCol="0" anchor="t">
            <a:noAutofit/>
          </a:bodyPr>
          <a:lstStyle/>
          <a:p>
            <a:pPr indent="0">
              <a:spcAft>
                <a:spcPts val="700"/>
              </a:spcAft>
              <a:buNone/>
            </a:pPr>
            <a:r>
              <a:rPr lang="vi-VN" sz="3900" b="1">
                <a:solidFill>
                  <a:srgbClr val="BB542A"/>
                </a:solidFill>
                <a:latin typeface="Segoe UI" panose="020B0502040204020203" charset="0"/>
                <a:cs typeface="Segoe UI" panose="020B0502040204020203" charset="0"/>
              </a:rPr>
              <a:t>02</a:t>
            </a:r>
          </a:p>
        </p:txBody>
      </p:sp>
      <p:sp>
        <p:nvSpPr>
          <p:cNvPr id="10" name="Text Box 9"/>
          <p:cNvSpPr txBox="1"/>
          <p:nvPr/>
        </p:nvSpPr>
        <p:spPr>
          <a:xfrm>
            <a:off x="1816100" y="3289300"/>
            <a:ext cx="9728200" cy="276860"/>
          </a:xfrm>
          <a:prstGeom prst="rect">
            <a:avLst/>
          </a:prstGeom>
          <a:noFill/>
        </p:spPr>
        <p:txBody>
          <a:bodyPr wrap="square" lIns="0" tIns="0" rIns="0" bIns="0" rtlCol="0" anchor="t">
            <a:noAutofit/>
          </a:bodyPr>
          <a:lstStyle/>
          <a:p>
            <a:pPr indent="0">
              <a:spcAft>
                <a:spcPts val="700"/>
              </a:spcAft>
              <a:buNone/>
            </a:pPr>
            <a:r>
              <a:rPr lang="vi-VN" sz="2700" b="1">
                <a:solidFill>
                  <a:srgbClr val="176E68"/>
                </a:solidFill>
                <a:latin typeface="Segoe UI" panose="020B0502040204020203" charset="0"/>
                <a:cs typeface="Segoe UI" panose="020B0502040204020203" charset="0"/>
              </a:rPr>
              <a:t>Khai báo A, gửi capture người B</a:t>
            </a:r>
          </a:p>
        </p:txBody>
      </p:sp>
      <p:sp>
        <p:nvSpPr>
          <p:cNvPr id="11" name="Text Box 10"/>
          <p:cNvSpPr txBox="1"/>
          <p:nvPr/>
        </p:nvSpPr>
        <p:spPr>
          <a:xfrm>
            <a:off x="1816100" y="3962400"/>
            <a:ext cx="9728200" cy="276860"/>
          </a:xfrm>
          <a:prstGeom prst="rect">
            <a:avLst/>
          </a:prstGeom>
          <a:noFill/>
        </p:spPr>
        <p:txBody>
          <a:bodyPr wrap="square" lIns="0" tIns="0" rIns="0" bIns="0" rtlCol="0" anchor="t">
            <a:noAutofit/>
          </a:bodyPr>
          <a:lstStyle/>
          <a:p>
            <a:pPr indent="0">
              <a:spcAft>
                <a:spcPts val="700"/>
              </a:spcAft>
              <a:buNone/>
            </a:pPr>
            <a:r>
              <a:rPr lang="vi-VN" sz="2000">
                <a:solidFill>
                  <a:srgbClr val="172F3C"/>
                </a:solidFill>
                <a:latin typeface="Segoe UI" panose="020B0502040204020203" charset="0"/>
                <a:cs typeface="Segoe UI" panose="020B0502040204020203" charset="0"/>
              </a:rPr>
              <a:t>Đọc tín hiệu mismatch và trạng thái thực tế</a:t>
            </a:r>
          </a:p>
        </p:txBody>
      </p:sp>
      <p:sp>
        <p:nvSpPr>
          <p:cNvPr id="12" name="Text Box 11"/>
          <p:cNvSpPr txBox="1"/>
          <p:nvPr/>
        </p:nvSpPr>
        <p:spPr>
          <a:xfrm>
            <a:off x="584200" y="4584700"/>
            <a:ext cx="965200" cy="276860"/>
          </a:xfrm>
          <a:prstGeom prst="rect">
            <a:avLst/>
          </a:prstGeom>
          <a:noFill/>
        </p:spPr>
        <p:txBody>
          <a:bodyPr wrap="square" lIns="0" tIns="0" rIns="0" bIns="0" rtlCol="0" anchor="t">
            <a:noAutofit/>
          </a:bodyPr>
          <a:lstStyle/>
          <a:p>
            <a:pPr indent="0">
              <a:spcAft>
                <a:spcPts val="700"/>
              </a:spcAft>
              <a:buNone/>
            </a:pPr>
            <a:r>
              <a:rPr lang="vi-VN" sz="3900" b="1">
                <a:solidFill>
                  <a:srgbClr val="BB542A"/>
                </a:solidFill>
                <a:latin typeface="Segoe UI" panose="020B0502040204020203" charset="0"/>
                <a:cs typeface="Segoe UI" panose="020B0502040204020203" charset="0"/>
              </a:rPr>
              <a:t>03</a:t>
            </a:r>
          </a:p>
        </p:txBody>
      </p:sp>
      <p:sp>
        <p:nvSpPr>
          <p:cNvPr id="13" name="Text Box 12"/>
          <p:cNvSpPr txBox="1"/>
          <p:nvPr/>
        </p:nvSpPr>
        <p:spPr>
          <a:xfrm>
            <a:off x="1816100" y="4584700"/>
            <a:ext cx="9728200" cy="276860"/>
          </a:xfrm>
          <a:prstGeom prst="rect">
            <a:avLst/>
          </a:prstGeom>
          <a:noFill/>
        </p:spPr>
        <p:txBody>
          <a:bodyPr wrap="square" lIns="0" tIns="0" rIns="0" bIns="0" rtlCol="0" anchor="t">
            <a:noAutofit/>
          </a:bodyPr>
          <a:lstStyle/>
          <a:p>
            <a:pPr indent="0">
              <a:spcAft>
                <a:spcPts val="700"/>
              </a:spcAft>
              <a:buNone/>
            </a:pPr>
            <a:r>
              <a:rPr lang="vi-VN" sz="2700" b="1">
                <a:solidFill>
                  <a:srgbClr val="176E68"/>
                </a:solidFill>
                <a:latin typeface="Segoe UI" panose="020B0502040204020203" charset="0"/>
                <a:cs typeface="Segoe UI" panose="020B0502040204020203" charset="0"/>
              </a:rPr>
              <a:t>Lịch sử, evidence và webhook</a:t>
            </a:r>
          </a:p>
        </p:txBody>
      </p:sp>
      <p:sp>
        <p:nvSpPr>
          <p:cNvPr id="14" name="Text Box 13"/>
          <p:cNvSpPr txBox="1"/>
          <p:nvPr/>
        </p:nvSpPr>
        <p:spPr>
          <a:xfrm>
            <a:off x="1816100" y="5257800"/>
            <a:ext cx="9728200" cy="276860"/>
          </a:xfrm>
          <a:prstGeom prst="rect">
            <a:avLst/>
          </a:prstGeom>
          <a:noFill/>
        </p:spPr>
        <p:txBody>
          <a:bodyPr wrap="square" lIns="0" tIns="0" rIns="0" bIns="0" rtlCol="0" anchor="t">
            <a:noAutofit/>
          </a:bodyPr>
          <a:lstStyle/>
          <a:p>
            <a:pPr indent="0">
              <a:spcAft>
                <a:spcPts val="700"/>
              </a:spcAft>
              <a:buNone/>
            </a:pPr>
            <a:r>
              <a:rPr lang="vi-VN" sz="2000">
                <a:solidFill>
                  <a:srgbClr val="172F3C"/>
                </a:solidFill>
                <a:latin typeface="Segoe UI" panose="020B0502040204020203" charset="0"/>
                <a:cs typeface="Segoe UI" panose="020B0502040204020203" charset="0"/>
              </a:rPr>
              <a:t>Lọc phiên demo, xuất báo cáo, đối chiếu delivery</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bg>
      <p:bgPr>
        <a:solidFill>
          <a:srgbClr val="F7F4ED"/>
        </a:solidFill>
        <a:effectLst/>
      </p:bgPr>
    </p:bg>
    <p:spTree>
      <p:nvGrpSpPr>
        <p:cNvPr id="1" name=""/>
        <p:cNvGrpSpPr/>
        <p:nvPr/>
      </p:nvGrpSpPr>
      <p:grpSpPr>
        <a:xfrm>
          <a:off x="0" y="0"/>
          <a:ext cx="0" cy="0"/>
          <a:chOff x="0" y="0"/>
          <a:chExt cx="0" cy="0"/>
        </a:xfrm>
      </p:grpSpPr>
      <p:sp>
        <p:nvSpPr>
          <p:cNvPr id="2" name="Rectangle 1"/>
          <p:cNvSpPr/>
          <p:nvPr/>
        </p:nvSpPr>
        <p:spPr>
          <a:xfrm>
            <a:off x="584200" y="317500"/>
            <a:ext cx="660400" cy="63500"/>
          </a:xfrm>
          <a:prstGeom prst="rect">
            <a:avLst/>
          </a:prstGeom>
          <a:solidFill>
            <a:srgbClr val="BB542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3" name="Text Box 2"/>
          <p:cNvSpPr txBox="1"/>
          <p:nvPr/>
        </p:nvSpPr>
        <p:spPr>
          <a:xfrm>
            <a:off x="584200" y="546100"/>
            <a:ext cx="11023600" cy="276860"/>
          </a:xfrm>
          <a:prstGeom prst="rect">
            <a:avLst/>
          </a:prstGeom>
          <a:noFill/>
        </p:spPr>
        <p:txBody>
          <a:bodyPr wrap="square" lIns="0" tIns="0" rIns="0" bIns="0" rtlCol="0" anchor="t">
            <a:noAutofit/>
          </a:bodyPr>
          <a:lstStyle/>
          <a:p>
            <a:pPr indent="0">
              <a:spcAft>
                <a:spcPts val="700"/>
              </a:spcAft>
              <a:buNone/>
            </a:pPr>
            <a:r>
              <a:rPr lang="vi-VN" sz="3200" b="1">
                <a:solidFill>
                  <a:srgbClr val="172F3C"/>
                </a:solidFill>
                <a:latin typeface="Segoe UI" panose="020B0502040204020203" charset="0"/>
                <a:cs typeface="Segoe UI" panose="020B0502040204020203" charset="0"/>
              </a:rPr>
              <a:t>Demo vận hành: monitoring và khởi động simulation</a:t>
            </a:r>
          </a:p>
        </p:txBody>
      </p:sp>
      <p:sp>
        <p:nvSpPr>
          <p:cNvPr id="4" name="Text Box 3"/>
          <p:cNvSpPr txBox="1"/>
          <p:nvPr/>
        </p:nvSpPr>
        <p:spPr>
          <a:xfrm>
            <a:off x="11404600" y="6477000"/>
            <a:ext cx="330200" cy="276860"/>
          </a:xfrm>
          <a:prstGeom prst="rect">
            <a:avLst/>
          </a:prstGeom>
          <a:noFill/>
        </p:spPr>
        <p:txBody>
          <a:bodyPr wrap="square" lIns="0" tIns="0" rIns="0" bIns="0" rtlCol="0" anchor="t">
            <a:noAutofit/>
          </a:bodyPr>
          <a:lstStyle/>
          <a:p>
            <a:pPr indent="0">
              <a:spcAft>
                <a:spcPts val="700"/>
              </a:spcAft>
              <a:buNone/>
            </a:pPr>
            <a:r>
              <a:rPr lang="vi-VN" sz="1000">
                <a:solidFill>
                  <a:srgbClr val="526673"/>
                </a:solidFill>
                <a:latin typeface="Segoe UI" panose="020B0502040204020203" charset="0"/>
                <a:cs typeface="Segoe UI" panose="020B0502040204020203" charset="0"/>
              </a:rPr>
              <a:t>21</a:t>
            </a:r>
          </a:p>
        </p:txBody>
      </p:sp>
      <p:sp>
        <p:nvSpPr>
          <p:cNvPr id="5" name="Text Box 4"/>
          <p:cNvSpPr txBox="1"/>
          <p:nvPr/>
        </p:nvSpPr>
        <p:spPr>
          <a:xfrm>
            <a:off x="584200" y="6121400"/>
            <a:ext cx="10541000" cy="276860"/>
          </a:xfrm>
          <a:prstGeom prst="rect">
            <a:avLst/>
          </a:prstGeom>
          <a:noFill/>
        </p:spPr>
        <p:txBody>
          <a:bodyPr wrap="square" lIns="0" tIns="0" rIns="0" bIns="0" rtlCol="0" anchor="t">
            <a:noAutofit/>
          </a:bodyPr>
          <a:lstStyle/>
          <a:p>
            <a:pPr indent="0">
              <a:spcAft>
                <a:spcPts val="700"/>
              </a:spcAft>
              <a:buNone/>
            </a:pPr>
            <a:r>
              <a:rPr lang="vi-VN" sz="1200">
                <a:solidFill>
                  <a:srgbClr val="526673"/>
                </a:solidFill>
                <a:latin typeface="Segoe UI" panose="020B0502040204020203" charset="0"/>
                <a:cs typeface="Segoe UI" panose="020B0502040204020203" charset="0"/>
              </a:rPr>
              <a:t>Demo riêng 10–15 phút. Runbook thao tác chi tiết: DEMO_RUNBOOK.md</a:t>
            </a:r>
          </a:p>
        </p:txBody>
      </p:sp>
      <p:sp>
        <p:nvSpPr>
          <p:cNvPr id="6" name="Text Box 5"/>
          <p:cNvSpPr txBox="1"/>
          <p:nvPr/>
        </p:nvSpPr>
        <p:spPr>
          <a:xfrm>
            <a:off x="584200" y="1993900"/>
            <a:ext cx="965200" cy="276860"/>
          </a:xfrm>
          <a:prstGeom prst="rect">
            <a:avLst/>
          </a:prstGeom>
          <a:noFill/>
        </p:spPr>
        <p:txBody>
          <a:bodyPr wrap="square" lIns="0" tIns="0" rIns="0" bIns="0" rtlCol="0" anchor="t">
            <a:noAutofit/>
          </a:bodyPr>
          <a:lstStyle/>
          <a:p>
            <a:pPr indent="0">
              <a:spcAft>
                <a:spcPts val="700"/>
              </a:spcAft>
              <a:buNone/>
            </a:pPr>
            <a:r>
              <a:rPr lang="vi-VN" sz="3900" b="1">
                <a:solidFill>
                  <a:srgbClr val="BB542A"/>
                </a:solidFill>
                <a:latin typeface="Segoe UI" panose="020B0502040204020203" charset="0"/>
                <a:cs typeface="Segoe UI" panose="020B0502040204020203" charset="0"/>
              </a:rPr>
              <a:t>01</a:t>
            </a:r>
          </a:p>
        </p:txBody>
      </p:sp>
      <p:sp>
        <p:nvSpPr>
          <p:cNvPr id="7" name="Text Box 6"/>
          <p:cNvSpPr txBox="1"/>
          <p:nvPr/>
        </p:nvSpPr>
        <p:spPr>
          <a:xfrm>
            <a:off x="1816100" y="1993900"/>
            <a:ext cx="9728200" cy="276860"/>
          </a:xfrm>
          <a:prstGeom prst="rect">
            <a:avLst/>
          </a:prstGeom>
          <a:noFill/>
        </p:spPr>
        <p:txBody>
          <a:bodyPr wrap="square" lIns="0" tIns="0" rIns="0" bIns="0" rtlCol="0" anchor="t">
            <a:noAutofit/>
          </a:bodyPr>
          <a:lstStyle/>
          <a:p>
            <a:pPr indent="0">
              <a:spcAft>
                <a:spcPts val="700"/>
              </a:spcAft>
              <a:buNone/>
            </a:pPr>
            <a:r>
              <a:rPr lang="vi-VN" sz="2700" b="1">
                <a:solidFill>
                  <a:srgbClr val="176E68"/>
                </a:solidFill>
                <a:latin typeface="Segoe UI" panose="020B0502040204020203" charset="0"/>
                <a:cs typeface="Segoe UI" panose="020B0502040204020203" charset="0"/>
              </a:rPr>
              <a:t>Mở Grafana và Airflow</a:t>
            </a:r>
          </a:p>
        </p:txBody>
      </p:sp>
      <p:sp>
        <p:nvSpPr>
          <p:cNvPr id="8" name="Text Box 7"/>
          <p:cNvSpPr txBox="1"/>
          <p:nvPr/>
        </p:nvSpPr>
        <p:spPr>
          <a:xfrm>
            <a:off x="1816100" y="2667000"/>
            <a:ext cx="9728200" cy="276860"/>
          </a:xfrm>
          <a:prstGeom prst="rect">
            <a:avLst/>
          </a:prstGeom>
          <a:noFill/>
        </p:spPr>
        <p:txBody>
          <a:bodyPr wrap="square" lIns="0" tIns="0" rIns="0" bIns="0" rtlCol="0" anchor="t">
            <a:noAutofit/>
          </a:bodyPr>
          <a:lstStyle/>
          <a:p>
            <a:pPr indent="0">
              <a:spcAft>
                <a:spcPts val="700"/>
              </a:spcAft>
              <a:buNone/>
            </a:pPr>
            <a:r>
              <a:rPr lang="vi-VN" sz="2000">
                <a:solidFill>
                  <a:srgbClr val="172F3C"/>
                </a:solidFill>
                <a:latin typeface="Segoe UI" panose="020B0502040204020203" charset="0"/>
                <a:cs typeface="Segoe UI" panose="020B0502040204020203" charset="0"/>
              </a:rPr>
              <a:t>Readiness, request, latency, freshness và DAG</a:t>
            </a:r>
          </a:p>
        </p:txBody>
      </p:sp>
      <p:sp>
        <p:nvSpPr>
          <p:cNvPr id="9" name="Text Box 8"/>
          <p:cNvSpPr txBox="1"/>
          <p:nvPr/>
        </p:nvSpPr>
        <p:spPr>
          <a:xfrm>
            <a:off x="584200" y="3289300"/>
            <a:ext cx="965200" cy="276860"/>
          </a:xfrm>
          <a:prstGeom prst="rect">
            <a:avLst/>
          </a:prstGeom>
          <a:noFill/>
        </p:spPr>
        <p:txBody>
          <a:bodyPr wrap="square" lIns="0" tIns="0" rIns="0" bIns="0" rtlCol="0" anchor="t">
            <a:noAutofit/>
          </a:bodyPr>
          <a:lstStyle/>
          <a:p>
            <a:pPr indent="0">
              <a:spcAft>
                <a:spcPts val="700"/>
              </a:spcAft>
              <a:buNone/>
            </a:pPr>
            <a:r>
              <a:rPr lang="vi-VN" sz="3900" b="1">
                <a:solidFill>
                  <a:srgbClr val="BB542A"/>
                </a:solidFill>
                <a:latin typeface="Segoe UI" panose="020B0502040204020203" charset="0"/>
                <a:cs typeface="Segoe UI" panose="020B0502040204020203" charset="0"/>
              </a:rPr>
              <a:t>02</a:t>
            </a:r>
          </a:p>
        </p:txBody>
      </p:sp>
      <p:sp>
        <p:nvSpPr>
          <p:cNvPr id="10" name="Text Box 9"/>
          <p:cNvSpPr txBox="1"/>
          <p:nvPr/>
        </p:nvSpPr>
        <p:spPr>
          <a:xfrm>
            <a:off x="1816100" y="3289300"/>
            <a:ext cx="9728200" cy="276860"/>
          </a:xfrm>
          <a:prstGeom prst="rect">
            <a:avLst/>
          </a:prstGeom>
          <a:noFill/>
        </p:spPr>
        <p:txBody>
          <a:bodyPr wrap="square" lIns="0" tIns="0" rIns="0" bIns="0" rtlCol="0" anchor="t">
            <a:noAutofit/>
          </a:bodyPr>
          <a:lstStyle/>
          <a:p>
            <a:pPr indent="0">
              <a:spcAft>
                <a:spcPts val="700"/>
              </a:spcAft>
              <a:buNone/>
            </a:pPr>
            <a:r>
              <a:rPr lang="vi-VN" sz="2700" b="1">
                <a:solidFill>
                  <a:srgbClr val="176E68"/>
                </a:solidFill>
                <a:latin typeface="Segoe UI" panose="020B0502040204020203" charset="0"/>
                <a:cs typeface="Segoe UI" panose="020B0502040204020203" charset="0"/>
              </a:rPr>
              <a:t>Vào platform Simulation MLOps</a:t>
            </a:r>
          </a:p>
        </p:txBody>
      </p:sp>
      <p:sp>
        <p:nvSpPr>
          <p:cNvPr id="11" name="Text Box 10"/>
          <p:cNvSpPr txBox="1"/>
          <p:nvPr/>
        </p:nvSpPr>
        <p:spPr>
          <a:xfrm>
            <a:off x="1816100" y="3962400"/>
            <a:ext cx="9728200" cy="276860"/>
          </a:xfrm>
          <a:prstGeom prst="rect">
            <a:avLst/>
          </a:prstGeom>
          <a:noFill/>
        </p:spPr>
        <p:txBody>
          <a:bodyPr wrap="square" lIns="0" tIns="0" rIns="0" bIns="0" rtlCol="0" anchor="t">
            <a:noAutofit/>
          </a:bodyPr>
          <a:lstStyle/>
          <a:p>
            <a:pPr indent="0">
              <a:spcAft>
                <a:spcPts val="700"/>
              </a:spcAft>
              <a:buNone/>
            </a:pPr>
            <a:r>
              <a:rPr lang="vi-VN" sz="2000">
                <a:solidFill>
                  <a:srgbClr val="172F3C"/>
                </a:solidFill>
                <a:latin typeface="Segoe UI" panose="020B0502040204020203" charset="0"/>
                <a:cs typeface="Segoe UI" panose="020B0502040204020203" charset="0"/>
              </a:rPr>
              <a:t>Chọn Voice, ghi nhận baseline simulation</a:t>
            </a:r>
          </a:p>
        </p:txBody>
      </p:sp>
      <p:sp>
        <p:nvSpPr>
          <p:cNvPr id="12" name="Text Box 11"/>
          <p:cNvSpPr txBox="1"/>
          <p:nvPr/>
        </p:nvSpPr>
        <p:spPr>
          <a:xfrm>
            <a:off x="584200" y="4584700"/>
            <a:ext cx="965200" cy="276860"/>
          </a:xfrm>
          <a:prstGeom prst="rect">
            <a:avLst/>
          </a:prstGeom>
          <a:noFill/>
        </p:spPr>
        <p:txBody>
          <a:bodyPr wrap="square" lIns="0" tIns="0" rIns="0" bIns="0" rtlCol="0" anchor="t">
            <a:noAutofit/>
          </a:bodyPr>
          <a:lstStyle/>
          <a:p>
            <a:pPr indent="0">
              <a:spcAft>
                <a:spcPts val="700"/>
              </a:spcAft>
              <a:buNone/>
            </a:pPr>
            <a:r>
              <a:rPr lang="vi-VN" sz="3900" b="1">
                <a:solidFill>
                  <a:srgbClr val="BB542A"/>
                </a:solidFill>
                <a:latin typeface="Segoe UI" panose="020B0502040204020203" charset="0"/>
                <a:cs typeface="Segoe UI" panose="020B0502040204020203" charset="0"/>
              </a:rPr>
              <a:t>03</a:t>
            </a:r>
          </a:p>
        </p:txBody>
      </p:sp>
      <p:sp>
        <p:nvSpPr>
          <p:cNvPr id="13" name="Text Box 12"/>
          <p:cNvSpPr txBox="1"/>
          <p:nvPr/>
        </p:nvSpPr>
        <p:spPr>
          <a:xfrm>
            <a:off x="1816100" y="4584700"/>
            <a:ext cx="9728200" cy="276860"/>
          </a:xfrm>
          <a:prstGeom prst="rect">
            <a:avLst/>
          </a:prstGeom>
          <a:noFill/>
        </p:spPr>
        <p:txBody>
          <a:bodyPr wrap="square" lIns="0" tIns="0" rIns="0" bIns="0" rtlCol="0" anchor="t">
            <a:noAutofit/>
          </a:bodyPr>
          <a:lstStyle/>
          <a:p>
            <a:pPr indent="0">
              <a:spcAft>
                <a:spcPts val="700"/>
              </a:spcAft>
              <a:buNone/>
            </a:pPr>
            <a:r>
              <a:rPr lang="vi-VN" sz="2700" b="1">
                <a:solidFill>
                  <a:srgbClr val="176E68"/>
                </a:solidFill>
                <a:latin typeface="Segoe UI" panose="020B0502040204020203" charset="0"/>
                <a:cs typeface="Segoe UI" panose="020B0502040204020203" charset="0"/>
              </a:rPr>
              <a:t>Bấm Drift → nâng cấp champion</a:t>
            </a:r>
          </a:p>
        </p:txBody>
      </p:sp>
      <p:sp>
        <p:nvSpPr>
          <p:cNvPr id="14" name="Text Box 13"/>
          <p:cNvSpPr txBox="1"/>
          <p:nvPr/>
        </p:nvSpPr>
        <p:spPr>
          <a:xfrm>
            <a:off x="1816100" y="5257800"/>
            <a:ext cx="9728200" cy="276860"/>
          </a:xfrm>
          <a:prstGeom prst="rect">
            <a:avLst/>
          </a:prstGeom>
          <a:noFill/>
        </p:spPr>
        <p:txBody>
          <a:bodyPr wrap="square" lIns="0" tIns="0" rIns="0" bIns="0" rtlCol="0" anchor="t">
            <a:noAutofit/>
          </a:bodyPr>
          <a:lstStyle/>
          <a:p>
            <a:pPr indent="0">
              <a:spcAft>
                <a:spcPts val="700"/>
              </a:spcAft>
              <a:buNone/>
            </a:pPr>
            <a:r>
              <a:rPr lang="vi-VN" sz="2000">
                <a:solidFill>
                  <a:srgbClr val="172F3C"/>
                </a:solidFill>
                <a:latin typeface="Segoe UI" panose="020B0502040204020203" charset="0"/>
                <a:cs typeface="Segoe UI" panose="020B0502040204020203" charset="0"/>
              </a:rPr>
              <a:t>Theo dõi cùng run ID trên portal và Airflow</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bg>
      <p:bgPr>
        <a:solidFill>
          <a:srgbClr val="F7F4ED"/>
        </a:solidFill>
        <a:effectLst/>
      </p:bgPr>
    </p:bg>
    <p:spTree>
      <p:nvGrpSpPr>
        <p:cNvPr id="1" name=""/>
        <p:cNvGrpSpPr/>
        <p:nvPr/>
      </p:nvGrpSpPr>
      <p:grpSpPr>
        <a:xfrm>
          <a:off x="0" y="0"/>
          <a:ext cx="0" cy="0"/>
          <a:chOff x="0" y="0"/>
          <a:chExt cx="0" cy="0"/>
        </a:xfrm>
      </p:grpSpPr>
      <p:sp>
        <p:nvSpPr>
          <p:cNvPr id="2" name="Rectangle 1"/>
          <p:cNvSpPr/>
          <p:nvPr/>
        </p:nvSpPr>
        <p:spPr>
          <a:xfrm>
            <a:off x="584200" y="317500"/>
            <a:ext cx="660400" cy="63500"/>
          </a:xfrm>
          <a:prstGeom prst="rect">
            <a:avLst/>
          </a:prstGeom>
          <a:solidFill>
            <a:srgbClr val="BB542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3" name="Text Box 2"/>
          <p:cNvSpPr txBox="1"/>
          <p:nvPr/>
        </p:nvSpPr>
        <p:spPr>
          <a:xfrm>
            <a:off x="584200" y="546100"/>
            <a:ext cx="11023600" cy="276860"/>
          </a:xfrm>
          <a:prstGeom prst="rect">
            <a:avLst/>
          </a:prstGeom>
          <a:noFill/>
        </p:spPr>
        <p:txBody>
          <a:bodyPr wrap="square" lIns="0" tIns="0" rIns="0" bIns="0" rtlCol="0" anchor="t">
            <a:noAutofit/>
          </a:bodyPr>
          <a:lstStyle/>
          <a:p>
            <a:pPr indent="0">
              <a:spcAft>
                <a:spcPts val="700"/>
              </a:spcAft>
              <a:buNone/>
            </a:pPr>
            <a:r>
              <a:rPr lang="vi-VN" sz="3200" b="1">
                <a:solidFill>
                  <a:srgbClr val="172F3C"/>
                </a:solidFill>
                <a:latin typeface="Segoe UI" panose="020B0502040204020203" charset="0"/>
                <a:cs typeface="Segoe UI" panose="020B0502040204020203" charset="0"/>
              </a:rPr>
              <a:t>Demo promotion: alert, các gate và champion</a:t>
            </a:r>
          </a:p>
        </p:txBody>
      </p:sp>
      <p:sp>
        <p:nvSpPr>
          <p:cNvPr id="4" name="Text Box 3"/>
          <p:cNvSpPr txBox="1"/>
          <p:nvPr/>
        </p:nvSpPr>
        <p:spPr>
          <a:xfrm>
            <a:off x="11404600" y="6477000"/>
            <a:ext cx="330200" cy="276860"/>
          </a:xfrm>
          <a:prstGeom prst="rect">
            <a:avLst/>
          </a:prstGeom>
          <a:noFill/>
        </p:spPr>
        <p:txBody>
          <a:bodyPr wrap="square" lIns="0" tIns="0" rIns="0" bIns="0" rtlCol="0" anchor="t">
            <a:noAutofit/>
          </a:bodyPr>
          <a:lstStyle/>
          <a:p>
            <a:pPr indent="0">
              <a:spcAft>
                <a:spcPts val="700"/>
              </a:spcAft>
              <a:buNone/>
            </a:pPr>
            <a:r>
              <a:rPr lang="vi-VN" sz="1000">
                <a:solidFill>
                  <a:srgbClr val="526673"/>
                </a:solidFill>
                <a:latin typeface="Segoe UI" panose="020B0502040204020203" charset="0"/>
                <a:cs typeface="Segoe UI" panose="020B0502040204020203" charset="0"/>
              </a:rPr>
              <a:t>22</a:t>
            </a:r>
          </a:p>
        </p:txBody>
      </p:sp>
      <p:sp>
        <p:nvSpPr>
          <p:cNvPr id="5" name="Text Box 4"/>
          <p:cNvSpPr txBox="1"/>
          <p:nvPr/>
        </p:nvSpPr>
        <p:spPr>
          <a:xfrm>
            <a:off x="584200" y="6121400"/>
            <a:ext cx="10541000" cy="276860"/>
          </a:xfrm>
          <a:prstGeom prst="rect">
            <a:avLst/>
          </a:prstGeom>
          <a:noFill/>
        </p:spPr>
        <p:txBody>
          <a:bodyPr wrap="square" lIns="0" tIns="0" rIns="0" bIns="0" rtlCol="0" anchor="t">
            <a:noAutofit/>
          </a:bodyPr>
          <a:lstStyle/>
          <a:p>
            <a:pPr indent="0">
              <a:spcAft>
                <a:spcPts val="700"/>
              </a:spcAft>
              <a:buNone/>
            </a:pPr>
            <a:r>
              <a:rPr lang="vi-VN" sz="1200">
                <a:solidFill>
                  <a:srgbClr val="526673"/>
                </a:solidFill>
                <a:latin typeface="Segoe UI" panose="020B0502040204020203" charset="0"/>
                <a:cs typeface="Segoe UI" panose="020B0502040204020203" charset="0"/>
              </a:rPr>
              <a:t>http://localhost:18501     MLflow simulation: http://localhost:15031</a:t>
            </a:r>
          </a:p>
        </p:txBody>
      </p:sp>
      <p:sp>
        <p:nvSpPr>
          <p:cNvPr id="6" name="Text Box 5"/>
          <p:cNvSpPr txBox="1"/>
          <p:nvPr/>
        </p:nvSpPr>
        <p:spPr>
          <a:xfrm>
            <a:off x="584200" y="1993900"/>
            <a:ext cx="965200" cy="276860"/>
          </a:xfrm>
          <a:prstGeom prst="rect">
            <a:avLst/>
          </a:prstGeom>
          <a:noFill/>
        </p:spPr>
        <p:txBody>
          <a:bodyPr wrap="square" lIns="0" tIns="0" rIns="0" bIns="0" rtlCol="0" anchor="t">
            <a:noAutofit/>
          </a:bodyPr>
          <a:lstStyle/>
          <a:p>
            <a:pPr indent="0">
              <a:spcAft>
                <a:spcPts val="700"/>
              </a:spcAft>
              <a:buNone/>
            </a:pPr>
            <a:r>
              <a:rPr lang="vi-VN" sz="3900" b="1">
                <a:solidFill>
                  <a:srgbClr val="BB542A"/>
                </a:solidFill>
                <a:latin typeface="Segoe UI" panose="020B0502040204020203" charset="0"/>
                <a:cs typeface="Segoe UI" panose="020B0502040204020203" charset="0"/>
              </a:rPr>
              <a:t>01</a:t>
            </a:r>
          </a:p>
        </p:txBody>
      </p:sp>
      <p:sp>
        <p:nvSpPr>
          <p:cNvPr id="7" name="Text Box 6"/>
          <p:cNvSpPr txBox="1"/>
          <p:nvPr/>
        </p:nvSpPr>
        <p:spPr>
          <a:xfrm>
            <a:off x="1816100" y="1993900"/>
            <a:ext cx="9728200" cy="276860"/>
          </a:xfrm>
          <a:prstGeom prst="rect">
            <a:avLst/>
          </a:prstGeom>
          <a:noFill/>
        </p:spPr>
        <p:txBody>
          <a:bodyPr wrap="square" lIns="0" tIns="0" rIns="0" bIns="0" rtlCol="0" anchor="t">
            <a:noAutofit/>
          </a:bodyPr>
          <a:lstStyle/>
          <a:p>
            <a:pPr indent="0">
              <a:spcAft>
                <a:spcPts val="700"/>
              </a:spcAft>
              <a:buNone/>
            </a:pPr>
            <a:r>
              <a:rPr lang="vi-VN" sz="2700" b="1">
                <a:solidFill>
                  <a:srgbClr val="176E68"/>
                </a:solidFill>
                <a:latin typeface="Segoe UI" panose="020B0502040204020203" charset="0"/>
                <a:cs typeface="Segoe UI" panose="020B0502040204020203" charset="0"/>
              </a:rPr>
              <a:t>Theo dõi run Voice vừa tạo</a:t>
            </a:r>
          </a:p>
        </p:txBody>
      </p:sp>
      <p:sp>
        <p:nvSpPr>
          <p:cNvPr id="8" name="Text Box 7"/>
          <p:cNvSpPr txBox="1"/>
          <p:nvPr/>
        </p:nvSpPr>
        <p:spPr>
          <a:xfrm>
            <a:off x="1816100" y="2667000"/>
            <a:ext cx="9728200" cy="276860"/>
          </a:xfrm>
          <a:prstGeom prst="rect">
            <a:avLst/>
          </a:prstGeom>
          <a:noFill/>
        </p:spPr>
        <p:txBody>
          <a:bodyPr wrap="square" lIns="0" tIns="0" rIns="0" bIns="0" rtlCol="0" anchor="t">
            <a:noAutofit/>
          </a:bodyPr>
          <a:lstStyle/>
          <a:p>
            <a:pPr indent="0">
              <a:spcAft>
                <a:spcPts val="700"/>
              </a:spcAft>
              <a:buNone/>
            </a:pPr>
            <a:r>
              <a:rPr lang="vi-VN" sz="2000">
                <a:solidFill>
                  <a:srgbClr val="172F3C"/>
                </a:solidFill>
                <a:latin typeface="Segoe UI" panose="020B0502040204020203" charset="0"/>
                <a:cs typeface="Segoe UI" panose="020B0502040204020203" charset="0"/>
              </a:rPr>
              <a:t>Đối chiếu run ID, alert receipt và Airflow</a:t>
            </a:r>
          </a:p>
        </p:txBody>
      </p:sp>
      <p:sp>
        <p:nvSpPr>
          <p:cNvPr id="9" name="Text Box 8"/>
          <p:cNvSpPr txBox="1"/>
          <p:nvPr/>
        </p:nvSpPr>
        <p:spPr>
          <a:xfrm>
            <a:off x="584200" y="3289300"/>
            <a:ext cx="965200" cy="276860"/>
          </a:xfrm>
          <a:prstGeom prst="rect">
            <a:avLst/>
          </a:prstGeom>
          <a:noFill/>
        </p:spPr>
        <p:txBody>
          <a:bodyPr wrap="square" lIns="0" tIns="0" rIns="0" bIns="0" rtlCol="0" anchor="t">
            <a:noAutofit/>
          </a:bodyPr>
          <a:lstStyle/>
          <a:p>
            <a:pPr indent="0">
              <a:spcAft>
                <a:spcPts val="700"/>
              </a:spcAft>
              <a:buNone/>
            </a:pPr>
            <a:r>
              <a:rPr lang="vi-VN" sz="3900" b="1">
                <a:solidFill>
                  <a:srgbClr val="BB542A"/>
                </a:solidFill>
                <a:latin typeface="Segoe UI" panose="020B0502040204020203" charset="0"/>
                <a:cs typeface="Segoe UI" panose="020B0502040204020203" charset="0"/>
              </a:rPr>
              <a:t>02</a:t>
            </a:r>
          </a:p>
        </p:txBody>
      </p:sp>
      <p:sp>
        <p:nvSpPr>
          <p:cNvPr id="10" name="Text Box 9"/>
          <p:cNvSpPr txBox="1"/>
          <p:nvPr/>
        </p:nvSpPr>
        <p:spPr>
          <a:xfrm>
            <a:off x="1816100" y="3289300"/>
            <a:ext cx="9728200" cy="276860"/>
          </a:xfrm>
          <a:prstGeom prst="rect">
            <a:avLst/>
          </a:prstGeom>
          <a:noFill/>
        </p:spPr>
        <p:txBody>
          <a:bodyPr wrap="square" lIns="0" tIns="0" rIns="0" bIns="0" rtlCol="0" anchor="t">
            <a:noAutofit/>
          </a:bodyPr>
          <a:lstStyle/>
          <a:p>
            <a:pPr indent="0">
              <a:spcAft>
                <a:spcPts val="700"/>
              </a:spcAft>
              <a:buNone/>
            </a:pPr>
            <a:r>
              <a:rPr lang="vi-VN" sz="2700" b="1">
                <a:solidFill>
                  <a:srgbClr val="176E68"/>
                </a:solidFill>
                <a:latin typeface="Segoe UI" panose="020B0502040204020203" charset="0"/>
                <a:cs typeface="Segoe UI" panose="020B0502040204020203" charset="0"/>
              </a:rPr>
              <a:t>Quan sát các gate</a:t>
            </a:r>
          </a:p>
        </p:txBody>
      </p:sp>
      <p:sp>
        <p:nvSpPr>
          <p:cNvPr id="11" name="Text Box 10"/>
          <p:cNvSpPr txBox="1"/>
          <p:nvPr/>
        </p:nvSpPr>
        <p:spPr>
          <a:xfrm>
            <a:off x="1816100" y="3962400"/>
            <a:ext cx="9728200" cy="276860"/>
          </a:xfrm>
          <a:prstGeom prst="rect">
            <a:avLst/>
          </a:prstGeom>
          <a:noFill/>
        </p:spPr>
        <p:txBody>
          <a:bodyPr wrap="square" lIns="0" tIns="0" rIns="0" bIns="0" rtlCol="0" anchor="t">
            <a:noAutofit/>
          </a:bodyPr>
          <a:lstStyle/>
          <a:p>
            <a:pPr indent="0">
              <a:spcAft>
                <a:spcPts val="700"/>
              </a:spcAft>
              <a:buNone/>
            </a:pPr>
            <a:r>
              <a:rPr lang="vi-VN" sz="2000">
                <a:solidFill>
                  <a:srgbClr val="172F3C"/>
                </a:solidFill>
                <a:latin typeface="Segoe UI" panose="020B0502040204020203" charset="0"/>
                <a:cs typeface="Segoe UI" panose="020B0502040204020203" charset="0"/>
              </a:rPr>
              <a:t>Offline, shadow rồi canary qua từng stage</a:t>
            </a:r>
          </a:p>
        </p:txBody>
      </p:sp>
      <p:sp>
        <p:nvSpPr>
          <p:cNvPr id="12" name="Text Box 11"/>
          <p:cNvSpPr txBox="1"/>
          <p:nvPr/>
        </p:nvSpPr>
        <p:spPr>
          <a:xfrm>
            <a:off x="584200" y="4584700"/>
            <a:ext cx="965200" cy="276860"/>
          </a:xfrm>
          <a:prstGeom prst="rect">
            <a:avLst/>
          </a:prstGeom>
          <a:noFill/>
        </p:spPr>
        <p:txBody>
          <a:bodyPr wrap="square" lIns="0" tIns="0" rIns="0" bIns="0" rtlCol="0" anchor="t">
            <a:noAutofit/>
          </a:bodyPr>
          <a:lstStyle/>
          <a:p>
            <a:pPr indent="0">
              <a:spcAft>
                <a:spcPts val="700"/>
              </a:spcAft>
              <a:buNone/>
            </a:pPr>
            <a:r>
              <a:rPr lang="vi-VN" sz="3900" b="1">
                <a:solidFill>
                  <a:srgbClr val="BB542A"/>
                </a:solidFill>
                <a:latin typeface="Segoe UI" panose="020B0502040204020203" charset="0"/>
                <a:cs typeface="Segoe UI" panose="020B0502040204020203" charset="0"/>
              </a:rPr>
              <a:t>03</a:t>
            </a:r>
          </a:p>
        </p:txBody>
      </p:sp>
      <p:sp>
        <p:nvSpPr>
          <p:cNvPr id="13" name="Text Box 12"/>
          <p:cNvSpPr txBox="1"/>
          <p:nvPr/>
        </p:nvSpPr>
        <p:spPr>
          <a:xfrm>
            <a:off x="1816100" y="4584700"/>
            <a:ext cx="9728200" cy="276860"/>
          </a:xfrm>
          <a:prstGeom prst="rect">
            <a:avLst/>
          </a:prstGeom>
          <a:noFill/>
        </p:spPr>
        <p:txBody>
          <a:bodyPr wrap="square" lIns="0" tIns="0" rIns="0" bIns="0" rtlCol="0" anchor="t">
            <a:noAutofit/>
          </a:bodyPr>
          <a:lstStyle/>
          <a:p>
            <a:pPr indent="0">
              <a:spcAft>
                <a:spcPts val="700"/>
              </a:spcAft>
              <a:buNone/>
            </a:pPr>
            <a:r>
              <a:rPr lang="vi-VN" sz="2700" b="1">
                <a:solidFill>
                  <a:srgbClr val="176E68"/>
                </a:solidFill>
                <a:latin typeface="Segoe UI" panose="020B0502040204020203" charset="0"/>
                <a:cs typeface="Segoe UI" panose="020B0502040204020203" charset="0"/>
              </a:rPr>
              <a:t>Kiểm tra bằng chứng</a:t>
            </a:r>
          </a:p>
        </p:txBody>
      </p:sp>
      <p:sp>
        <p:nvSpPr>
          <p:cNvPr id="14" name="Text Box 13"/>
          <p:cNvSpPr txBox="1"/>
          <p:nvPr/>
        </p:nvSpPr>
        <p:spPr>
          <a:xfrm>
            <a:off x="1816100" y="5257800"/>
            <a:ext cx="9728200" cy="276860"/>
          </a:xfrm>
          <a:prstGeom prst="rect">
            <a:avLst/>
          </a:prstGeom>
          <a:noFill/>
        </p:spPr>
        <p:txBody>
          <a:bodyPr wrap="square" lIns="0" tIns="0" rIns="0" bIns="0" rtlCol="0" anchor="t">
            <a:noAutofit/>
          </a:bodyPr>
          <a:lstStyle/>
          <a:p>
            <a:pPr indent="0">
              <a:spcAft>
                <a:spcPts val="700"/>
              </a:spcAft>
              <a:buNone/>
            </a:pPr>
            <a:r>
              <a:rPr lang="vi-VN" sz="2000">
                <a:solidFill>
                  <a:srgbClr val="172F3C"/>
                </a:solidFill>
                <a:latin typeface="Segoe UI" panose="020B0502040204020203" charset="0"/>
                <a:cs typeface="Segoe UI" panose="020B0502040204020203" charset="0"/>
              </a:rPr>
              <a:t>Model version, routed counts và JSON report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bg>
      <p:bgPr>
        <a:solidFill>
          <a:srgbClr val="F7F4ED"/>
        </a:solidFill>
        <a:effectLst/>
      </p:bgPr>
    </p:bg>
    <p:spTree>
      <p:nvGrpSpPr>
        <p:cNvPr id="1" name=""/>
        <p:cNvGrpSpPr/>
        <p:nvPr/>
      </p:nvGrpSpPr>
      <p:grpSpPr>
        <a:xfrm>
          <a:off x="0" y="0"/>
          <a:ext cx="0" cy="0"/>
          <a:chOff x="0" y="0"/>
          <a:chExt cx="0" cy="0"/>
        </a:xfrm>
      </p:grpSpPr>
      <p:sp>
        <p:nvSpPr>
          <p:cNvPr id="2" name="Rectangle 1"/>
          <p:cNvSpPr/>
          <p:nvPr/>
        </p:nvSpPr>
        <p:spPr>
          <a:xfrm>
            <a:off x="584200" y="317500"/>
            <a:ext cx="660400" cy="63500"/>
          </a:xfrm>
          <a:prstGeom prst="rect">
            <a:avLst/>
          </a:prstGeom>
          <a:solidFill>
            <a:srgbClr val="BB542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3" name="Text Box 2"/>
          <p:cNvSpPr txBox="1"/>
          <p:nvPr/>
        </p:nvSpPr>
        <p:spPr>
          <a:xfrm>
            <a:off x="584200" y="546100"/>
            <a:ext cx="11023600" cy="276860"/>
          </a:xfrm>
          <a:prstGeom prst="rect">
            <a:avLst/>
          </a:prstGeom>
          <a:noFill/>
        </p:spPr>
        <p:txBody>
          <a:bodyPr wrap="square" lIns="0" tIns="0" rIns="0" bIns="0" rtlCol="0" anchor="t">
            <a:noAutofit/>
          </a:bodyPr>
          <a:lstStyle/>
          <a:p>
            <a:pPr indent="0">
              <a:spcAft>
                <a:spcPts val="700"/>
              </a:spcAft>
              <a:buNone/>
            </a:pPr>
            <a:r>
              <a:rPr lang="vi-VN" sz="3200" b="1">
                <a:solidFill>
                  <a:srgbClr val="172F3C"/>
                </a:solidFill>
                <a:latin typeface="Segoe UI" panose="020B0502040204020203" charset="0"/>
                <a:cs typeface="Segoe UI" panose="020B0502040204020203" charset="0"/>
              </a:rPr>
              <a:t>Lượt promotion đã ghi nhận có traffic thực qua từng stage</a:t>
            </a:r>
          </a:p>
        </p:txBody>
      </p:sp>
      <p:sp>
        <p:nvSpPr>
          <p:cNvPr id="4" name="Text Box 3"/>
          <p:cNvSpPr txBox="1"/>
          <p:nvPr/>
        </p:nvSpPr>
        <p:spPr>
          <a:xfrm>
            <a:off x="11404600" y="6477000"/>
            <a:ext cx="330200" cy="276860"/>
          </a:xfrm>
          <a:prstGeom prst="rect">
            <a:avLst/>
          </a:prstGeom>
          <a:noFill/>
        </p:spPr>
        <p:txBody>
          <a:bodyPr wrap="square" lIns="0" tIns="0" rIns="0" bIns="0" rtlCol="0" anchor="t">
            <a:noAutofit/>
          </a:bodyPr>
          <a:lstStyle/>
          <a:p>
            <a:pPr indent="0">
              <a:spcAft>
                <a:spcPts val="700"/>
              </a:spcAft>
              <a:buNone/>
            </a:pPr>
            <a:r>
              <a:rPr lang="vi-VN" sz="1000">
                <a:solidFill>
                  <a:srgbClr val="526673"/>
                </a:solidFill>
                <a:latin typeface="Segoe UI" panose="020B0502040204020203" charset="0"/>
                <a:cs typeface="Segoe UI" panose="020B0502040204020203" charset="0"/>
              </a:rPr>
              <a:t>23</a:t>
            </a:r>
          </a:p>
        </p:txBody>
      </p:sp>
      <p:sp>
        <p:nvSpPr>
          <p:cNvPr id="5" name="Text Box 4"/>
          <p:cNvSpPr txBox="1"/>
          <p:nvPr/>
        </p:nvSpPr>
        <p:spPr>
          <a:xfrm>
            <a:off x="584200" y="6121400"/>
            <a:ext cx="10541000" cy="276860"/>
          </a:xfrm>
          <a:prstGeom prst="rect">
            <a:avLst/>
          </a:prstGeom>
          <a:noFill/>
        </p:spPr>
        <p:txBody>
          <a:bodyPr wrap="square" lIns="0" tIns="0" rIns="0" bIns="0" rtlCol="0" anchor="t">
            <a:noAutofit/>
          </a:bodyPr>
          <a:lstStyle/>
          <a:p>
            <a:pPr indent="0">
              <a:spcAft>
                <a:spcPts val="700"/>
              </a:spcAft>
              <a:buNone/>
            </a:pPr>
            <a:r>
              <a:rPr lang="vi-VN" sz="1200">
                <a:solidFill>
                  <a:srgbClr val="526673"/>
                </a:solidFill>
                <a:latin typeface="Segoe UI" panose="020B0502040204020203" charset="0"/>
                <a:cs typeface="Segoe UI" panose="020B0502040204020203" charset="0"/>
              </a:rPr>
              <a:t>Simulation Voice ngày 03/10/2026. Sau promotion: 200/200 probe dùng version 2</a:t>
            </a:r>
          </a:p>
        </p:txBody>
      </p:sp>
      <p:graphicFrame>
        <p:nvGraphicFramePr>
          <p:cNvPr id="6" name="Table 5"/>
          <p:cNvGraphicFramePr/>
          <p:nvPr/>
        </p:nvGraphicFramePr>
        <p:xfrm>
          <a:off x="584200" y="1879600"/>
          <a:ext cx="11023600" cy="3911600"/>
        </p:xfrm>
        <a:graphic>
          <a:graphicData uri="http://schemas.openxmlformats.org/drawingml/2006/table">
            <a:tbl>
              <a:tblPr firstRow="1" bandRow="1">
                <a:tableStyleId>{5C22544A-7EE6-4342-B048-85BDC9FD1C3A}</a:tableStyleId>
              </a:tblPr>
              <a:tblGrid>
                <a:gridCol w="2921000">
                  <a:extLst>
                    <a:ext uri="{9D8B030D-6E8A-4147-A177-3AD203B41FA5}">
                      <a16:colId xmlns:a16="http://schemas.microsoft.com/office/drawing/2014/main" val="20000"/>
                    </a:ext>
                  </a:extLst>
                </a:gridCol>
                <a:gridCol w="4038600">
                  <a:extLst>
                    <a:ext uri="{9D8B030D-6E8A-4147-A177-3AD203B41FA5}">
                      <a16:colId xmlns:a16="http://schemas.microsoft.com/office/drawing/2014/main" val="20001"/>
                    </a:ext>
                  </a:extLst>
                </a:gridCol>
                <a:gridCol w="4064000">
                  <a:extLst>
                    <a:ext uri="{9D8B030D-6E8A-4147-A177-3AD203B41FA5}">
                      <a16:colId xmlns:a16="http://schemas.microsoft.com/office/drawing/2014/main" val="20002"/>
                    </a:ext>
                  </a:extLst>
                </a:gridCol>
              </a:tblGrid>
              <a:tr h="558800">
                <a:tc>
                  <a:txBody>
                    <a:bodyPr/>
                    <a:lstStyle/>
                    <a:p>
                      <a:pPr indent="0">
                        <a:spcAft>
                          <a:spcPts val="0"/>
                        </a:spcAft>
                        <a:buNone/>
                      </a:pPr>
                      <a:r>
                        <a:rPr lang="vi-VN" sz="1900" b="1">
                          <a:solidFill>
                            <a:srgbClr val="FFFFFF"/>
                          </a:solidFill>
                          <a:latin typeface="Segoe UI" panose="020B0502040204020203" charset="0"/>
                          <a:cs typeface="Segoe UI" panose="020B0502040204020203" charset="0"/>
                        </a:rPr>
                        <a:t>Stage</a:t>
                      </a:r>
                    </a:p>
                  </a:txBody>
                  <a:tcPr marL="152400" marR="127000" marT="88900" marB="88900" anchor="ctr">
                    <a:lnL w="12700" cmpd="sng">
                      <a:solidFill>
                        <a:srgbClr val="F7F4ED"/>
                      </a:solidFill>
                    </a:lnL>
                    <a:lnR w="12700" cmpd="sng">
                      <a:solidFill>
                        <a:srgbClr val="F7F4ED"/>
                      </a:solidFill>
                    </a:lnR>
                    <a:lnT w="12700" cmpd="sng">
                      <a:solidFill>
                        <a:srgbClr val="F7F4ED"/>
                      </a:solidFill>
                    </a:lnT>
                    <a:lnB w="38100" cmpd="sng">
                      <a:solidFill>
                        <a:srgbClr val="F7F4ED"/>
                      </a:solidFill>
                    </a:lnB>
                    <a:solidFill>
                      <a:srgbClr val="176E68"/>
                    </a:solidFill>
                  </a:tcPr>
                </a:tc>
                <a:tc>
                  <a:txBody>
                    <a:bodyPr/>
                    <a:lstStyle/>
                    <a:p>
                      <a:pPr indent="0">
                        <a:spcAft>
                          <a:spcPts val="0"/>
                        </a:spcAft>
                        <a:buNone/>
                      </a:pPr>
                      <a:r>
                        <a:rPr lang="vi-VN" sz="1900" b="1">
                          <a:solidFill>
                            <a:srgbClr val="FFFFFF"/>
                          </a:solidFill>
                          <a:latin typeface="Segoe UI" panose="020B0502040204020203" charset="0"/>
                          <a:cs typeface="Segoe UI" panose="020B0502040204020203" charset="0"/>
                        </a:rPr>
                        <a:t>Request dùng challenger</a:t>
                      </a:r>
                    </a:p>
                  </a:txBody>
                  <a:tcPr marL="152400" marR="127000" marT="88900" marB="88900" anchor="ctr">
                    <a:lnL w="12700" cmpd="sng">
                      <a:solidFill>
                        <a:srgbClr val="F7F4ED"/>
                      </a:solidFill>
                    </a:lnL>
                    <a:lnR w="12700" cmpd="sng">
                      <a:solidFill>
                        <a:srgbClr val="F7F4ED"/>
                      </a:solidFill>
                    </a:lnR>
                    <a:lnT w="12700" cmpd="sng">
                      <a:solidFill>
                        <a:srgbClr val="F7F4ED"/>
                      </a:solidFill>
                    </a:lnT>
                    <a:lnB w="38100" cmpd="sng">
                      <a:solidFill>
                        <a:srgbClr val="F7F4ED"/>
                      </a:solidFill>
                    </a:lnB>
                    <a:solidFill>
                      <a:srgbClr val="176E68"/>
                    </a:solidFill>
                  </a:tcPr>
                </a:tc>
                <a:tc>
                  <a:txBody>
                    <a:bodyPr/>
                    <a:lstStyle/>
                    <a:p>
                      <a:pPr indent="0">
                        <a:spcAft>
                          <a:spcPts val="0"/>
                        </a:spcAft>
                        <a:buNone/>
                      </a:pPr>
                      <a:r>
                        <a:rPr lang="vi-VN" sz="1900" b="1">
                          <a:solidFill>
                            <a:srgbClr val="FFFFFF"/>
                          </a:solidFill>
                          <a:latin typeface="Segoe UI" panose="020B0502040204020203" charset="0"/>
                          <a:cs typeface="Segoe UI" panose="020B0502040204020203" charset="0"/>
                        </a:rPr>
                        <a:t>Tổng request</a:t>
                      </a:r>
                    </a:p>
                  </a:txBody>
                  <a:tcPr marL="152400" marR="127000" marT="88900" marB="88900" anchor="ctr">
                    <a:lnL w="12700" cmpd="sng">
                      <a:solidFill>
                        <a:srgbClr val="F7F4ED"/>
                      </a:solidFill>
                    </a:lnL>
                    <a:lnR w="12700" cmpd="sng">
                      <a:solidFill>
                        <a:srgbClr val="F7F4ED"/>
                      </a:solidFill>
                    </a:lnR>
                    <a:lnT w="12700" cmpd="sng">
                      <a:solidFill>
                        <a:srgbClr val="F7F4ED"/>
                      </a:solidFill>
                    </a:lnT>
                    <a:lnB w="38100" cmpd="sng">
                      <a:solidFill>
                        <a:srgbClr val="F7F4ED"/>
                      </a:solidFill>
                    </a:lnB>
                    <a:solidFill>
                      <a:srgbClr val="176E68"/>
                    </a:solidFill>
                  </a:tcPr>
                </a:tc>
                <a:extLst>
                  <a:ext uri="{0D108BD9-81ED-4DB2-BD59-A6C34878D82A}">
                    <a16:rowId xmlns:a16="http://schemas.microsoft.com/office/drawing/2014/main" val="10000"/>
                  </a:ext>
                </a:extLst>
              </a:tr>
              <a:tr h="558800">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Shadow</a:t>
                      </a:r>
                    </a:p>
                  </a:txBody>
                  <a:tcPr marL="152400" marR="127000" marT="88900" marB="88900" anchor="ctr">
                    <a:lnL w="12700" cmpd="sng">
                      <a:solidFill>
                        <a:srgbClr val="F7F4ED"/>
                      </a:solidFill>
                    </a:lnL>
                    <a:lnR w="12700" cmpd="sng">
                      <a:solidFill>
                        <a:srgbClr val="F7F4ED"/>
                      </a:solidFill>
                    </a:lnR>
                    <a:lnT w="38100" cmpd="sng">
                      <a:solidFill>
                        <a:srgbClr val="F7F4ED"/>
                      </a:solidFill>
                    </a:lnT>
                    <a:lnB w="12700" cmpd="sng">
                      <a:solidFill>
                        <a:srgbClr val="F7F4ED"/>
                      </a:solidFill>
                    </a:lnB>
                    <a:solidFill>
                      <a:srgbClr val="E4EEEA"/>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0</a:t>
                      </a:r>
                    </a:p>
                  </a:txBody>
                  <a:tcPr marL="152400" marR="127000" marT="88900" marB="88900" anchor="ctr">
                    <a:lnL w="12700" cmpd="sng">
                      <a:solidFill>
                        <a:srgbClr val="F7F4ED"/>
                      </a:solidFill>
                    </a:lnL>
                    <a:lnR w="12700" cmpd="sng">
                      <a:solidFill>
                        <a:srgbClr val="F7F4ED"/>
                      </a:solidFill>
                    </a:lnR>
                    <a:lnT w="38100" cmpd="sng">
                      <a:solidFill>
                        <a:srgbClr val="F7F4ED"/>
                      </a:solidFill>
                    </a:lnT>
                    <a:lnB w="12700" cmpd="sng">
                      <a:solidFill>
                        <a:srgbClr val="F7F4ED"/>
                      </a:solidFill>
                    </a:lnB>
                    <a:solidFill>
                      <a:srgbClr val="E4EEEA"/>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200</a:t>
                      </a:r>
                    </a:p>
                  </a:txBody>
                  <a:tcPr marL="152400" marR="127000" marT="88900" marB="88900" anchor="ctr">
                    <a:lnL w="12700" cmpd="sng">
                      <a:solidFill>
                        <a:srgbClr val="F7F4ED"/>
                      </a:solidFill>
                    </a:lnL>
                    <a:lnR w="12700" cmpd="sng">
                      <a:solidFill>
                        <a:srgbClr val="F7F4ED"/>
                      </a:solidFill>
                    </a:lnR>
                    <a:lnT w="38100" cmpd="sng">
                      <a:solidFill>
                        <a:srgbClr val="F7F4ED"/>
                      </a:solidFill>
                    </a:lnT>
                    <a:lnB w="12700" cmpd="sng">
                      <a:solidFill>
                        <a:srgbClr val="F7F4ED"/>
                      </a:solidFill>
                    </a:lnB>
                    <a:solidFill>
                      <a:srgbClr val="E4EEEA"/>
                    </a:solidFill>
                  </a:tcPr>
                </a:tc>
                <a:extLst>
                  <a:ext uri="{0D108BD9-81ED-4DB2-BD59-A6C34878D82A}">
                    <a16:rowId xmlns:a16="http://schemas.microsoft.com/office/drawing/2014/main" val="10001"/>
                  </a:ext>
                </a:extLst>
              </a:tr>
              <a:tr h="558800">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Canary 5%</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F7F4ED"/>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13</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F7F4ED"/>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200</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F7F4ED"/>
                    </a:solidFill>
                  </a:tcPr>
                </a:tc>
                <a:extLst>
                  <a:ext uri="{0D108BD9-81ED-4DB2-BD59-A6C34878D82A}">
                    <a16:rowId xmlns:a16="http://schemas.microsoft.com/office/drawing/2014/main" val="10002"/>
                  </a:ext>
                </a:extLst>
              </a:tr>
              <a:tr h="558800">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Canary 10%</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E4EEEA"/>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22</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E4EEEA"/>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200</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E4EEEA"/>
                    </a:solidFill>
                  </a:tcPr>
                </a:tc>
                <a:extLst>
                  <a:ext uri="{0D108BD9-81ED-4DB2-BD59-A6C34878D82A}">
                    <a16:rowId xmlns:a16="http://schemas.microsoft.com/office/drawing/2014/main" val="10003"/>
                  </a:ext>
                </a:extLst>
              </a:tr>
              <a:tr h="558800">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Canary 25%</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F7F4ED"/>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57</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F7F4ED"/>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200</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F7F4ED"/>
                    </a:solidFill>
                  </a:tcPr>
                </a:tc>
                <a:extLst>
                  <a:ext uri="{0D108BD9-81ED-4DB2-BD59-A6C34878D82A}">
                    <a16:rowId xmlns:a16="http://schemas.microsoft.com/office/drawing/2014/main" val="10004"/>
                  </a:ext>
                </a:extLst>
              </a:tr>
              <a:tr h="558800">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Canary 50%</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E4EEEA"/>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99</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E4EEEA"/>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200</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E4EEEA"/>
                    </a:solidFill>
                  </a:tcPr>
                </a:tc>
                <a:extLst>
                  <a:ext uri="{0D108BD9-81ED-4DB2-BD59-A6C34878D82A}">
                    <a16:rowId xmlns:a16="http://schemas.microsoft.com/office/drawing/2014/main" val="10005"/>
                  </a:ext>
                </a:extLst>
              </a:tr>
              <a:tr h="558800">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Canary 100%</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F7F4ED"/>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200</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F7F4ED"/>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200</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F7F4ED"/>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bg>
      <p:bgPr>
        <a:solidFill>
          <a:srgbClr val="F7F4ED"/>
        </a:solidFill>
        <a:effectLst/>
      </p:bgPr>
    </p:bg>
    <p:spTree>
      <p:nvGrpSpPr>
        <p:cNvPr id="1" name=""/>
        <p:cNvGrpSpPr/>
        <p:nvPr/>
      </p:nvGrpSpPr>
      <p:grpSpPr>
        <a:xfrm>
          <a:off x="0" y="0"/>
          <a:ext cx="0" cy="0"/>
          <a:chOff x="0" y="0"/>
          <a:chExt cx="0" cy="0"/>
        </a:xfrm>
      </p:grpSpPr>
      <p:sp>
        <p:nvSpPr>
          <p:cNvPr id="2" name="Rectangle 1"/>
          <p:cNvSpPr/>
          <p:nvPr/>
        </p:nvSpPr>
        <p:spPr>
          <a:xfrm>
            <a:off x="584200" y="317500"/>
            <a:ext cx="660400" cy="63500"/>
          </a:xfrm>
          <a:prstGeom prst="rect">
            <a:avLst/>
          </a:prstGeom>
          <a:solidFill>
            <a:srgbClr val="BB542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3" name="Text Box 2"/>
          <p:cNvSpPr txBox="1"/>
          <p:nvPr/>
        </p:nvSpPr>
        <p:spPr>
          <a:xfrm>
            <a:off x="584200" y="546100"/>
            <a:ext cx="11023600" cy="276860"/>
          </a:xfrm>
          <a:prstGeom prst="rect">
            <a:avLst/>
          </a:prstGeom>
          <a:noFill/>
        </p:spPr>
        <p:txBody>
          <a:bodyPr wrap="square" lIns="0" tIns="0" rIns="0" bIns="0" rtlCol="0" anchor="t">
            <a:noAutofit/>
          </a:bodyPr>
          <a:lstStyle/>
          <a:p>
            <a:pPr indent="0">
              <a:spcAft>
                <a:spcPts val="700"/>
              </a:spcAft>
              <a:buNone/>
            </a:pPr>
            <a:r>
              <a:rPr lang="vi-VN" sz="3200" b="1">
                <a:solidFill>
                  <a:srgbClr val="172F3C"/>
                </a:solidFill>
                <a:latin typeface="Segoe UI" panose="020B0502040204020203" charset="0"/>
                <a:cs typeface="Segoe UI" panose="020B0502040204020203" charset="0"/>
              </a:rPr>
              <a:t>Demo 2: lỗi canary phải dừng rollout</a:t>
            </a:r>
          </a:p>
        </p:txBody>
      </p:sp>
      <p:sp>
        <p:nvSpPr>
          <p:cNvPr id="4" name="Text Box 3"/>
          <p:cNvSpPr txBox="1"/>
          <p:nvPr/>
        </p:nvSpPr>
        <p:spPr>
          <a:xfrm>
            <a:off x="11404600" y="6477000"/>
            <a:ext cx="330200" cy="276860"/>
          </a:xfrm>
          <a:prstGeom prst="rect">
            <a:avLst/>
          </a:prstGeom>
          <a:noFill/>
        </p:spPr>
        <p:txBody>
          <a:bodyPr wrap="square" lIns="0" tIns="0" rIns="0" bIns="0" rtlCol="0" anchor="t">
            <a:noAutofit/>
          </a:bodyPr>
          <a:lstStyle/>
          <a:p>
            <a:pPr indent="0">
              <a:spcAft>
                <a:spcPts val="700"/>
              </a:spcAft>
              <a:buNone/>
            </a:pPr>
            <a:r>
              <a:rPr lang="vi-VN" sz="1000">
                <a:solidFill>
                  <a:srgbClr val="526673"/>
                </a:solidFill>
                <a:latin typeface="Segoe UI" panose="020B0502040204020203" charset="0"/>
                <a:cs typeface="Segoe UI" panose="020B0502040204020203" charset="0"/>
              </a:rPr>
              <a:t>24</a:t>
            </a:r>
          </a:p>
        </p:txBody>
      </p:sp>
      <p:sp>
        <p:nvSpPr>
          <p:cNvPr id="5" name="Text Box 4"/>
          <p:cNvSpPr txBox="1"/>
          <p:nvPr/>
        </p:nvSpPr>
        <p:spPr>
          <a:xfrm>
            <a:off x="584200" y="6121400"/>
            <a:ext cx="10541000" cy="276860"/>
          </a:xfrm>
          <a:prstGeom prst="rect">
            <a:avLst/>
          </a:prstGeom>
          <a:noFill/>
        </p:spPr>
        <p:txBody>
          <a:bodyPr wrap="square" lIns="0" tIns="0" rIns="0" bIns="0" rtlCol="0" anchor="t">
            <a:noAutofit/>
          </a:bodyPr>
          <a:lstStyle/>
          <a:p>
            <a:pPr indent="0">
              <a:spcAft>
                <a:spcPts val="700"/>
              </a:spcAft>
              <a:buNone/>
            </a:pPr>
            <a:r>
              <a:rPr lang="vi-VN" sz="1200">
                <a:solidFill>
                  <a:srgbClr val="526673"/>
                </a:solidFill>
                <a:latin typeface="Segoe UI" panose="020B0502040204020203" charset="0"/>
                <a:cs typeface="Segoe UI" panose="020B0502040204020203" charset="0"/>
              </a:rPr>
              <a:t>Kết quả lifecycle mong đợi: FAILED_CANARY. Đây là demo thành công của cơ chế chặn lỗi</a:t>
            </a:r>
          </a:p>
        </p:txBody>
      </p:sp>
      <p:sp>
        <p:nvSpPr>
          <p:cNvPr id="6" name="Text Box 5"/>
          <p:cNvSpPr txBox="1"/>
          <p:nvPr/>
        </p:nvSpPr>
        <p:spPr>
          <a:xfrm>
            <a:off x="584200" y="1993900"/>
            <a:ext cx="965200" cy="276860"/>
          </a:xfrm>
          <a:prstGeom prst="rect">
            <a:avLst/>
          </a:prstGeom>
          <a:noFill/>
        </p:spPr>
        <p:txBody>
          <a:bodyPr wrap="square" lIns="0" tIns="0" rIns="0" bIns="0" rtlCol="0" anchor="t">
            <a:noAutofit/>
          </a:bodyPr>
          <a:lstStyle/>
          <a:p>
            <a:pPr indent="0">
              <a:spcAft>
                <a:spcPts val="700"/>
              </a:spcAft>
              <a:buNone/>
            </a:pPr>
            <a:r>
              <a:rPr lang="vi-VN" sz="3900" b="1">
                <a:solidFill>
                  <a:srgbClr val="BB542A"/>
                </a:solidFill>
                <a:latin typeface="Segoe UI" panose="020B0502040204020203" charset="0"/>
                <a:cs typeface="Segoe UI" panose="020B0502040204020203" charset="0"/>
              </a:rPr>
              <a:t>01</a:t>
            </a:r>
          </a:p>
        </p:txBody>
      </p:sp>
      <p:sp>
        <p:nvSpPr>
          <p:cNvPr id="7" name="Text Box 6"/>
          <p:cNvSpPr txBox="1"/>
          <p:nvPr/>
        </p:nvSpPr>
        <p:spPr>
          <a:xfrm>
            <a:off x="1816100" y="1993900"/>
            <a:ext cx="9728200" cy="276860"/>
          </a:xfrm>
          <a:prstGeom prst="rect">
            <a:avLst/>
          </a:prstGeom>
          <a:noFill/>
        </p:spPr>
        <p:txBody>
          <a:bodyPr wrap="square" lIns="0" tIns="0" rIns="0" bIns="0" rtlCol="0" anchor="t">
            <a:noAutofit/>
          </a:bodyPr>
          <a:lstStyle/>
          <a:p>
            <a:pPr indent="0">
              <a:spcAft>
                <a:spcPts val="700"/>
              </a:spcAft>
              <a:buNone/>
            </a:pPr>
            <a:r>
              <a:rPr lang="vi-VN" sz="2700" b="1">
                <a:solidFill>
                  <a:srgbClr val="176E68"/>
                </a:solidFill>
                <a:latin typeface="Segoe UI" panose="020B0502040204020203" charset="0"/>
                <a:cs typeface="Segoe UI" panose="020B0502040204020203" charset="0"/>
              </a:rPr>
              <a:t>Khôi phục baseline demo</a:t>
            </a:r>
          </a:p>
        </p:txBody>
      </p:sp>
      <p:sp>
        <p:nvSpPr>
          <p:cNvPr id="8" name="Text Box 7"/>
          <p:cNvSpPr txBox="1"/>
          <p:nvPr/>
        </p:nvSpPr>
        <p:spPr>
          <a:xfrm>
            <a:off x="1816100" y="2667000"/>
            <a:ext cx="9728200" cy="276860"/>
          </a:xfrm>
          <a:prstGeom prst="rect">
            <a:avLst/>
          </a:prstGeom>
          <a:noFill/>
        </p:spPr>
        <p:txBody>
          <a:bodyPr wrap="square" lIns="0" tIns="0" rIns="0" bIns="0" rtlCol="0" anchor="t">
            <a:noAutofit/>
          </a:bodyPr>
          <a:lstStyle/>
          <a:p>
            <a:pPr indent="0">
              <a:spcAft>
                <a:spcPts val="700"/>
              </a:spcAft>
              <a:buNone/>
            </a:pPr>
            <a:r>
              <a:rPr lang="vi-VN" sz="2000">
                <a:solidFill>
                  <a:srgbClr val="172F3C"/>
                </a:solidFill>
                <a:latin typeface="Segoe UI" panose="020B0502040204020203" charset="0"/>
                <a:cs typeface="Segoe UI" panose="020B0502040204020203" charset="0"/>
              </a:rPr>
              <a:t>Giữ history và audit</a:t>
            </a:r>
          </a:p>
        </p:txBody>
      </p:sp>
      <p:sp>
        <p:nvSpPr>
          <p:cNvPr id="9" name="Text Box 8"/>
          <p:cNvSpPr txBox="1"/>
          <p:nvPr/>
        </p:nvSpPr>
        <p:spPr>
          <a:xfrm>
            <a:off x="584200" y="3289300"/>
            <a:ext cx="965200" cy="276860"/>
          </a:xfrm>
          <a:prstGeom prst="rect">
            <a:avLst/>
          </a:prstGeom>
          <a:noFill/>
        </p:spPr>
        <p:txBody>
          <a:bodyPr wrap="square" lIns="0" tIns="0" rIns="0" bIns="0" rtlCol="0" anchor="t">
            <a:noAutofit/>
          </a:bodyPr>
          <a:lstStyle/>
          <a:p>
            <a:pPr indent="0">
              <a:spcAft>
                <a:spcPts val="700"/>
              </a:spcAft>
              <a:buNone/>
            </a:pPr>
            <a:r>
              <a:rPr lang="vi-VN" sz="3900" b="1">
                <a:solidFill>
                  <a:srgbClr val="BB542A"/>
                </a:solidFill>
                <a:latin typeface="Segoe UI" panose="020B0502040204020203" charset="0"/>
                <a:cs typeface="Segoe UI" panose="020B0502040204020203" charset="0"/>
              </a:rPr>
              <a:t>02</a:t>
            </a:r>
          </a:p>
        </p:txBody>
      </p:sp>
      <p:sp>
        <p:nvSpPr>
          <p:cNvPr id="10" name="Text Box 9"/>
          <p:cNvSpPr txBox="1"/>
          <p:nvPr/>
        </p:nvSpPr>
        <p:spPr>
          <a:xfrm>
            <a:off x="1816100" y="3289300"/>
            <a:ext cx="9728200" cy="276860"/>
          </a:xfrm>
          <a:prstGeom prst="rect">
            <a:avLst/>
          </a:prstGeom>
          <a:noFill/>
        </p:spPr>
        <p:txBody>
          <a:bodyPr wrap="square" lIns="0" tIns="0" rIns="0" bIns="0" rtlCol="0" anchor="t">
            <a:noAutofit/>
          </a:bodyPr>
          <a:lstStyle/>
          <a:p>
            <a:pPr indent="0">
              <a:spcAft>
                <a:spcPts val="700"/>
              </a:spcAft>
              <a:buNone/>
            </a:pPr>
            <a:r>
              <a:rPr lang="vi-VN" sz="2700" b="1">
                <a:solidFill>
                  <a:srgbClr val="176E68"/>
                </a:solidFill>
                <a:latin typeface="Segoe UI" panose="020B0502040204020203" charset="0"/>
                <a:cs typeface="Segoe UI" panose="020B0502040204020203" charset="0"/>
              </a:rPr>
              <a:t>Chọn Face, bấm Canary lỗi → rollback</a:t>
            </a:r>
          </a:p>
        </p:txBody>
      </p:sp>
      <p:sp>
        <p:nvSpPr>
          <p:cNvPr id="11" name="Text Box 10"/>
          <p:cNvSpPr txBox="1"/>
          <p:nvPr/>
        </p:nvSpPr>
        <p:spPr>
          <a:xfrm>
            <a:off x="1816100" y="3962400"/>
            <a:ext cx="9728200" cy="276860"/>
          </a:xfrm>
          <a:prstGeom prst="rect">
            <a:avLst/>
          </a:prstGeom>
          <a:noFill/>
        </p:spPr>
        <p:txBody>
          <a:bodyPr wrap="square" lIns="0" tIns="0" rIns="0" bIns="0" rtlCol="0" anchor="t">
            <a:noAutofit/>
          </a:bodyPr>
          <a:lstStyle/>
          <a:p>
            <a:pPr indent="0">
              <a:spcAft>
                <a:spcPts val="700"/>
              </a:spcAft>
              <a:buNone/>
            </a:pPr>
            <a:r>
              <a:rPr lang="vi-VN" sz="2000">
                <a:solidFill>
                  <a:srgbClr val="172F3C"/>
                </a:solidFill>
                <a:latin typeface="Segoe UI" panose="020B0502040204020203" charset="0"/>
                <a:cs typeface="Segoe UI" panose="020B0502040204020203" charset="0"/>
              </a:rPr>
              <a:t>Kịch bản tiêm impostor score cao ở 25%</a:t>
            </a:r>
          </a:p>
        </p:txBody>
      </p:sp>
      <p:sp>
        <p:nvSpPr>
          <p:cNvPr id="12" name="Text Box 11"/>
          <p:cNvSpPr txBox="1"/>
          <p:nvPr/>
        </p:nvSpPr>
        <p:spPr>
          <a:xfrm>
            <a:off x="584200" y="4584700"/>
            <a:ext cx="965200" cy="276860"/>
          </a:xfrm>
          <a:prstGeom prst="rect">
            <a:avLst/>
          </a:prstGeom>
          <a:noFill/>
        </p:spPr>
        <p:txBody>
          <a:bodyPr wrap="square" lIns="0" tIns="0" rIns="0" bIns="0" rtlCol="0" anchor="t">
            <a:noAutofit/>
          </a:bodyPr>
          <a:lstStyle/>
          <a:p>
            <a:pPr indent="0">
              <a:spcAft>
                <a:spcPts val="700"/>
              </a:spcAft>
              <a:buNone/>
            </a:pPr>
            <a:r>
              <a:rPr lang="vi-VN" sz="3900" b="1">
                <a:solidFill>
                  <a:srgbClr val="BB542A"/>
                </a:solidFill>
                <a:latin typeface="Segoe UI" panose="020B0502040204020203" charset="0"/>
                <a:cs typeface="Segoe UI" panose="020B0502040204020203" charset="0"/>
              </a:rPr>
              <a:t>03</a:t>
            </a:r>
          </a:p>
        </p:txBody>
      </p:sp>
      <p:sp>
        <p:nvSpPr>
          <p:cNvPr id="13" name="Text Box 12"/>
          <p:cNvSpPr txBox="1"/>
          <p:nvPr/>
        </p:nvSpPr>
        <p:spPr>
          <a:xfrm>
            <a:off x="1816100" y="4584700"/>
            <a:ext cx="9728200" cy="276860"/>
          </a:xfrm>
          <a:prstGeom prst="rect">
            <a:avLst/>
          </a:prstGeom>
          <a:noFill/>
        </p:spPr>
        <p:txBody>
          <a:bodyPr wrap="square" lIns="0" tIns="0" rIns="0" bIns="0" rtlCol="0" anchor="t">
            <a:noAutofit/>
          </a:bodyPr>
          <a:lstStyle/>
          <a:p>
            <a:pPr indent="0">
              <a:spcAft>
                <a:spcPts val="700"/>
              </a:spcAft>
              <a:buNone/>
            </a:pPr>
            <a:r>
              <a:rPr lang="vi-VN" sz="2700" b="1">
                <a:solidFill>
                  <a:srgbClr val="176E68"/>
                </a:solidFill>
                <a:latin typeface="Segoe UI" panose="020B0502040204020203" charset="0"/>
                <a:cs typeface="Segoe UI" panose="020B0502040204020203" charset="0"/>
              </a:rPr>
              <a:t>Đối chiếu sau rollback</a:t>
            </a:r>
          </a:p>
        </p:txBody>
      </p:sp>
      <p:sp>
        <p:nvSpPr>
          <p:cNvPr id="14" name="Text Box 13"/>
          <p:cNvSpPr txBox="1"/>
          <p:nvPr/>
        </p:nvSpPr>
        <p:spPr>
          <a:xfrm>
            <a:off x="1816100" y="5257800"/>
            <a:ext cx="9728200" cy="276860"/>
          </a:xfrm>
          <a:prstGeom prst="rect">
            <a:avLst/>
          </a:prstGeom>
          <a:noFill/>
        </p:spPr>
        <p:txBody>
          <a:bodyPr wrap="square" lIns="0" tIns="0" rIns="0" bIns="0" rtlCol="0" anchor="t">
            <a:noAutofit/>
          </a:bodyPr>
          <a:lstStyle/>
          <a:p>
            <a:pPr indent="0">
              <a:spcAft>
                <a:spcPts val="700"/>
              </a:spcAft>
              <a:buNone/>
            </a:pPr>
            <a:r>
              <a:rPr lang="vi-VN" sz="2000">
                <a:solidFill>
                  <a:srgbClr val="172F3C"/>
                </a:solidFill>
                <a:latin typeface="Segoe UI" panose="020B0502040204020203" charset="0"/>
                <a:cs typeface="Segoe UI" panose="020B0502040204020203" charset="0"/>
              </a:rPr>
              <a:t>Champion giữ nguyên, challenger traffic về 0</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bg>
      <p:bgPr>
        <a:solidFill>
          <a:srgbClr val="F7F4ED"/>
        </a:solidFill>
        <a:effectLst/>
      </p:bgPr>
    </p:bg>
    <p:spTree>
      <p:nvGrpSpPr>
        <p:cNvPr id="1" name=""/>
        <p:cNvGrpSpPr/>
        <p:nvPr/>
      </p:nvGrpSpPr>
      <p:grpSpPr>
        <a:xfrm>
          <a:off x="0" y="0"/>
          <a:ext cx="0" cy="0"/>
          <a:chOff x="0" y="0"/>
          <a:chExt cx="0" cy="0"/>
        </a:xfrm>
      </p:grpSpPr>
      <p:sp>
        <p:nvSpPr>
          <p:cNvPr id="2" name="Rectangle 1"/>
          <p:cNvSpPr/>
          <p:nvPr/>
        </p:nvSpPr>
        <p:spPr>
          <a:xfrm>
            <a:off x="584200" y="317500"/>
            <a:ext cx="660400" cy="63500"/>
          </a:xfrm>
          <a:prstGeom prst="rect">
            <a:avLst/>
          </a:prstGeom>
          <a:solidFill>
            <a:srgbClr val="BB542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3" name="Text Box 2"/>
          <p:cNvSpPr txBox="1"/>
          <p:nvPr/>
        </p:nvSpPr>
        <p:spPr>
          <a:xfrm>
            <a:off x="584200" y="546100"/>
            <a:ext cx="11023600" cy="276860"/>
          </a:xfrm>
          <a:prstGeom prst="rect">
            <a:avLst/>
          </a:prstGeom>
          <a:noFill/>
        </p:spPr>
        <p:txBody>
          <a:bodyPr wrap="square" lIns="0" tIns="0" rIns="0" bIns="0" rtlCol="0" anchor="t">
            <a:noAutofit/>
          </a:bodyPr>
          <a:lstStyle/>
          <a:p>
            <a:pPr indent="0">
              <a:spcAft>
                <a:spcPts val="700"/>
              </a:spcAft>
              <a:buNone/>
            </a:pPr>
            <a:r>
              <a:rPr lang="vi-VN" sz="3200" b="1">
                <a:solidFill>
                  <a:srgbClr val="172F3C"/>
                </a:solidFill>
                <a:latin typeface="Segoe UI" panose="020B0502040204020203" charset="0"/>
                <a:cs typeface="Segoe UI" panose="020B0502040204020203" charset="0"/>
              </a:rPr>
              <a:t>Rollback giữ lại model ổn định và bằng chứng thất bại</a:t>
            </a:r>
          </a:p>
        </p:txBody>
      </p:sp>
      <p:sp>
        <p:nvSpPr>
          <p:cNvPr id="4" name="Text Box 3"/>
          <p:cNvSpPr txBox="1"/>
          <p:nvPr/>
        </p:nvSpPr>
        <p:spPr>
          <a:xfrm>
            <a:off x="11404600" y="6477000"/>
            <a:ext cx="330200" cy="276860"/>
          </a:xfrm>
          <a:prstGeom prst="rect">
            <a:avLst/>
          </a:prstGeom>
          <a:noFill/>
        </p:spPr>
        <p:txBody>
          <a:bodyPr wrap="square" lIns="0" tIns="0" rIns="0" bIns="0" rtlCol="0" anchor="t">
            <a:noAutofit/>
          </a:bodyPr>
          <a:lstStyle/>
          <a:p>
            <a:pPr indent="0">
              <a:spcAft>
                <a:spcPts val="700"/>
              </a:spcAft>
              <a:buNone/>
            </a:pPr>
            <a:r>
              <a:rPr lang="vi-VN" sz="1000">
                <a:solidFill>
                  <a:srgbClr val="526673"/>
                </a:solidFill>
                <a:latin typeface="Segoe UI" panose="020B0502040204020203" charset="0"/>
                <a:cs typeface="Segoe UI" panose="020B0502040204020203" charset="0"/>
              </a:rPr>
              <a:t>25</a:t>
            </a:r>
          </a:p>
        </p:txBody>
      </p:sp>
      <p:sp>
        <p:nvSpPr>
          <p:cNvPr id="5" name="Text Box 4"/>
          <p:cNvSpPr txBox="1"/>
          <p:nvPr/>
        </p:nvSpPr>
        <p:spPr>
          <a:xfrm>
            <a:off x="584200" y="6121400"/>
            <a:ext cx="10541000" cy="276860"/>
          </a:xfrm>
          <a:prstGeom prst="rect">
            <a:avLst/>
          </a:prstGeom>
          <a:noFill/>
        </p:spPr>
        <p:txBody>
          <a:bodyPr wrap="square" lIns="0" tIns="0" rIns="0" bIns="0" rtlCol="0" anchor="t">
            <a:noAutofit/>
          </a:bodyPr>
          <a:lstStyle/>
          <a:p>
            <a:pPr indent="0">
              <a:spcAft>
                <a:spcPts val="700"/>
              </a:spcAft>
              <a:buNone/>
            </a:pPr>
            <a:r>
              <a:rPr lang="vi-VN" sz="1200">
                <a:solidFill>
                  <a:srgbClr val="526673"/>
                </a:solidFill>
                <a:latin typeface="Segoe UI" panose="020B0502040204020203" charset="0"/>
                <a:cs typeface="Segoe UI" panose="020B0502040204020203" charset="0"/>
              </a:rPr>
              <a:t>Simulation Face ngày 03/10/2026. Production policies trước và sau hai demo không đổi</a:t>
            </a:r>
          </a:p>
        </p:txBody>
      </p:sp>
      <p:sp>
        <p:nvSpPr>
          <p:cNvPr id="6" name="Text Box 5"/>
          <p:cNvSpPr txBox="1"/>
          <p:nvPr/>
        </p:nvSpPr>
        <p:spPr>
          <a:xfrm>
            <a:off x="584200" y="2044700"/>
            <a:ext cx="4495800" cy="276860"/>
          </a:xfrm>
          <a:prstGeom prst="rect">
            <a:avLst/>
          </a:prstGeom>
          <a:noFill/>
        </p:spPr>
        <p:txBody>
          <a:bodyPr wrap="square" lIns="0" tIns="0" rIns="0" bIns="0" rtlCol="0" anchor="t">
            <a:noAutofit/>
          </a:bodyPr>
          <a:lstStyle/>
          <a:p>
            <a:pPr indent="0">
              <a:spcAft>
                <a:spcPts val="700"/>
              </a:spcAft>
              <a:buNone/>
            </a:pPr>
            <a:r>
              <a:rPr lang="vi-VN" sz="5900" b="1">
                <a:solidFill>
                  <a:srgbClr val="BB542A"/>
                </a:solidFill>
                <a:latin typeface="Segoe UI" panose="020B0502040204020203" charset="0"/>
                <a:cs typeface="Segoe UI" panose="020B0502040204020203" charset="0"/>
              </a:rPr>
              <a:t>25%</a:t>
            </a:r>
          </a:p>
        </p:txBody>
      </p:sp>
      <p:sp>
        <p:nvSpPr>
          <p:cNvPr id="7" name="Text Box 6"/>
          <p:cNvSpPr txBox="1"/>
          <p:nvPr/>
        </p:nvSpPr>
        <p:spPr>
          <a:xfrm>
            <a:off x="584200" y="3238500"/>
            <a:ext cx="4495800" cy="276860"/>
          </a:xfrm>
          <a:prstGeom prst="rect">
            <a:avLst/>
          </a:prstGeom>
          <a:noFill/>
        </p:spPr>
        <p:txBody>
          <a:bodyPr wrap="square" lIns="0" tIns="0" rIns="0" bIns="0" rtlCol="0" anchor="t">
            <a:noAutofit/>
          </a:bodyPr>
          <a:lstStyle/>
          <a:p>
            <a:pPr indent="0">
              <a:spcAft>
                <a:spcPts val="700"/>
              </a:spcAft>
              <a:buNone/>
            </a:pPr>
            <a:r>
              <a:rPr lang="vi-VN" sz="2300">
                <a:solidFill>
                  <a:srgbClr val="172F3C"/>
                </a:solidFill>
                <a:latin typeface="Segoe UI" panose="020B0502040204020203" charset="0"/>
                <a:cs typeface="Segoe UI" panose="020B0502040204020203" charset="0"/>
              </a:rPr>
              <a:t>Stage phát hiện regression</a:t>
            </a:r>
          </a:p>
        </p:txBody>
      </p:sp>
      <p:sp>
        <p:nvSpPr>
          <p:cNvPr id="8" name="Text Box 7"/>
          <p:cNvSpPr txBox="1"/>
          <p:nvPr/>
        </p:nvSpPr>
        <p:spPr>
          <a:xfrm>
            <a:off x="584200" y="4102100"/>
            <a:ext cx="4622800" cy="276860"/>
          </a:xfrm>
          <a:prstGeom prst="rect">
            <a:avLst/>
          </a:prstGeom>
          <a:noFill/>
        </p:spPr>
        <p:txBody>
          <a:bodyPr wrap="square" lIns="0" tIns="0" rIns="0" bIns="0" rtlCol="0" anchor="t">
            <a:noAutofit/>
          </a:bodyPr>
          <a:lstStyle/>
          <a:p>
            <a:pPr indent="0">
              <a:spcAft>
                <a:spcPts val="700"/>
              </a:spcAft>
              <a:buNone/>
            </a:pPr>
            <a:r>
              <a:rPr lang="vi-VN" sz="4800" b="1">
                <a:solidFill>
                  <a:srgbClr val="176E68"/>
                </a:solidFill>
                <a:latin typeface="Segoe UI" panose="020B0502040204020203" charset="0"/>
                <a:cs typeface="Segoe UI" panose="020B0502040204020203" charset="0"/>
              </a:rPr>
              <a:t>200 / 200</a:t>
            </a:r>
          </a:p>
        </p:txBody>
      </p:sp>
      <p:sp>
        <p:nvSpPr>
          <p:cNvPr id="9" name="Text Box 8"/>
          <p:cNvSpPr txBox="1"/>
          <p:nvPr/>
        </p:nvSpPr>
        <p:spPr>
          <a:xfrm>
            <a:off x="584200" y="5105400"/>
            <a:ext cx="4622800" cy="276860"/>
          </a:xfrm>
          <a:prstGeom prst="rect">
            <a:avLst/>
          </a:prstGeom>
          <a:noFill/>
        </p:spPr>
        <p:txBody>
          <a:bodyPr wrap="square" lIns="0" tIns="0" rIns="0" bIns="0" rtlCol="0" anchor="t">
            <a:noAutofit/>
          </a:bodyPr>
          <a:lstStyle/>
          <a:p>
            <a:pPr indent="0">
              <a:spcAft>
                <a:spcPts val="700"/>
              </a:spcAft>
              <a:buNone/>
            </a:pPr>
            <a:r>
              <a:rPr lang="vi-VN" sz="2100">
                <a:solidFill>
                  <a:srgbClr val="172F3C"/>
                </a:solidFill>
                <a:latin typeface="Segoe UI" panose="020B0502040204020203" charset="0"/>
                <a:cs typeface="Segoe UI" panose="020B0502040204020203" charset="0"/>
              </a:rPr>
              <a:t>Probe sau rollback dùng version 1</a:t>
            </a:r>
          </a:p>
        </p:txBody>
      </p:sp>
      <p:sp>
        <p:nvSpPr>
          <p:cNvPr id="10" name="Text Box 9"/>
          <p:cNvSpPr txBox="1"/>
          <p:nvPr/>
        </p:nvSpPr>
        <p:spPr>
          <a:xfrm>
            <a:off x="6057900" y="2692400"/>
            <a:ext cx="5334000" cy="276860"/>
          </a:xfrm>
          <a:prstGeom prst="rect">
            <a:avLst/>
          </a:prstGeom>
          <a:noFill/>
        </p:spPr>
        <p:txBody>
          <a:bodyPr wrap="square" lIns="0" tIns="0" rIns="0" bIns="0" rtlCol="0" anchor="t">
            <a:noAutofit/>
          </a:bodyPr>
          <a:lstStyle/>
          <a:p>
            <a:pPr indent="0">
              <a:spcAft>
                <a:spcPts val="700"/>
              </a:spcAft>
              <a:buNone/>
            </a:pPr>
            <a:r>
              <a:rPr lang="vi-VN" sz="2700" b="1">
                <a:solidFill>
                  <a:srgbClr val="172F3C"/>
                </a:solidFill>
                <a:latin typeface="Segoe UI" panose="020B0502040204020203" charset="0"/>
                <a:cs typeface="Segoe UI" panose="020B0502040204020203" charset="0"/>
              </a:rPr>
              <a:t>Champion giữ nguyên
Challenger traffic = 0
Model lỗi và audit được giữ lại</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bg>
      <p:bgPr>
        <a:solidFill>
          <a:srgbClr val="F7F4ED"/>
        </a:solidFill>
        <a:effectLst/>
      </p:bgPr>
    </p:bg>
    <p:spTree>
      <p:nvGrpSpPr>
        <p:cNvPr id="1" name=""/>
        <p:cNvGrpSpPr/>
        <p:nvPr/>
      </p:nvGrpSpPr>
      <p:grpSpPr>
        <a:xfrm>
          <a:off x="0" y="0"/>
          <a:ext cx="0" cy="0"/>
          <a:chOff x="0" y="0"/>
          <a:chExt cx="0" cy="0"/>
        </a:xfrm>
      </p:grpSpPr>
      <p:sp>
        <p:nvSpPr>
          <p:cNvPr id="2" name="Rectangle 1"/>
          <p:cNvSpPr/>
          <p:nvPr/>
        </p:nvSpPr>
        <p:spPr>
          <a:xfrm>
            <a:off x="584200" y="317500"/>
            <a:ext cx="660400" cy="63500"/>
          </a:xfrm>
          <a:prstGeom prst="rect">
            <a:avLst/>
          </a:prstGeom>
          <a:solidFill>
            <a:srgbClr val="BB542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3" name="Text Box 2"/>
          <p:cNvSpPr txBox="1"/>
          <p:nvPr/>
        </p:nvSpPr>
        <p:spPr>
          <a:xfrm>
            <a:off x="584200" y="546100"/>
            <a:ext cx="11023600" cy="276860"/>
          </a:xfrm>
          <a:prstGeom prst="rect">
            <a:avLst/>
          </a:prstGeom>
          <a:noFill/>
        </p:spPr>
        <p:txBody>
          <a:bodyPr wrap="square" lIns="0" tIns="0" rIns="0" bIns="0" rtlCol="0" anchor="t">
            <a:noAutofit/>
          </a:bodyPr>
          <a:lstStyle/>
          <a:p>
            <a:pPr indent="0">
              <a:spcAft>
                <a:spcPts val="700"/>
              </a:spcAft>
              <a:buNone/>
            </a:pPr>
            <a:r>
              <a:rPr lang="vi-VN" sz="3200" b="1">
                <a:solidFill>
                  <a:srgbClr val="172F3C"/>
                </a:solidFill>
                <a:latin typeface="Segoe UI" panose="020B0502040204020203" charset="0"/>
                <a:cs typeface="Segoe UI" panose="020B0502040204020203" charset="0"/>
              </a:rPr>
              <a:t>Kết thúc demo: phục hồi baseline và giữ audit</a:t>
            </a:r>
          </a:p>
        </p:txBody>
      </p:sp>
      <p:sp>
        <p:nvSpPr>
          <p:cNvPr id="4" name="Text Box 3"/>
          <p:cNvSpPr txBox="1"/>
          <p:nvPr/>
        </p:nvSpPr>
        <p:spPr>
          <a:xfrm>
            <a:off x="11404600" y="6477000"/>
            <a:ext cx="330200" cy="276860"/>
          </a:xfrm>
          <a:prstGeom prst="rect">
            <a:avLst/>
          </a:prstGeom>
          <a:noFill/>
        </p:spPr>
        <p:txBody>
          <a:bodyPr wrap="square" lIns="0" tIns="0" rIns="0" bIns="0" rtlCol="0" anchor="t">
            <a:noAutofit/>
          </a:bodyPr>
          <a:lstStyle/>
          <a:p>
            <a:pPr indent="0">
              <a:spcAft>
                <a:spcPts val="700"/>
              </a:spcAft>
              <a:buNone/>
            </a:pPr>
            <a:r>
              <a:rPr lang="vi-VN" sz="1000">
                <a:solidFill>
                  <a:srgbClr val="526673"/>
                </a:solidFill>
                <a:latin typeface="Segoe UI" panose="020B0502040204020203" charset="0"/>
                <a:cs typeface="Segoe UI" panose="020B0502040204020203" charset="0"/>
              </a:rPr>
              <a:t>26</a:t>
            </a:r>
          </a:p>
        </p:txBody>
      </p:sp>
      <p:sp>
        <p:nvSpPr>
          <p:cNvPr id="5" name="Text Box 4"/>
          <p:cNvSpPr txBox="1"/>
          <p:nvPr/>
        </p:nvSpPr>
        <p:spPr>
          <a:xfrm>
            <a:off x="584200" y="6121400"/>
            <a:ext cx="10541000" cy="276860"/>
          </a:xfrm>
          <a:prstGeom prst="rect">
            <a:avLst/>
          </a:prstGeom>
          <a:noFill/>
        </p:spPr>
        <p:txBody>
          <a:bodyPr wrap="square" lIns="0" tIns="0" rIns="0" bIns="0" rtlCol="0" anchor="t">
            <a:noAutofit/>
          </a:bodyPr>
          <a:lstStyle/>
          <a:p>
            <a:pPr indent="0">
              <a:spcAft>
                <a:spcPts val="700"/>
              </a:spcAft>
              <a:buNone/>
            </a:pPr>
            <a:r>
              <a:rPr lang="vi-VN" sz="1200">
                <a:solidFill>
                  <a:srgbClr val="526673"/>
                </a:solidFill>
                <a:latin typeface="Segoe UI" panose="020B0502040204020203" charset="0"/>
                <a:cs typeface="Segoe UI" panose="020B0502040204020203" charset="0"/>
              </a:rPr>
              <a:t>Demo riêng 10–15 phút. Runbook thao tác chi tiết: DEMO_RUNBOOK.md</a:t>
            </a:r>
          </a:p>
        </p:txBody>
      </p:sp>
      <p:sp>
        <p:nvSpPr>
          <p:cNvPr id="6" name="Text Box 5"/>
          <p:cNvSpPr txBox="1"/>
          <p:nvPr/>
        </p:nvSpPr>
        <p:spPr>
          <a:xfrm>
            <a:off x="584200" y="1993900"/>
            <a:ext cx="965200" cy="276860"/>
          </a:xfrm>
          <a:prstGeom prst="rect">
            <a:avLst/>
          </a:prstGeom>
          <a:noFill/>
        </p:spPr>
        <p:txBody>
          <a:bodyPr wrap="square" lIns="0" tIns="0" rIns="0" bIns="0" rtlCol="0" anchor="t">
            <a:noAutofit/>
          </a:bodyPr>
          <a:lstStyle/>
          <a:p>
            <a:pPr indent="0">
              <a:spcAft>
                <a:spcPts val="700"/>
              </a:spcAft>
              <a:buNone/>
            </a:pPr>
            <a:r>
              <a:rPr lang="vi-VN" sz="3900" b="1">
                <a:solidFill>
                  <a:srgbClr val="BB542A"/>
                </a:solidFill>
                <a:latin typeface="Segoe UI" panose="020B0502040204020203" charset="0"/>
                <a:cs typeface="Segoe UI" panose="020B0502040204020203" charset="0"/>
              </a:rPr>
              <a:t>01</a:t>
            </a:r>
          </a:p>
        </p:txBody>
      </p:sp>
      <p:sp>
        <p:nvSpPr>
          <p:cNvPr id="7" name="Text Box 6"/>
          <p:cNvSpPr txBox="1"/>
          <p:nvPr/>
        </p:nvSpPr>
        <p:spPr>
          <a:xfrm>
            <a:off x="1816100" y="1993900"/>
            <a:ext cx="9728200" cy="276860"/>
          </a:xfrm>
          <a:prstGeom prst="rect">
            <a:avLst/>
          </a:prstGeom>
          <a:noFill/>
        </p:spPr>
        <p:txBody>
          <a:bodyPr wrap="square" lIns="0" tIns="0" rIns="0" bIns="0" rtlCol="0" anchor="t">
            <a:noAutofit/>
          </a:bodyPr>
          <a:lstStyle/>
          <a:p>
            <a:pPr indent="0">
              <a:spcAft>
                <a:spcPts val="700"/>
              </a:spcAft>
              <a:buNone/>
            </a:pPr>
            <a:r>
              <a:rPr lang="vi-VN" sz="2700" b="1">
                <a:solidFill>
                  <a:srgbClr val="176E68"/>
                </a:solidFill>
                <a:latin typeface="Segoe UI" panose="020B0502040204020203" charset="0"/>
                <a:cs typeface="Segoe UI" panose="020B0502040204020203" charset="0"/>
              </a:rPr>
              <a:t>Bấm Khôi phục baseline demo</a:t>
            </a:r>
          </a:p>
        </p:txBody>
      </p:sp>
      <p:sp>
        <p:nvSpPr>
          <p:cNvPr id="8" name="Text Box 7"/>
          <p:cNvSpPr txBox="1"/>
          <p:nvPr/>
        </p:nvSpPr>
        <p:spPr>
          <a:xfrm>
            <a:off x="1816100" y="2667000"/>
            <a:ext cx="9728200" cy="276860"/>
          </a:xfrm>
          <a:prstGeom prst="rect">
            <a:avLst/>
          </a:prstGeom>
          <a:noFill/>
        </p:spPr>
        <p:txBody>
          <a:bodyPr wrap="square" lIns="0" tIns="0" rIns="0" bIns="0" rtlCol="0" anchor="t">
            <a:noAutofit/>
          </a:bodyPr>
          <a:lstStyle/>
          <a:p>
            <a:pPr indent="0">
              <a:spcAft>
                <a:spcPts val="700"/>
              </a:spcAft>
              <a:buNone/>
            </a:pPr>
            <a:r>
              <a:rPr lang="vi-VN" sz="2000">
                <a:solidFill>
                  <a:srgbClr val="172F3C"/>
                </a:solidFill>
                <a:latin typeface="Segoe UI" panose="020B0502040204020203" charset="0"/>
                <a:cs typeface="Segoe UI" panose="020B0502040204020203" charset="0"/>
              </a:rPr>
              <a:t>Đợi trạng thái reset được xác nhận</a:t>
            </a:r>
          </a:p>
        </p:txBody>
      </p:sp>
      <p:sp>
        <p:nvSpPr>
          <p:cNvPr id="9" name="Text Box 8"/>
          <p:cNvSpPr txBox="1"/>
          <p:nvPr/>
        </p:nvSpPr>
        <p:spPr>
          <a:xfrm>
            <a:off x="584200" y="3289300"/>
            <a:ext cx="965200" cy="276860"/>
          </a:xfrm>
          <a:prstGeom prst="rect">
            <a:avLst/>
          </a:prstGeom>
          <a:noFill/>
        </p:spPr>
        <p:txBody>
          <a:bodyPr wrap="square" lIns="0" tIns="0" rIns="0" bIns="0" rtlCol="0" anchor="t">
            <a:noAutofit/>
          </a:bodyPr>
          <a:lstStyle/>
          <a:p>
            <a:pPr indent="0">
              <a:spcAft>
                <a:spcPts val="700"/>
              </a:spcAft>
              <a:buNone/>
            </a:pPr>
            <a:r>
              <a:rPr lang="vi-VN" sz="3900" b="1">
                <a:solidFill>
                  <a:srgbClr val="BB542A"/>
                </a:solidFill>
                <a:latin typeface="Segoe UI" panose="020B0502040204020203" charset="0"/>
                <a:cs typeface="Segoe UI" panose="020B0502040204020203" charset="0"/>
              </a:rPr>
              <a:t>02</a:t>
            </a:r>
          </a:p>
        </p:txBody>
      </p:sp>
      <p:sp>
        <p:nvSpPr>
          <p:cNvPr id="10" name="Text Box 9"/>
          <p:cNvSpPr txBox="1"/>
          <p:nvPr/>
        </p:nvSpPr>
        <p:spPr>
          <a:xfrm>
            <a:off x="1816100" y="3289300"/>
            <a:ext cx="9728200" cy="276860"/>
          </a:xfrm>
          <a:prstGeom prst="rect">
            <a:avLst/>
          </a:prstGeom>
          <a:noFill/>
        </p:spPr>
        <p:txBody>
          <a:bodyPr wrap="square" lIns="0" tIns="0" rIns="0" bIns="0" rtlCol="0" anchor="t">
            <a:noAutofit/>
          </a:bodyPr>
          <a:lstStyle/>
          <a:p>
            <a:pPr indent="0">
              <a:spcAft>
                <a:spcPts val="700"/>
              </a:spcAft>
              <a:buNone/>
            </a:pPr>
            <a:r>
              <a:rPr lang="vi-VN" sz="2700" b="1">
                <a:solidFill>
                  <a:srgbClr val="176E68"/>
                </a:solidFill>
                <a:latin typeface="Segoe UI" panose="020B0502040204020203" charset="0"/>
                <a:cs typeface="Segoe UI" panose="020B0502040204020203" charset="0"/>
              </a:rPr>
              <a:t>Giữ evidence của hai kịch bản</a:t>
            </a:r>
          </a:p>
        </p:txBody>
      </p:sp>
      <p:sp>
        <p:nvSpPr>
          <p:cNvPr id="11" name="Text Box 10"/>
          <p:cNvSpPr txBox="1"/>
          <p:nvPr/>
        </p:nvSpPr>
        <p:spPr>
          <a:xfrm>
            <a:off x="1816100" y="3962400"/>
            <a:ext cx="9728200" cy="276860"/>
          </a:xfrm>
          <a:prstGeom prst="rect">
            <a:avLst/>
          </a:prstGeom>
          <a:noFill/>
        </p:spPr>
        <p:txBody>
          <a:bodyPr wrap="square" lIns="0" tIns="0" rIns="0" bIns="0" rtlCol="0" anchor="t">
            <a:noAutofit/>
          </a:bodyPr>
          <a:lstStyle/>
          <a:p>
            <a:pPr indent="0">
              <a:spcAft>
                <a:spcPts val="700"/>
              </a:spcAft>
              <a:buNone/>
            </a:pPr>
            <a:r>
              <a:rPr lang="vi-VN" sz="2000">
                <a:solidFill>
                  <a:srgbClr val="172F3C"/>
                </a:solidFill>
                <a:latin typeface="Segoe UI" panose="020B0502040204020203" charset="0"/>
                <a:cs typeface="Segoe UI" panose="020B0502040204020203" charset="0"/>
              </a:rPr>
              <a:t>Run ID, version, gates và probes</a:t>
            </a:r>
          </a:p>
        </p:txBody>
      </p:sp>
      <p:sp>
        <p:nvSpPr>
          <p:cNvPr id="12" name="Text Box 11"/>
          <p:cNvSpPr txBox="1"/>
          <p:nvPr/>
        </p:nvSpPr>
        <p:spPr>
          <a:xfrm>
            <a:off x="584200" y="4584700"/>
            <a:ext cx="965200" cy="276860"/>
          </a:xfrm>
          <a:prstGeom prst="rect">
            <a:avLst/>
          </a:prstGeom>
          <a:noFill/>
        </p:spPr>
        <p:txBody>
          <a:bodyPr wrap="square" lIns="0" tIns="0" rIns="0" bIns="0" rtlCol="0" anchor="t">
            <a:noAutofit/>
          </a:bodyPr>
          <a:lstStyle/>
          <a:p>
            <a:pPr indent="0">
              <a:spcAft>
                <a:spcPts val="700"/>
              </a:spcAft>
              <a:buNone/>
            </a:pPr>
            <a:r>
              <a:rPr lang="vi-VN" sz="3900" b="1">
                <a:solidFill>
                  <a:srgbClr val="BB542A"/>
                </a:solidFill>
                <a:latin typeface="Segoe UI" panose="020B0502040204020203" charset="0"/>
                <a:cs typeface="Segoe UI" panose="020B0502040204020203" charset="0"/>
              </a:rPr>
              <a:t>03</a:t>
            </a:r>
          </a:p>
        </p:txBody>
      </p:sp>
      <p:sp>
        <p:nvSpPr>
          <p:cNvPr id="13" name="Text Box 12"/>
          <p:cNvSpPr txBox="1"/>
          <p:nvPr/>
        </p:nvSpPr>
        <p:spPr>
          <a:xfrm>
            <a:off x="1816100" y="4584700"/>
            <a:ext cx="9728200" cy="276860"/>
          </a:xfrm>
          <a:prstGeom prst="rect">
            <a:avLst/>
          </a:prstGeom>
          <a:noFill/>
        </p:spPr>
        <p:txBody>
          <a:bodyPr wrap="square" lIns="0" tIns="0" rIns="0" bIns="0" rtlCol="0" anchor="t">
            <a:noAutofit/>
          </a:bodyPr>
          <a:lstStyle/>
          <a:p>
            <a:pPr indent="0">
              <a:spcAft>
                <a:spcPts val="700"/>
              </a:spcAft>
              <a:buNone/>
            </a:pPr>
            <a:r>
              <a:rPr lang="vi-VN" sz="2700" b="1">
                <a:solidFill>
                  <a:srgbClr val="176E68"/>
                </a:solidFill>
                <a:latin typeface="Segoe UI" panose="020B0502040204020203" charset="0"/>
                <a:cs typeface="Segoe UI" panose="020B0502040204020203" charset="0"/>
              </a:rPr>
              <a:t>Đối chiếu production policy</a:t>
            </a:r>
          </a:p>
        </p:txBody>
      </p:sp>
      <p:sp>
        <p:nvSpPr>
          <p:cNvPr id="14" name="Text Box 13"/>
          <p:cNvSpPr txBox="1"/>
          <p:nvPr/>
        </p:nvSpPr>
        <p:spPr>
          <a:xfrm>
            <a:off x="1816100" y="5257800"/>
            <a:ext cx="9728200" cy="276860"/>
          </a:xfrm>
          <a:prstGeom prst="rect">
            <a:avLst/>
          </a:prstGeom>
          <a:noFill/>
        </p:spPr>
        <p:txBody>
          <a:bodyPr wrap="square" lIns="0" tIns="0" rIns="0" bIns="0" rtlCol="0" anchor="t">
            <a:noAutofit/>
          </a:bodyPr>
          <a:lstStyle/>
          <a:p>
            <a:pPr indent="0">
              <a:spcAft>
                <a:spcPts val="700"/>
              </a:spcAft>
              <a:buNone/>
            </a:pPr>
            <a:r>
              <a:rPr lang="vi-VN" sz="2000">
                <a:solidFill>
                  <a:srgbClr val="172F3C"/>
                </a:solidFill>
                <a:latin typeface="Segoe UI" panose="020B0502040204020203" charset="0"/>
                <a:cs typeface="Segoe UI" panose="020B0502040204020203" charset="0"/>
              </a:rPr>
              <a:t>So snapshot trước/sau nếu đã chuẩn bị</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bg>
      <p:bgPr>
        <a:solidFill>
          <a:srgbClr val="F7F4ED"/>
        </a:solidFill>
        <a:effectLst/>
      </p:bgPr>
    </p:bg>
    <p:spTree>
      <p:nvGrpSpPr>
        <p:cNvPr id="1" name=""/>
        <p:cNvGrpSpPr/>
        <p:nvPr/>
      </p:nvGrpSpPr>
      <p:grpSpPr>
        <a:xfrm>
          <a:off x="0" y="0"/>
          <a:ext cx="0" cy="0"/>
          <a:chOff x="0" y="0"/>
          <a:chExt cx="0" cy="0"/>
        </a:xfrm>
      </p:grpSpPr>
      <p:sp>
        <p:nvSpPr>
          <p:cNvPr id="2" name="Rectangle 1"/>
          <p:cNvSpPr/>
          <p:nvPr/>
        </p:nvSpPr>
        <p:spPr>
          <a:xfrm>
            <a:off x="584200" y="317500"/>
            <a:ext cx="660400" cy="63500"/>
          </a:xfrm>
          <a:prstGeom prst="rect">
            <a:avLst/>
          </a:prstGeom>
          <a:solidFill>
            <a:srgbClr val="BB542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3" name="Text Box 2"/>
          <p:cNvSpPr txBox="1"/>
          <p:nvPr/>
        </p:nvSpPr>
        <p:spPr>
          <a:xfrm>
            <a:off x="584200" y="546100"/>
            <a:ext cx="11023600" cy="276860"/>
          </a:xfrm>
          <a:prstGeom prst="rect">
            <a:avLst/>
          </a:prstGeom>
          <a:noFill/>
        </p:spPr>
        <p:txBody>
          <a:bodyPr wrap="square" lIns="0" tIns="0" rIns="0" bIns="0" rtlCol="0" anchor="t">
            <a:noAutofit/>
          </a:bodyPr>
          <a:lstStyle/>
          <a:p>
            <a:pPr indent="0">
              <a:spcAft>
                <a:spcPts val="700"/>
              </a:spcAft>
              <a:buNone/>
            </a:pPr>
            <a:r>
              <a:rPr lang="vi-VN" sz="3200" b="1">
                <a:solidFill>
                  <a:srgbClr val="172F3C"/>
                </a:solidFill>
                <a:latin typeface="Segoe UI" panose="020B0502040204020203" charset="0"/>
                <a:cs typeface="Segoe UI" panose="020B0502040204020203" charset="0"/>
              </a:rPr>
              <a:t>Trao đổi và phản biện</a:t>
            </a:r>
          </a:p>
        </p:txBody>
      </p:sp>
      <p:sp>
        <p:nvSpPr>
          <p:cNvPr id="4" name="Text Box 3"/>
          <p:cNvSpPr txBox="1"/>
          <p:nvPr/>
        </p:nvSpPr>
        <p:spPr>
          <a:xfrm>
            <a:off x="11404600" y="6477000"/>
            <a:ext cx="330200" cy="276860"/>
          </a:xfrm>
          <a:prstGeom prst="rect">
            <a:avLst/>
          </a:prstGeom>
          <a:noFill/>
        </p:spPr>
        <p:txBody>
          <a:bodyPr wrap="square" lIns="0" tIns="0" rIns="0" bIns="0" rtlCol="0" anchor="t">
            <a:noAutofit/>
          </a:bodyPr>
          <a:lstStyle/>
          <a:p>
            <a:pPr indent="0">
              <a:spcAft>
                <a:spcPts val="700"/>
              </a:spcAft>
              <a:buNone/>
            </a:pPr>
            <a:r>
              <a:rPr lang="vi-VN" sz="1000">
                <a:solidFill>
                  <a:srgbClr val="526673"/>
                </a:solidFill>
                <a:latin typeface="Segoe UI" panose="020B0502040204020203" charset="0"/>
                <a:cs typeface="Segoe UI" panose="020B0502040204020203" charset="0"/>
              </a:rPr>
              <a:t>27</a:t>
            </a:r>
          </a:p>
        </p:txBody>
      </p:sp>
      <p:sp>
        <p:nvSpPr>
          <p:cNvPr id="5" name="Text Box 4"/>
          <p:cNvSpPr txBox="1"/>
          <p:nvPr/>
        </p:nvSpPr>
        <p:spPr>
          <a:xfrm>
            <a:off x="584200" y="6121400"/>
            <a:ext cx="10541000" cy="276860"/>
          </a:xfrm>
          <a:prstGeom prst="rect">
            <a:avLst/>
          </a:prstGeom>
          <a:noFill/>
        </p:spPr>
        <p:txBody>
          <a:bodyPr wrap="square" lIns="0" tIns="0" rIns="0" bIns="0" rtlCol="0" anchor="t">
            <a:noAutofit/>
          </a:bodyPr>
          <a:lstStyle/>
          <a:p>
            <a:pPr indent="0">
              <a:spcAft>
                <a:spcPts val="700"/>
              </a:spcAft>
              <a:buNone/>
            </a:pPr>
            <a:r>
              <a:rPr lang="vi-VN" sz="1200">
                <a:solidFill>
                  <a:srgbClr val="526673"/>
                </a:solidFill>
                <a:latin typeface="Segoe UI" panose="020B0502040204020203" charset="0"/>
                <a:cs typeface="Segoe UI" panose="020B0502040204020203" charset="0"/>
              </a:rPr>
              <a:t>10 phút Q&amp;A. Ưu tiên câu hỏi từ giảng viên, mỗi câu trả lời 60–90 giây</a:t>
            </a:r>
          </a:p>
        </p:txBody>
      </p:sp>
      <p:sp>
        <p:nvSpPr>
          <p:cNvPr id="6" name="Text Box 5"/>
          <p:cNvSpPr txBox="1"/>
          <p:nvPr/>
        </p:nvSpPr>
        <p:spPr>
          <a:xfrm>
            <a:off x="596900" y="2362200"/>
            <a:ext cx="10820400" cy="276860"/>
          </a:xfrm>
          <a:prstGeom prst="rect">
            <a:avLst/>
          </a:prstGeom>
          <a:noFill/>
        </p:spPr>
        <p:txBody>
          <a:bodyPr wrap="square" lIns="0" tIns="0" rIns="0" bIns="0" rtlCol="0" anchor="t">
            <a:noAutofit/>
          </a:bodyPr>
          <a:lstStyle/>
          <a:p>
            <a:pPr indent="0">
              <a:spcAft>
                <a:spcPts val="700"/>
              </a:spcAft>
              <a:buNone/>
            </a:pPr>
            <a:r>
              <a:rPr lang="vi-VN" sz="3100">
                <a:solidFill>
                  <a:srgbClr val="176E68"/>
                </a:solidFill>
                <a:latin typeface="Segoe UI" panose="020B0502040204020203" charset="0"/>
                <a:cs typeface="Segoe UI" panose="020B0502040204020203" charset="0"/>
              </a:rPr>
              <a:t>Drift và độ tin cậy của nhãn</a:t>
            </a:r>
          </a:p>
        </p:txBody>
      </p:sp>
      <p:sp>
        <p:nvSpPr>
          <p:cNvPr id="7" name="Text Box 6"/>
          <p:cNvSpPr txBox="1"/>
          <p:nvPr/>
        </p:nvSpPr>
        <p:spPr>
          <a:xfrm>
            <a:off x="596900" y="3429000"/>
            <a:ext cx="10820400" cy="276860"/>
          </a:xfrm>
          <a:prstGeom prst="rect">
            <a:avLst/>
          </a:prstGeom>
          <a:noFill/>
        </p:spPr>
        <p:txBody>
          <a:bodyPr wrap="square" lIns="0" tIns="0" rIns="0" bIns="0" rtlCol="0" anchor="t">
            <a:noAutofit/>
          </a:bodyPr>
          <a:lstStyle/>
          <a:p>
            <a:pPr indent="0">
              <a:spcAft>
                <a:spcPts val="700"/>
              </a:spcAft>
              <a:buNone/>
            </a:pPr>
            <a:r>
              <a:rPr lang="vi-VN" sz="3100">
                <a:solidFill>
                  <a:srgbClr val="176E68"/>
                </a:solidFill>
                <a:latin typeface="Segoe UI" panose="020B0502040204020203" charset="0"/>
                <a:cs typeface="Segoe UI" panose="020B0502040204020203" charset="0"/>
              </a:rPr>
              <a:t>Champion, canary và rollback</a:t>
            </a:r>
          </a:p>
        </p:txBody>
      </p:sp>
      <p:sp>
        <p:nvSpPr>
          <p:cNvPr id="8" name="Text Box 7"/>
          <p:cNvSpPr txBox="1"/>
          <p:nvPr/>
        </p:nvSpPr>
        <p:spPr>
          <a:xfrm>
            <a:off x="596900" y="4495800"/>
            <a:ext cx="10820400" cy="276860"/>
          </a:xfrm>
          <a:prstGeom prst="rect">
            <a:avLst/>
          </a:prstGeom>
          <a:noFill/>
        </p:spPr>
        <p:txBody>
          <a:bodyPr wrap="square" lIns="0" tIns="0" rIns="0" bIns="0" rtlCol="0" anchor="t">
            <a:noAutofit/>
          </a:bodyPr>
          <a:lstStyle/>
          <a:p>
            <a:pPr indent="0">
              <a:spcAft>
                <a:spcPts val="700"/>
              </a:spcAft>
              <a:buNone/>
            </a:pPr>
            <a:r>
              <a:rPr lang="vi-VN" sz="3100" b="1">
                <a:solidFill>
                  <a:srgbClr val="176E68"/>
                </a:solidFill>
                <a:latin typeface="Segoe UI" panose="020B0502040204020203" charset="0"/>
                <a:cs typeface="Segoe UI" panose="020B0502040204020203" charset="0"/>
              </a:rPr>
              <a:t>Khả năng triển khai và giới hạn</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bg>
      <p:bgPr>
        <a:solidFill>
          <a:srgbClr val="F7F4ED"/>
        </a:solidFill>
        <a:effectLst/>
      </p:bgPr>
    </p:bg>
    <p:spTree>
      <p:nvGrpSpPr>
        <p:cNvPr id="1" name=""/>
        <p:cNvGrpSpPr/>
        <p:nvPr/>
      </p:nvGrpSpPr>
      <p:grpSpPr>
        <a:xfrm>
          <a:off x="0" y="0"/>
          <a:ext cx="0" cy="0"/>
          <a:chOff x="0" y="0"/>
          <a:chExt cx="0" cy="0"/>
        </a:xfrm>
      </p:grpSpPr>
      <p:sp>
        <p:nvSpPr>
          <p:cNvPr id="2" name="Rectangle 1"/>
          <p:cNvSpPr/>
          <p:nvPr/>
        </p:nvSpPr>
        <p:spPr>
          <a:xfrm>
            <a:off x="584200" y="317500"/>
            <a:ext cx="660400" cy="63500"/>
          </a:xfrm>
          <a:prstGeom prst="rect">
            <a:avLst/>
          </a:prstGeom>
          <a:solidFill>
            <a:srgbClr val="BB542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3" name="Text Box 2"/>
          <p:cNvSpPr txBox="1"/>
          <p:nvPr/>
        </p:nvSpPr>
        <p:spPr>
          <a:xfrm>
            <a:off x="584200" y="546100"/>
            <a:ext cx="11023600" cy="276860"/>
          </a:xfrm>
          <a:prstGeom prst="rect">
            <a:avLst/>
          </a:prstGeom>
          <a:noFill/>
        </p:spPr>
        <p:txBody>
          <a:bodyPr wrap="square" lIns="0" tIns="0" rIns="0" bIns="0" rtlCol="0" anchor="t">
            <a:noAutofit/>
          </a:bodyPr>
          <a:lstStyle/>
          <a:p>
            <a:pPr indent="0">
              <a:spcAft>
                <a:spcPts val="700"/>
              </a:spcAft>
              <a:buNone/>
            </a:pPr>
            <a:r>
              <a:rPr lang="vi-VN" sz="3200" b="1">
                <a:solidFill>
                  <a:srgbClr val="172F3C"/>
                </a:solidFill>
                <a:latin typeface="Segoe UI" panose="020B0502040204020203" charset="0"/>
                <a:cs typeface="Segoe UI" panose="020B0502040204020203" charset="0"/>
              </a:rPr>
              <a:t>Bằng chứng hiện có tập trung vào luồng và tính an toàn</a:t>
            </a:r>
          </a:p>
        </p:txBody>
      </p:sp>
      <p:sp>
        <p:nvSpPr>
          <p:cNvPr id="4" name="Text Box 3"/>
          <p:cNvSpPr txBox="1"/>
          <p:nvPr/>
        </p:nvSpPr>
        <p:spPr>
          <a:xfrm>
            <a:off x="11404600" y="6477000"/>
            <a:ext cx="330200" cy="276860"/>
          </a:xfrm>
          <a:prstGeom prst="rect">
            <a:avLst/>
          </a:prstGeom>
          <a:noFill/>
        </p:spPr>
        <p:txBody>
          <a:bodyPr wrap="square" lIns="0" tIns="0" rIns="0" bIns="0" rtlCol="0" anchor="t">
            <a:noAutofit/>
          </a:bodyPr>
          <a:lstStyle/>
          <a:p>
            <a:pPr indent="0">
              <a:spcAft>
                <a:spcPts val="700"/>
              </a:spcAft>
              <a:buNone/>
            </a:pPr>
            <a:r>
              <a:rPr lang="vi-VN" sz="1000">
                <a:solidFill>
                  <a:srgbClr val="526673"/>
                </a:solidFill>
                <a:latin typeface="Segoe UI" panose="020B0502040204020203" charset="0"/>
                <a:cs typeface="Segoe UI" panose="020B0502040204020203" charset="0"/>
              </a:rPr>
              <a:t>31</a:t>
            </a:r>
          </a:p>
        </p:txBody>
      </p:sp>
      <p:sp>
        <p:nvSpPr>
          <p:cNvPr id="5" name="Text Box 4"/>
          <p:cNvSpPr txBox="1"/>
          <p:nvPr/>
        </p:nvSpPr>
        <p:spPr>
          <a:xfrm>
            <a:off x="584200" y="6121400"/>
            <a:ext cx="10541000" cy="276860"/>
          </a:xfrm>
          <a:prstGeom prst="rect">
            <a:avLst/>
          </a:prstGeom>
          <a:noFill/>
        </p:spPr>
        <p:txBody>
          <a:bodyPr wrap="square" lIns="0" tIns="0" rIns="0" bIns="0" rtlCol="0" anchor="t">
            <a:noAutofit/>
          </a:bodyPr>
          <a:lstStyle/>
          <a:p>
            <a:pPr indent="0">
              <a:spcAft>
                <a:spcPts val="700"/>
              </a:spcAft>
              <a:buNone/>
            </a:pPr>
            <a:r>
              <a:rPr lang="vi-VN" sz="1200">
                <a:solidFill>
                  <a:srgbClr val="526673"/>
                </a:solidFill>
                <a:latin typeface="Segoe UI" panose="020B0502040204020203" charset="0"/>
                <a:cs typeface="Segoe UI" panose="020B0502040204020203" charset="0"/>
              </a:rPr>
              <a:t>Kết quả lịch sử đã ghi nhận. Không phải lần chạy lại hôm nay hoặc benchmark accuracy người thật</a:t>
            </a:r>
          </a:p>
        </p:txBody>
      </p:sp>
      <p:sp>
        <p:nvSpPr>
          <p:cNvPr id="6" name="Text Box 5"/>
          <p:cNvSpPr txBox="1"/>
          <p:nvPr/>
        </p:nvSpPr>
        <p:spPr>
          <a:xfrm>
            <a:off x="584200" y="2197100"/>
            <a:ext cx="3467100" cy="276860"/>
          </a:xfrm>
          <a:prstGeom prst="rect">
            <a:avLst/>
          </a:prstGeom>
          <a:noFill/>
        </p:spPr>
        <p:txBody>
          <a:bodyPr wrap="square" lIns="0" tIns="0" rIns="0" bIns="0" rtlCol="0" anchor="t">
            <a:noAutofit/>
          </a:bodyPr>
          <a:lstStyle/>
          <a:p>
            <a:pPr indent="0">
              <a:spcAft>
                <a:spcPts val="700"/>
              </a:spcAft>
              <a:buNone/>
            </a:pPr>
            <a:r>
              <a:rPr lang="vi-VN" sz="5200" b="1">
                <a:solidFill>
                  <a:srgbClr val="176E68"/>
                </a:solidFill>
                <a:latin typeface="Segoe UI" panose="020B0502040204020203" charset="0"/>
                <a:cs typeface="Segoe UI" panose="020B0502040204020203" charset="0"/>
              </a:rPr>
              <a:t>153</a:t>
            </a:r>
          </a:p>
        </p:txBody>
      </p:sp>
      <p:sp>
        <p:nvSpPr>
          <p:cNvPr id="7" name="Text Box 6"/>
          <p:cNvSpPr txBox="1"/>
          <p:nvPr/>
        </p:nvSpPr>
        <p:spPr>
          <a:xfrm>
            <a:off x="584200" y="3492500"/>
            <a:ext cx="3302000" cy="276860"/>
          </a:xfrm>
          <a:prstGeom prst="rect">
            <a:avLst/>
          </a:prstGeom>
          <a:noFill/>
        </p:spPr>
        <p:txBody>
          <a:bodyPr wrap="square" lIns="0" tIns="0" rIns="0" bIns="0" rtlCol="0" anchor="t">
            <a:noAutofit/>
          </a:bodyPr>
          <a:lstStyle/>
          <a:p>
            <a:pPr indent="0">
              <a:spcAft>
                <a:spcPts val="700"/>
              </a:spcAft>
              <a:buNone/>
            </a:pPr>
            <a:r>
              <a:rPr lang="vi-VN" sz="2500" b="1">
                <a:solidFill>
                  <a:srgbClr val="172F3C"/>
                </a:solidFill>
                <a:latin typeface="Segoe UI" panose="020B0502040204020203" charset="0"/>
                <a:cs typeface="Segoe UI" panose="020B0502040204020203" charset="0"/>
              </a:rPr>
              <a:t>tests passed</a:t>
            </a:r>
          </a:p>
        </p:txBody>
      </p:sp>
      <p:sp>
        <p:nvSpPr>
          <p:cNvPr id="8" name="Text Box 7"/>
          <p:cNvSpPr txBox="1"/>
          <p:nvPr/>
        </p:nvSpPr>
        <p:spPr>
          <a:xfrm>
            <a:off x="584200" y="4508500"/>
            <a:ext cx="3302000" cy="276860"/>
          </a:xfrm>
          <a:prstGeom prst="rect">
            <a:avLst/>
          </a:prstGeom>
          <a:noFill/>
        </p:spPr>
        <p:txBody>
          <a:bodyPr wrap="square" lIns="0" tIns="0" rIns="0" bIns="0" rtlCol="0" anchor="t">
            <a:noAutofit/>
          </a:bodyPr>
          <a:lstStyle/>
          <a:p>
            <a:pPr indent="0">
              <a:spcAft>
                <a:spcPts val="700"/>
              </a:spcAft>
              <a:buNone/>
            </a:pPr>
            <a:r>
              <a:rPr lang="vi-VN" sz="2100">
                <a:solidFill>
                  <a:srgbClr val="172F3C"/>
                </a:solidFill>
                <a:latin typeface="Segoe UI" panose="020B0502040204020203" charset="0"/>
                <a:cs typeface="Segoe UI" panose="020B0502040204020203" charset="0"/>
              </a:rPr>
              <a:t>Lần kiểm chứng local ngày 03/10</a:t>
            </a:r>
          </a:p>
        </p:txBody>
      </p:sp>
      <p:sp>
        <p:nvSpPr>
          <p:cNvPr id="9" name="Text Box 8"/>
          <p:cNvSpPr txBox="1"/>
          <p:nvPr/>
        </p:nvSpPr>
        <p:spPr>
          <a:xfrm>
            <a:off x="4381500" y="2197100"/>
            <a:ext cx="3467100" cy="276860"/>
          </a:xfrm>
          <a:prstGeom prst="rect">
            <a:avLst/>
          </a:prstGeom>
          <a:noFill/>
        </p:spPr>
        <p:txBody>
          <a:bodyPr wrap="square" lIns="0" tIns="0" rIns="0" bIns="0" rtlCol="0" anchor="t">
            <a:noAutofit/>
          </a:bodyPr>
          <a:lstStyle/>
          <a:p>
            <a:pPr indent="0">
              <a:spcAft>
                <a:spcPts val="700"/>
              </a:spcAft>
              <a:buNone/>
            </a:pPr>
            <a:r>
              <a:rPr lang="vi-VN" sz="5200" b="1">
                <a:solidFill>
                  <a:srgbClr val="176E68"/>
                </a:solidFill>
                <a:latin typeface="Segoe UI" panose="020B0502040204020203" charset="0"/>
                <a:cs typeface="Segoe UI" panose="020B0502040204020203" charset="0"/>
              </a:rPr>
              <a:t>82,03%</a:t>
            </a:r>
          </a:p>
        </p:txBody>
      </p:sp>
      <p:sp>
        <p:nvSpPr>
          <p:cNvPr id="10" name="Text Box 9"/>
          <p:cNvSpPr txBox="1"/>
          <p:nvPr/>
        </p:nvSpPr>
        <p:spPr>
          <a:xfrm>
            <a:off x="4381500" y="3492500"/>
            <a:ext cx="3302000" cy="276860"/>
          </a:xfrm>
          <a:prstGeom prst="rect">
            <a:avLst/>
          </a:prstGeom>
          <a:noFill/>
        </p:spPr>
        <p:txBody>
          <a:bodyPr wrap="square" lIns="0" tIns="0" rIns="0" bIns="0" rtlCol="0" anchor="t">
            <a:noAutofit/>
          </a:bodyPr>
          <a:lstStyle/>
          <a:p>
            <a:pPr indent="0">
              <a:spcAft>
                <a:spcPts val="700"/>
              </a:spcAft>
              <a:buNone/>
            </a:pPr>
            <a:r>
              <a:rPr lang="vi-VN" sz="2500" b="1">
                <a:solidFill>
                  <a:srgbClr val="172F3C"/>
                </a:solidFill>
                <a:latin typeface="Segoe UI" panose="020B0502040204020203" charset="0"/>
                <a:cs typeface="Segoe UI" panose="020B0502040204020203" charset="0"/>
              </a:rPr>
              <a:t>coverage</a:t>
            </a:r>
          </a:p>
        </p:txBody>
      </p:sp>
      <p:sp>
        <p:nvSpPr>
          <p:cNvPr id="11" name="Text Box 10"/>
          <p:cNvSpPr txBox="1"/>
          <p:nvPr/>
        </p:nvSpPr>
        <p:spPr>
          <a:xfrm>
            <a:off x="4381500" y="4508500"/>
            <a:ext cx="3302000" cy="276860"/>
          </a:xfrm>
          <a:prstGeom prst="rect">
            <a:avLst/>
          </a:prstGeom>
          <a:noFill/>
        </p:spPr>
        <p:txBody>
          <a:bodyPr wrap="square" lIns="0" tIns="0" rIns="0" bIns="0" rtlCol="0" anchor="t">
            <a:noAutofit/>
          </a:bodyPr>
          <a:lstStyle/>
          <a:p>
            <a:pPr indent="0">
              <a:spcAft>
                <a:spcPts val="700"/>
              </a:spcAft>
              <a:buNone/>
            </a:pPr>
            <a:r>
              <a:rPr lang="vi-VN" sz="2100">
                <a:solidFill>
                  <a:srgbClr val="172F3C"/>
                </a:solidFill>
                <a:latin typeface="Segoe UI" panose="020B0502040204020203" charset="0"/>
                <a:cs typeface="Segoe UI" panose="020B0502040204020203" charset="0"/>
              </a:rPr>
              <a:t>Trong phạm vi coverage CI khai báo</a:t>
            </a:r>
          </a:p>
        </p:txBody>
      </p:sp>
      <p:sp>
        <p:nvSpPr>
          <p:cNvPr id="12" name="Text Box 11"/>
          <p:cNvSpPr txBox="1"/>
          <p:nvPr/>
        </p:nvSpPr>
        <p:spPr>
          <a:xfrm>
            <a:off x="8178800" y="2197100"/>
            <a:ext cx="3467100" cy="276860"/>
          </a:xfrm>
          <a:prstGeom prst="rect">
            <a:avLst/>
          </a:prstGeom>
          <a:noFill/>
        </p:spPr>
        <p:txBody>
          <a:bodyPr wrap="square" lIns="0" tIns="0" rIns="0" bIns="0" rtlCol="0" anchor="t">
            <a:noAutofit/>
          </a:bodyPr>
          <a:lstStyle/>
          <a:p>
            <a:pPr indent="0">
              <a:spcAft>
                <a:spcPts val="700"/>
              </a:spcAft>
              <a:buNone/>
            </a:pPr>
            <a:r>
              <a:rPr lang="vi-VN" sz="5200" b="1">
                <a:solidFill>
                  <a:srgbClr val="176E68"/>
                </a:solidFill>
                <a:latin typeface="Segoe UI" panose="020B0502040204020203" charset="0"/>
                <a:cs typeface="Segoe UI" panose="020B0502040204020203" charset="0"/>
              </a:rPr>
              <a:t>2</a:t>
            </a:r>
          </a:p>
        </p:txBody>
      </p:sp>
      <p:sp>
        <p:nvSpPr>
          <p:cNvPr id="13" name="Text Box 12"/>
          <p:cNvSpPr txBox="1"/>
          <p:nvPr/>
        </p:nvSpPr>
        <p:spPr>
          <a:xfrm>
            <a:off x="8178800" y="3492500"/>
            <a:ext cx="3302000" cy="276860"/>
          </a:xfrm>
          <a:prstGeom prst="rect">
            <a:avLst/>
          </a:prstGeom>
          <a:noFill/>
        </p:spPr>
        <p:txBody>
          <a:bodyPr wrap="square" lIns="0" tIns="0" rIns="0" bIns="0" rtlCol="0" anchor="t">
            <a:noAutofit/>
          </a:bodyPr>
          <a:lstStyle/>
          <a:p>
            <a:pPr indent="0">
              <a:spcAft>
                <a:spcPts val="700"/>
              </a:spcAft>
              <a:buNone/>
            </a:pPr>
            <a:r>
              <a:rPr lang="vi-VN" sz="2500" b="1">
                <a:solidFill>
                  <a:srgbClr val="172F3C"/>
                </a:solidFill>
                <a:latin typeface="Segoe UI" panose="020B0502040204020203" charset="0"/>
                <a:cs typeface="Segoe UI" panose="020B0502040204020203" charset="0"/>
              </a:rPr>
              <a:t>kịch bản simulation</a:t>
            </a:r>
          </a:p>
        </p:txBody>
      </p:sp>
      <p:sp>
        <p:nvSpPr>
          <p:cNvPr id="14" name="Text Box 13"/>
          <p:cNvSpPr txBox="1"/>
          <p:nvPr/>
        </p:nvSpPr>
        <p:spPr>
          <a:xfrm>
            <a:off x="8178800" y="4508500"/>
            <a:ext cx="3302000" cy="276860"/>
          </a:xfrm>
          <a:prstGeom prst="rect">
            <a:avLst/>
          </a:prstGeom>
          <a:noFill/>
        </p:spPr>
        <p:txBody>
          <a:bodyPr wrap="square" lIns="0" tIns="0" rIns="0" bIns="0" rtlCol="0" anchor="t">
            <a:noAutofit/>
          </a:bodyPr>
          <a:lstStyle/>
          <a:p>
            <a:pPr indent="0">
              <a:spcAft>
                <a:spcPts val="700"/>
              </a:spcAft>
              <a:buNone/>
            </a:pPr>
            <a:r>
              <a:rPr lang="vi-VN" sz="2100">
                <a:solidFill>
                  <a:srgbClr val="172F3C"/>
                </a:solidFill>
                <a:latin typeface="Segoe UI" panose="020B0502040204020203" charset="0"/>
                <a:cs typeface="Segoe UI" panose="020B0502040204020203" charset="0"/>
              </a:rPr>
              <a:t>Promotion và rollback có evidence</a:t>
            </a: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show="0">
  <p:cSld>
    <p:bg>
      <p:bgPr>
        <a:solidFill>
          <a:srgbClr val="F7F4ED"/>
        </a:solidFill>
        <a:effectLst/>
      </p:bgPr>
    </p:bg>
    <p:spTree>
      <p:nvGrpSpPr>
        <p:cNvPr id="1" name=""/>
        <p:cNvGrpSpPr/>
        <p:nvPr/>
      </p:nvGrpSpPr>
      <p:grpSpPr>
        <a:xfrm>
          <a:off x="0" y="0"/>
          <a:ext cx="0" cy="0"/>
          <a:chOff x="0" y="0"/>
          <a:chExt cx="0" cy="0"/>
        </a:xfrm>
      </p:grpSpPr>
      <p:sp>
        <p:nvSpPr>
          <p:cNvPr id="2" name="Rectangle 1"/>
          <p:cNvSpPr/>
          <p:nvPr/>
        </p:nvSpPr>
        <p:spPr>
          <a:xfrm>
            <a:off x="584200" y="317500"/>
            <a:ext cx="660400" cy="63500"/>
          </a:xfrm>
          <a:prstGeom prst="rect">
            <a:avLst/>
          </a:prstGeom>
          <a:solidFill>
            <a:srgbClr val="BB542A"/>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3" name="Text Box 2"/>
          <p:cNvSpPr txBox="1"/>
          <p:nvPr/>
        </p:nvSpPr>
        <p:spPr>
          <a:xfrm>
            <a:off x="584200" y="546100"/>
            <a:ext cx="11023600" cy="276860"/>
          </a:xfrm>
          <a:prstGeom prst="rect">
            <a:avLst/>
          </a:prstGeom>
          <a:noFill/>
        </p:spPr>
        <p:txBody>
          <a:bodyPr wrap="square" lIns="0" tIns="0" rIns="0" bIns="0" rtlCol="0" anchor="t">
            <a:noAutofit/>
          </a:bodyPr>
          <a:lstStyle/>
          <a:p>
            <a:pPr indent="0">
              <a:spcAft>
                <a:spcPts val="700"/>
              </a:spcAft>
              <a:buNone/>
            </a:pPr>
            <a:r>
              <a:rPr lang="vi-VN" sz="3200" b="1">
                <a:solidFill>
                  <a:srgbClr val="172F3C"/>
                </a:solidFill>
                <a:latin typeface="Segoe UI" panose="020B0502040204020203" charset="0"/>
                <a:cs typeface="Segoe UI" panose="020B0502040204020203" charset="0"/>
              </a:rPr>
              <a:t>Trách nhiệm được chia theo các phần của hệ thống</a:t>
            </a:r>
          </a:p>
        </p:txBody>
      </p:sp>
      <p:sp>
        <p:nvSpPr>
          <p:cNvPr id="4" name="Text Box 3"/>
          <p:cNvSpPr txBox="1"/>
          <p:nvPr/>
        </p:nvSpPr>
        <p:spPr>
          <a:xfrm>
            <a:off x="11404600" y="6477000"/>
            <a:ext cx="330200" cy="276860"/>
          </a:xfrm>
          <a:prstGeom prst="rect">
            <a:avLst/>
          </a:prstGeom>
          <a:noFill/>
        </p:spPr>
        <p:txBody>
          <a:bodyPr wrap="square" lIns="0" tIns="0" rIns="0" bIns="0" rtlCol="0" anchor="t">
            <a:noAutofit/>
          </a:bodyPr>
          <a:lstStyle/>
          <a:p>
            <a:pPr indent="0">
              <a:spcAft>
                <a:spcPts val="700"/>
              </a:spcAft>
              <a:buNone/>
            </a:pPr>
            <a:r>
              <a:rPr lang="vi-VN" sz="1000">
                <a:solidFill>
                  <a:srgbClr val="526673"/>
                </a:solidFill>
                <a:latin typeface="Segoe UI" panose="020B0502040204020203" charset="0"/>
                <a:cs typeface="Segoe UI" panose="020B0502040204020203" charset="0"/>
              </a:rPr>
              <a:t>32</a:t>
            </a:r>
          </a:p>
        </p:txBody>
      </p:sp>
      <p:sp>
        <p:nvSpPr>
          <p:cNvPr id="5" name="Text Box 4"/>
          <p:cNvSpPr txBox="1"/>
          <p:nvPr/>
        </p:nvSpPr>
        <p:spPr>
          <a:xfrm>
            <a:off x="584200" y="6121400"/>
            <a:ext cx="10541000" cy="276860"/>
          </a:xfrm>
          <a:prstGeom prst="rect">
            <a:avLst/>
          </a:prstGeom>
          <a:noFill/>
        </p:spPr>
        <p:txBody>
          <a:bodyPr wrap="square" lIns="0" tIns="0" rIns="0" bIns="0" rtlCol="0" anchor="t">
            <a:noAutofit/>
          </a:bodyPr>
          <a:lstStyle/>
          <a:p>
            <a:pPr indent="0">
              <a:spcAft>
                <a:spcPts val="700"/>
              </a:spcAft>
              <a:buNone/>
            </a:pPr>
            <a:r>
              <a:rPr lang="vi-VN" sz="1200">
                <a:solidFill>
                  <a:srgbClr val="526673"/>
                </a:solidFill>
                <a:latin typeface="Segoe UI" panose="020B0502040204020203" charset="0"/>
                <a:cs typeface="Segoe UI" panose="020B0502040204020203" charset="0"/>
              </a:rPr>
              <a:t>Phân công trách nhiệm. Đóng góp thực tế cần đối chiếu công việc, PR và review</a:t>
            </a:r>
          </a:p>
        </p:txBody>
      </p:sp>
      <p:graphicFrame>
        <p:nvGraphicFramePr>
          <p:cNvPr id="6" name="Table 5"/>
          <p:cNvGraphicFramePr/>
          <p:nvPr>
            <p:extLst>
              <p:ext uri="{D42A27DB-BD31-4B8C-83A1-F6EECF244321}">
                <p14:modId xmlns:p14="http://schemas.microsoft.com/office/powerpoint/2010/main" val="3864479453"/>
              </p:ext>
            </p:extLst>
          </p:nvPr>
        </p:nvGraphicFramePr>
        <p:xfrm>
          <a:off x="584200" y="1879600"/>
          <a:ext cx="11023600" cy="2794000"/>
        </p:xfrm>
        <a:graphic>
          <a:graphicData uri="http://schemas.openxmlformats.org/drawingml/2006/table">
            <a:tbl>
              <a:tblPr firstRow="1" bandRow="1">
                <a:tableStyleId>{5C22544A-7EE6-4342-B048-85BDC9FD1C3A}</a:tableStyleId>
              </a:tblPr>
              <a:tblGrid>
                <a:gridCol w="2921000">
                  <a:extLst>
                    <a:ext uri="{9D8B030D-6E8A-4147-A177-3AD203B41FA5}">
                      <a16:colId xmlns:a16="http://schemas.microsoft.com/office/drawing/2014/main" val="20000"/>
                    </a:ext>
                  </a:extLst>
                </a:gridCol>
                <a:gridCol w="4038600">
                  <a:extLst>
                    <a:ext uri="{9D8B030D-6E8A-4147-A177-3AD203B41FA5}">
                      <a16:colId xmlns:a16="http://schemas.microsoft.com/office/drawing/2014/main" val="20001"/>
                    </a:ext>
                  </a:extLst>
                </a:gridCol>
                <a:gridCol w="4064000">
                  <a:extLst>
                    <a:ext uri="{9D8B030D-6E8A-4147-A177-3AD203B41FA5}">
                      <a16:colId xmlns:a16="http://schemas.microsoft.com/office/drawing/2014/main" val="20002"/>
                    </a:ext>
                  </a:extLst>
                </a:gridCol>
              </a:tblGrid>
              <a:tr h="558800">
                <a:tc>
                  <a:txBody>
                    <a:bodyPr/>
                    <a:lstStyle/>
                    <a:p>
                      <a:pPr indent="0">
                        <a:spcAft>
                          <a:spcPts val="0"/>
                        </a:spcAft>
                        <a:buNone/>
                      </a:pPr>
                      <a:r>
                        <a:rPr lang="vi-VN" sz="1900" b="1">
                          <a:solidFill>
                            <a:srgbClr val="FFFFFF"/>
                          </a:solidFill>
                          <a:latin typeface="Segoe UI" panose="020B0502040204020203" charset="0"/>
                          <a:cs typeface="Segoe UI" panose="020B0502040204020203" charset="0"/>
                        </a:rPr>
                        <a:t>Thành viên</a:t>
                      </a:r>
                    </a:p>
                  </a:txBody>
                  <a:tcPr marL="152400" marR="127000" marT="88900" marB="88900" anchor="ctr">
                    <a:lnL w="12700" cmpd="sng">
                      <a:solidFill>
                        <a:srgbClr val="F7F4ED"/>
                      </a:solidFill>
                    </a:lnL>
                    <a:lnR w="12700" cmpd="sng">
                      <a:solidFill>
                        <a:srgbClr val="F7F4ED"/>
                      </a:solidFill>
                    </a:lnR>
                    <a:lnT w="12700" cmpd="sng">
                      <a:solidFill>
                        <a:srgbClr val="F7F4ED"/>
                      </a:solidFill>
                    </a:lnT>
                    <a:lnB w="38100" cmpd="sng">
                      <a:solidFill>
                        <a:srgbClr val="F7F4ED"/>
                      </a:solidFill>
                    </a:lnB>
                    <a:solidFill>
                      <a:srgbClr val="176E68"/>
                    </a:solidFill>
                  </a:tcPr>
                </a:tc>
                <a:tc>
                  <a:txBody>
                    <a:bodyPr/>
                    <a:lstStyle/>
                    <a:p>
                      <a:pPr indent="0">
                        <a:spcAft>
                          <a:spcPts val="0"/>
                        </a:spcAft>
                        <a:buNone/>
                      </a:pPr>
                      <a:r>
                        <a:rPr lang="vi-VN" sz="1900" b="1">
                          <a:solidFill>
                            <a:srgbClr val="FFFFFF"/>
                          </a:solidFill>
                          <a:latin typeface="Segoe UI" panose="020B0502040204020203" charset="0"/>
                          <a:cs typeface="Segoe UI" panose="020B0502040204020203" charset="0"/>
                        </a:rPr>
                        <a:t>Phụ trách</a:t>
                      </a:r>
                    </a:p>
                  </a:txBody>
                  <a:tcPr marL="152400" marR="127000" marT="88900" marB="88900" anchor="ctr">
                    <a:lnL w="12700" cmpd="sng">
                      <a:solidFill>
                        <a:srgbClr val="F7F4ED"/>
                      </a:solidFill>
                    </a:lnL>
                    <a:lnR w="12700" cmpd="sng">
                      <a:solidFill>
                        <a:srgbClr val="F7F4ED"/>
                      </a:solidFill>
                    </a:lnR>
                    <a:lnT w="12700" cmpd="sng">
                      <a:solidFill>
                        <a:srgbClr val="F7F4ED"/>
                      </a:solidFill>
                    </a:lnT>
                    <a:lnB w="38100" cmpd="sng">
                      <a:solidFill>
                        <a:srgbClr val="F7F4ED"/>
                      </a:solidFill>
                    </a:lnB>
                    <a:solidFill>
                      <a:srgbClr val="176E68"/>
                    </a:solidFill>
                  </a:tcPr>
                </a:tc>
                <a:tc>
                  <a:txBody>
                    <a:bodyPr/>
                    <a:lstStyle/>
                    <a:p>
                      <a:pPr indent="0">
                        <a:spcAft>
                          <a:spcPts val="0"/>
                        </a:spcAft>
                        <a:buNone/>
                      </a:pPr>
                      <a:r>
                        <a:rPr lang="vi-VN" sz="1900" b="1">
                          <a:solidFill>
                            <a:srgbClr val="FFFFFF"/>
                          </a:solidFill>
                          <a:latin typeface="Segoe UI" panose="020B0502040204020203" charset="0"/>
                          <a:cs typeface="Segoe UI" panose="020B0502040204020203" charset="0"/>
                        </a:rPr>
                        <a:t>Bàn giao</a:t>
                      </a:r>
                    </a:p>
                  </a:txBody>
                  <a:tcPr marL="152400" marR="127000" marT="88900" marB="88900" anchor="ctr">
                    <a:lnL w="12700" cmpd="sng">
                      <a:solidFill>
                        <a:srgbClr val="F7F4ED"/>
                      </a:solidFill>
                    </a:lnL>
                    <a:lnR w="12700" cmpd="sng">
                      <a:solidFill>
                        <a:srgbClr val="F7F4ED"/>
                      </a:solidFill>
                    </a:lnR>
                    <a:lnT w="12700" cmpd="sng">
                      <a:solidFill>
                        <a:srgbClr val="F7F4ED"/>
                      </a:solidFill>
                    </a:lnT>
                    <a:lnB w="38100" cmpd="sng">
                      <a:solidFill>
                        <a:srgbClr val="F7F4ED"/>
                      </a:solidFill>
                    </a:lnB>
                    <a:solidFill>
                      <a:srgbClr val="176E68"/>
                    </a:solidFill>
                  </a:tcPr>
                </a:tc>
                <a:extLst>
                  <a:ext uri="{0D108BD9-81ED-4DB2-BD59-A6C34878D82A}">
                    <a16:rowId xmlns:a16="http://schemas.microsoft.com/office/drawing/2014/main" val="10000"/>
                  </a:ext>
                </a:extLst>
              </a:tr>
              <a:tr h="558800">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Trịnh Đức Dương</a:t>
                      </a:r>
                    </a:p>
                  </a:txBody>
                  <a:tcPr marL="152400" marR="127000" marT="88900" marB="88900" anchor="ctr">
                    <a:lnL w="12700" cmpd="sng">
                      <a:solidFill>
                        <a:srgbClr val="F7F4ED"/>
                      </a:solidFill>
                    </a:lnL>
                    <a:lnR w="12700" cmpd="sng">
                      <a:solidFill>
                        <a:srgbClr val="F7F4ED"/>
                      </a:solidFill>
                    </a:lnR>
                    <a:lnT w="38100" cmpd="sng">
                      <a:solidFill>
                        <a:srgbClr val="F7F4ED"/>
                      </a:solidFill>
                    </a:lnT>
                    <a:lnB w="12700" cmpd="sng">
                      <a:solidFill>
                        <a:srgbClr val="F7F4ED"/>
                      </a:solidFill>
                    </a:lnB>
                    <a:solidFill>
                      <a:srgbClr val="E4EEEA"/>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Core service và ML lifecycle</a:t>
                      </a:r>
                    </a:p>
                  </a:txBody>
                  <a:tcPr marL="152400" marR="127000" marT="88900" marB="88900" anchor="ctr">
                    <a:lnL w="12700" cmpd="sng">
                      <a:solidFill>
                        <a:srgbClr val="F7F4ED"/>
                      </a:solidFill>
                    </a:lnL>
                    <a:lnR w="12700" cmpd="sng">
                      <a:solidFill>
                        <a:srgbClr val="F7F4ED"/>
                      </a:solidFill>
                    </a:lnR>
                    <a:lnT w="38100" cmpd="sng">
                      <a:solidFill>
                        <a:srgbClr val="F7F4ED"/>
                      </a:solidFill>
                    </a:lnT>
                    <a:lnB w="12700" cmpd="sng">
                      <a:solidFill>
                        <a:srgbClr val="F7F4ED"/>
                      </a:solidFill>
                    </a:lnB>
                    <a:solidFill>
                      <a:srgbClr val="E4EEEA"/>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Kiến trúc, policy, integration review</a:t>
                      </a:r>
                    </a:p>
                  </a:txBody>
                  <a:tcPr marL="152400" marR="127000" marT="88900" marB="88900" anchor="ctr">
                    <a:lnL w="12700" cmpd="sng">
                      <a:solidFill>
                        <a:srgbClr val="F7F4ED"/>
                      </a:solidFill>
                    </a:lnL>
                    <a:lnR w="12700" cmpd="sng">
                      <a:solidFill>
                        <a:srgbClr val="F7F4ED"/>
                      </a:solidFill>
                    </a:lnR>
                    <a:lnT w="38100" cmpd="sng">
                      <a:solidFill>
                        <a:srgbClr val="F7F4ED"/>
                      </a:solidFill>
                    </a:lnT>
                    <a:lnB w="12700" cmpd="sng">
                      <a:solidFill>
                        <a:srgbClr val="F7F4ED"/>
                      </a:solidFill>
                    </a:lnB>
                    <a:solidFill>
                      <a:srgbClr val="E4EEEA"/>
                    </a:solidFill>
                  </a:tcPr>
                </a:tc>
                <a:extLst>
                  <a:ext uri="{0D108BD9-81ED-4DB2-BD59-A6C34878D82A}">
                    <a16:rowId xmlns:a16="http://schemas.microsoft.com/office/drawing/2014/main" val="10001"/>
                  </a:ext>
                </a:extLst>
              </a:tr>
              <a:tr h="558800">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Đỗ Quang Hiệp</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F7F4ED"/>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QA và evaluation validation</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F7F4ED"/>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Test, reproducibility, evidence</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F7F4ED"/>
                    </a:solidFill>
                  </a:tcPr>
                </a:tc>
                <a:extLst>
                  <a:ext uri="{0D108BD9-81ED-4DB2-BD59-A6C34878D82A}">
                    <a16:rowId xmlns:a16="http://schemas.microsoft.com/office/drawing/2014/main" val="10002"/>
                  </a:ext>
                </a:extLst>
              </a:tr>
              <a:tr h="558800">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Tô Thanh Hải</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E4EEEA"/>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Platform và CI/CD</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E4EEEA"/>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Docker, runner, deployment, recovery</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E4EEEA"/>
                    </a:solidFill>
                  </a:tcPr>
                </a:tc>
                <a:extLst>
                  <a:ext uri="{0D108BD9-81ED-4DB2-BD59-A6C34878D82A}">
                    <a16:rowId xmlns:a16="http://schemas.microsoft.com/office/drawing/2014/main" val="10003"/>
                  </a:ext>
                </a:extLst>
              </a:tr>
              <a:tr h="558800">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Ngô Anh Đức</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F7F4ED"/>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Report và trình bày</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F7F4ED"/>
                    </a:solidFill>
                  </a:tcPr>
                </a:tc>
                <a:tc>
                  <a:txBody>
                    <a:bodyPr/>
                    <a:lstStyle/>
                    <a:p>
                      <a:pPr indent="0">
                        <a:spcAft>
                          <a:spcPts val="0"/>
                        </a:spcAft>
                        <a:buNone/>
                      </a:pPr>
                      <a:r>
                        <a:rPr lang="vi-VN" sz="1800" b="0">
                          <a:solidFill>
                            <a:srgbClr val="172F3C"/>
                          </a:solidFill>
                          <a:latin typeface="Segoe UI" panose="020B0502040204020203" charset="0"/>
                          <a:cs typeface="Segoe UI" panose="020B0502040204020203" charset="0"/>
                        </a:rPr>
                        <a:t>Tài liệu, sơ đồ, slide, kịch bản demo</a:t>
                      </a:r>
                    </a:p>
                  </a:txBody>
                  <a:tcPr marL="152400" marR="127000" marT="88900" marB="88900" anchor="ctr">
                    <a:lnL w="12700" cmpd="sng">
                      <a:solidFill>
                        <a:srgbClr val="F7F4ED"/>
                      </a:solidFill>
                    </a:lnL>
                    <a:lnR w="12700" cmpd="sng">
                      <a:solidFill>
                        <a:srgbClr val="F7F4ED"/>
                      </a:solidFill>
                    </a:lnR>
                    <a:lnT w="12700" cmpd="sng">
                      <a:solidFill>
                        <a:srgbClr val="F7F4ED"/>
                      </a:solidFill>
                    </a:lnT>
                    <a:lnB w="12700" cmpd="sng">
                      <a:solidFill>
                        <a:srgbClr val="F7F4ED"/>
                      </a:solidFill>
                    </a:lnB>
                    <a:solidFill>
                      <a:srgbClr val="F7F4ED"/>
                    </a:solidFill>
                  </a:tcPr>
                </a:tc>
                <a:extLst>
                  <a:ext uri="{0D108BD9-81ED-4DB2-BD59-A6C34878D82A}">
                    <a16:rowId xmlns:a16="http://schemas.microsoft.com/office/drawing/2014/main" val="10004"/>
                  </a:ext>
                </a:extLst>
              </a:tr>
            </a:tbl>
          </a:graphicData>
        </a:graphic>
      </p:graphicFrame>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90</TotalTime>
  <Words>8563</Words>
  <Application>Microsoft Office PowerPoint</Application>
  <PresentationFormat>Widescreen</PresentationFormat>
  <Paragraphs>750</Paragraphs>
  <Slides>33</Slides>
  <Notes>33</Notes>
  <HiddenSlides>11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Arial</vt:lpstr>
      <vt:lpstr>Calibri</vt:lpstr>
      <vt:lpstr>Segoe UI</vt:lpstr>
      <vt:lpstr>Wingdings</vt:lpstr>
      <vt:lpstr>WPS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Blank Presentation</dc:title>
  <dc:creator>tdd23</dc:creator>
  <cp:lastModifiedBy>Ngô Anh Đức - 66IT2</cp:lastModifiedBy>
  <cp:revision>6</cp:revision>
  <dcterms:created xsi:type="dcterms:W3CDTF">2026-10-03T11:18:36Z</dcterms:created>
  <dcterms:modified xsi:type="dcterms:W3CDTF">2026-10-04T02:58:16Z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6CAD6F27E87F49A7BD33CE836F1397A1_11</vt:lpwstr>
  </property>
</Properties>
</file>